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147378518" r:id="rId5"/>
    <p:sldId id="2147479576" r:id="rId6"/>
    <p:sldId id="2147479549" r:id="rId7"/>
    <p:sldId id="2147479550" r:id="rId8"/>
    <p:sldId id="2147479552" r:id="rId9"/>
    <p:sldId id="2147378605" r:id="rId10"/>
    <p:sldId id="2147479566" r:id="rId11"/>
    <p:sldId id="2147479551" r:id="rId12"/>
    <p:sldId id="2147479574" r:id="rId13"/>
    <p:sldId id="2147479575" r:id="rId14"/>
    <p:sldId id="2147479561" r:id="rId15"/>
    <p:sldId id="2147479577" r:id="rId16"/>
    <p:sldId id="2147479562" r:id="rId17"/>
    <p:sldId id="2147479568" r:id="rId18"/>
    <p:sldId id="2147479578" r:id="rId19"/>
    <p:sldId id="2147479557" r:id="rId20"/>
    <p:sldId id="2147479565" r:id="rId21"/>
    <p:sldId id="2147479579" r:id="rId22"/>
    <p:sldId id="2147378606" r:id="rId23"/>
    <p:sldId id="2147479553" r:id="rId24"/>
    <p:sldId id="2147479554" r:id="rId25"/>
    <p:sldId id="2147479555" r:id="rId26"/>
    <p:sldId id="2147378607" r:id="rId2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45"/>
    <p:restoredTop sz="96512"/>
  </p:normalViewPr>
  <p:slideViewPr>
    <p:cSldViewPr snapToGrid="0">
      <p:cViewPr varScale="1">
        <p:scale>
          <a:sx n="127" d="100"/>
          <a:sy n="127" d="100"/>
        </p:scale>
        <p:origin x="2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lang="ja-JP" sz="1600" b="1" i="0" u="none" strike="noStrike" kern="1200" spc="0" baseline="0">
                <a:solidFill>
                  <a:schemeClr val="tx1">
                    <a:lumMod val="65000"/>
                    <a:lumOff val="35000"/>
                  </a:schemeClr>
                </a:solidFill>
                <a:latin typeface="+mn-lt"/>
                <a:ea typeface="+mn-ea"/>
                <a:cs typeface="+mn-cs"/>
              </a:defRPr>
            </a:pPr>
            <a:r>
              <a:rPr lang="en-US" altLang="ja-JP" sz="1600" b="1" dirty="0"/>
              <a:t>PR-AUC</a:t>
            </a:r>
            <a:endParaRPr lang="ja-JP" altLang="en-US" sz="1600" b="1"/>
          </a:p>
        </c:rich>
      </c:tx>
      <c:overlay val="0"/>
      <c:spPr>
        <a:noFill/>
        <a:ln>
          <a:noFill/>
        </a:ln>
        <a:effectLst/>
      </c:spPr>
      <c:txPr>
        <a:bodyPr rot="0" spcFirstLastPara="1" vertOverflow="ellipsis" vert="horz" wrap="square" anchor="ctr" anchorCtr="1"/>
        <a:lstStyle/>
        <a:p>
          <a:pPr>
            <a:defRPr lang="ja-JP" sz="1600" b="1"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manualLayout>
          <c:layoutTarget val="inner"/>
          <c:xMode val="edge"/>
          <c:yMode val="edge"/>
          <c:x val="0.10562341411747653"/>
          <c:y val="0.16061867988852979"/>
          <c:w val="0.86780214539623979"/>
          <c:h val="0.56742156411768518"/>
        </c:manualLayout>
      </c:layout>
      <c:barChart>
        <c:barDir val="col"/>
        <c:grouping val="clustered"/>
        <c:varyColors val="0"/>
        <c:ser>
          <c:idx val="2"/>
          <c:order val="0"/>
          <c:tx>
            <c:strRef>
              <c:f>Sheet1!$A$2</c:f>
              <c:strCache>
                <c:ptCount val="1"/>
                <c:pt idx="0">
                  <c:v>QFS α=0.992 (#features=4)</c:v>
                </c:pt>
              </c:strCache>
            </c:strRef>
          </c:tx>
          <c:spPr>
            <a:solidFill>
              <a:srgbClr val="B3C0DF"/>
            </a:solidFill>
            <a:ln>
              <a:noFill/>
            </a:ln>
            <a:effectLst/>
          </c:spPr>
          <c:invertIfNegative val="0"/>
          <c:dPt>
            <c:idx val="0"/>
            <c:invertIfNegative val="0"/>
            <c:bubble3D val="0"/>
            <c:spPr>
              <a:solidFill>
                <a:srgbClr val="B3C0DF"/>
              </a:solidFill>
              <a:ln>
                <a:noFill/>
              </a:ln>
              <a:effectLst/>
            </c:spPr>
            <c:extLst>
              <c:ext xmlns:c16="http://schemas.microsoft.com/office/drawing/2014/chart" uri="{C3380CC4-5D6E-409C-BE32-E72D297353CC}">
                <c16:uniqueId val="{00000001-63D1-BA47-B781-99B739D4E312}"/>
              </c:ext>
            </c:extLst>
          </c:dPt>
          <c:cat>
            <c:strRef>
              <c:f>Sheet1!$D$1</c:f>
              <c:strCache>
                <c:ptCount val="1"/>
                <c:pt idx="0">
                  <c:v>PR-AUC</c:v>
                </c:pt>
              </c:strCache>
            </c:strRef>
          </c:cat>
          <c:val>
            <c:numRef>
              <c:f>Sheet1!$D$2</c:f>
              <c:numCache>
                <c:formatCode>General</c:formatCode>
                <c:ptCount val="1"/>
                <c:pt idx="0">
                  <c:v>2.9862109162128399E-2</c:v>
                </c:pt>
              </c:numCache>
            </c:numRef>
          </c:val>
          <c:extLst>
            <c:ext xmlns:c16="http://schemas.microsoft.com/office/drawing/2014/chart" uri="{C3380CC4-5D6E-409C-BE32-E72D297353CC}">
              <c16:uniqueId val="{00000002-63D1-BA47-B781-99B739D4E312}"/>
            </c:ext>
          </c:extLst>
        </c:ser>
        <c:ser>
          <c:idx val="3"/>
          <c:order val="1"/>
          <c:tx>
            <c:strRef>
              <c:f>Sheet1!$A$3</c:f>
              <c:strCache>
                <c:ptCount val="1"/>
                <c:pt idx="0">
                  <c:v>QFS α=0.9992 (#features=11)</c:v>
                </c:pt>
              </c:strCache>
            </c:strRef>
          </c:tx>
          <c:spPr>
            <a:solidFill>
              <a:srgbClr val="7991CE"/>
            </a:solidFill>
            <a:ln>
              <a:noFill/>
            </a:ln>
            <a:effectLst/>
          </c:spPr>
          <c:invertIfNegative val="0"/>
          <c:cat>
            <c:strRef>
              <c:f>Sheet1!$D$1</c:f>
              <c:strCache>
                <c:ptCount val="1"/>
                <c:pt idx="0">
                  <c:v>PR-AUC</c:v>
                </c:pt>
              </c:strCache>
            </c:strRef>
          </c:cat>
          <c:val>
            <c:numRef>
              <c:f>Sheet1!$D$3</c:f>
              <c:numCache>
                <c:formatCode>General</c:formatCode>
                <c:ptCount val="1"/>
                <c:pt idx="0">
                  <c:v>2.9939374063201601E-2</c:v>
                </c:pt>
              </c:numCache>
            </c:numRef>
          </c:val>
          <c:extLst>
            <c:ext xmlns:c16="http://schemas.microsoft.com/office/drawing/2014/chart" uri="{C3380CC4-5D6E-409C-BE32-E72D297353CC}">
              <c16:uniqueId val="{00000003-63D1-BA47-B781-99B739D4E312}"/>
            </c:ext>
          </c:extLst>
        </c:ser>
        <c:ser>
          <c:idx val="0"/>
          <c:order val="2"/>
          <c:tx>
            <c:strRef>
              <c:f>Sheet1!$A$4</c:f>
              <c:strCache>
                <c:ptCount val="1"/>
                <c:pt idx="0">
                  <c:v>QFS α=0.9997 (#features=15)</c:v>
                </c:pt>
              </c:strCache>
            </c:strRef>
          </c:tx>
          <c:spPr>
            <a:solidFill>
              <a:srgbClr val="3F6AB8"/>
            </a:solidFill>
            <a:ln>
              <a:noFill/>
            </a:ln>
            <a:effectLst/>
          </c:spPr>
          <c:invertIfNegative val="0"/>
          <c:cat>
            <c:strRef>
              <c:f>Sheet1!$D$1</c:f>
              <c:strCache>
                <c:ptCount val="1"/>
                <c:pt idx="0">
                  <c:v>PR-AUC</c:v>
                </c:pt>
              </c:strCache>
            </c:strRef>
          </c:cat>
          <c:val>
            <c:numRef>
              <c:f>Sheet1!$D$4</c:f>
              <c:numCache>
                <c:formatCode>General</c:formatCode>
                <c:ptCount val="1"/>
                <c:pt idx="0">
                  <c:v>3.00387942301578E-2</c:v>
                </c:pt>
              </c:numCache>
            </c:numRef>
          </c:val>
          <c:extLst>
            <c:ext xmlns:c16="http://schemas.microsoft.com/office/drawing/2014/chart" uri="{C3380CC4-5D6E-409C-BE32-E72D297353CC}">
              <c16:uniqueId val="{00000004-63D1-BA47-B781-99B739D4E312}"/>
            </c:ext>
          </c:extLst>
        </c:ser>
        <c:ser>
          <c:idx val="1"/>
          <c:order val="3"/>
          <c:tx>
            <c:strRef>
              <c:f>Sheet1!$A$5</c:f>
              <c:strCache>
                <c:ptCount val="1"/>
                <c:pt idx="0">
                  <c:v>All features (#features=39)</c:v>
                </c:pt>
              </c:strCache>
            </c:strRef>
          </c:tx>
          <c:spPr>
            <a:solidFill>
              <a:srgbClr val="335899"/>
            </a:solidFill>
            <a:ln>
              <a:noFill/>
            </a:ln>
            <a:effectLst/>
          </c:spPr>
          <c:invertIfNegative val="0"/>
          <c:cat>
            <c:strRef>
              <c:f>Sheet1!$D$1</c:f>
              <c:strCache>
                <c:ptCount val="1"/>
                <c:pt idx="0">
                  <c:v>PR-AUC</c:v>
                </c:pt>
              </c:strCache>
            </c:strRef>
          </c:cat>
          <c:val>
            <c:numRef>
              <c:f>Sheet1!$D$5</c:f>
              <c:numCache>
                <c:formatCode>General</c:formatCode>
                <c:ptCount val="1"/>
                <c:pt idx="0">
                  <c:v>2.78482290985229E-2</c:v>
                </c:pt>
              </c:numCache>
            </c:numRef>
          </c:val>
          <c:extLst>
            <c:ext xmlns:c16="http://schemas.microsoft.com/office/drawing/2014/chart" uri="{C3380CC4-5D6E-409C-BE32-E72D297353CC}">
              <c16:uniqueId val="{00000005-63D1-BA47-B781-99B739D4E312}"/>
            </c:ext>
          </c:extLst>
        </c:ser>
        <c:dLbls>
          <c:showLegendKey val="0"/>
          <c:showVal val="0"/>
          <c:showCatName val="0"/>
          <c:showSerName val="0"/>
          <c:showPercent val="0"/>
          <c:showBubbleSize val="0"/>
        </c:dLbls>
        <c:gapWidth val="219"/>
        <c:overlap val="-27"/>
        <c:axId val="894509904"/>
        <c:axId val="894512240"/>
      </c:barChart>
      <c:catAx>
        <c:axId val="894509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050" b="0" i="0" u="none" strike="noStrike" kern="1200" baseline="0">
                <a:solidFill>
                  <a:schemeClr val="tx1">
                    <a:lumMod val="65000"/>
                    <a:lumOff val="35000"/>
                  </a:schemeClr>
                </a:solidFill>
                <a:latin typeface="+mn-lt"/>
                <a:ea typeface="+mn-ea"/>
                <a:cs typeface="+mn-cs"/>
              </a:defRPr>
            </a:pPr>
            <a:endParaRPr lang="ja-JP"/>
          </a:p>
        </c:txPr>
        <c:crossAx val="894512240"/>
        <c:crosses val="autoZero"/>
        <c:auto val="1"/>
        <c:lblAlgn val="ctr"/>
        <c:lblOffset val="100"/>
        <c:noMultiLvlLbl val="0"/>
      </c:catAx>
      <c:valAx>
        <c:axId val="894512240"/>
        <c:scaling>
          <c:orientation val="minMax"/>
          <c:max val="3.1E-2"/>
          <c:min val="2.7E-2"/>
        </c:scaling>
        <c:delete val="0"/>
        <c:axPos val="l"/>
        <c:majorGridlines>
          <c:spPr>
            <a:ln w="9525" cap="flat" cmpd="sng" algn="ctr">
              <a:solidFill>
                <a:schemeClr val="tx1">
                  <a:lumMod val="15000"/>
                  <a:lumOff val="85000"/>
                </a:schemeClr>
              </a:solidFill>
              <a:round/>
            </a:ln>
            <a:effectLst/>
          </c:spPr>
        </c:majorGridlines>
        <c:numFmt formatCode="#,##0.000_);[Red]\(#,##0.000\)" sourceLinked="0"/>
        <c:majorTickMark val="none"/>
        <c:minorTickMark val="none"/>
        <c:tickLblPos val="nextTo"/>
        <c:spPr>
          <a:noFill/>
          <a:ln>
            <a:noFill/>
          </a:ln>
          <a:effectLst/>
        </c:spPr>
        <c:txPr>
          <a:bodyPr rot="-60000000" spcFirstLastPara="1" vertOverflow="ellipsis" vert="horz" wrap="square" anchor="ctr" anchorCtr="1"/>
          <a:lstStyle/>
          <a:p>
            <a:pPr>
              <a:defRPr lang="ja-JP" sz="1050" b="0" i="0" u="none" strike="noStrike" kern="1200" baseline="0">
                <a:solidFill>
                  <a:schemeClr val="tx1">
                    <a:lumMod val="65000"/>
                    <a:lumOff val="35000"/>
                  </a:schemeClr>
                </a:solidFill>
                <a:latin typeface="+mn-lt"/>
                <a:ea typeface="+mn-ea"/>
                <a:cs typeface="+mn-cs"/>
              </a:defRPr>
            </a:pPr>
            <a:endParaRPr lang="ja-JP"/>
          </a:p>
        </c:txPr>
        <c:crossAx val="894509904"/>
        <c:crosses val="autoZero"/>
        <c:crossBetween val="between"/>
      </c:valAx>
      <c:spPr>
        <a:noFill/>
        <a:ln>
          <a:noFill/>
        </a:ln>
        <a:effectLst/>
      </c:spPr>
    </c:plotArea>
    <c:legend>
      <c:legendPos val="b"/>
      <c:layout>
        <c:manualLayout>
          <c:xMode val="edge"/>
          <c:yMode val="edge"/>
          <c:x val="4.2630766886611215E-2"/>
          <c:y val="0.84828659937296624"/>
          <c:w val="0.93079479262710507"/>
          <c:h val="0.1517134006270337"/>
        </c:manualLayout>
      </c:layout>
      <c:overlay val="0"/>
      <c:spPr>
        <a:noFill/>
        <a:ln>
          <a:noFill/>
        </a:ln>
        <a:effectLst/>
      </c:spPr>
      <c:txPr>
        <a:bodyPr rot="0" spcFirstLastPara="1" vertOverflow="ellipsis" vert="horz" wrap="square" anchor="ctr" anchorCtr="1"/>
        <a:lstStyle/>
        <a:p>
          <a:pPr>
            <a:defRPr lang="ja-JP" sz="1050" b="1"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lang="ja-JP" sz="1862" b="1" i="0" u="none" strike="noStrike" kern="1200" spc="0" baseline="0">
                <a:solidFill>
                  <a:schemeClr val="tx1">
                    <a:lumMod val="65000"/>
                    <a:lumOff val="35000"/>
                  </a:schemeClr>
                </a:solidFill>
                <a:latin typeface="+mn-lt"/>
                <a:ea typeface="+mn-ea"/>
                <a:cs typeface="+mn-cs"/>
              </a:defRPr>
            </a:pPr>
            <a:r>
              <a:rPr lang="en-US" altLang="ja-JP" b="1" dirty="0" err="1"/>
              <a:t>Precision@k</a:t>
            </a:r>
            <a:endParaRPr lang="ja-JP" altLang="en-US" b="1"/>
          </a:p>
        </c:rich>
      </c:tx>
      <c:overlay val="0"/>
      <c:spPr>
        <a:noFill/>
        <a:ln>
          <a:noFill/>
        </a:ln>
        <a:effectLst/>
      </c:spPr>
      <c:txPr>
        <a:bodyPr rot="0" spcFirstLastPara="1" vertOverflow="ellipsis" vert="horz" wrap="square" anchor="ctr" anchorCtr="1"/>
        <a:lstStyle/>
        <a:p>
          <a:pPr>
            <a:defRPr lang="ja-JP" sz="1862" b="1" i="0" u="none" strike="noStrike" kern="1200" spc="0" baseline="0">
              <a:solidFill>
                <a:schemeClr val="tx1">
                  <a:lumMod val="65000"/>
                  <a:lumOff val="35000"/>
                </a:schemeClr>
              </a:solidFill>
              <a:latin typeface="+mn-lt"/>
              <a:ea typeface="+mn-ea"/>
              <a:cs typeface="+mn-cs"/>
            </a:defRPr>
          </a:pPr>
          <a:endParaRPr lang="ja-JP" altLang="en-US"/>
        </a:p>
      </c:txPr>
    </c:title>
    <c:autoTitleDeleted val="0"/>
    <c:plotArea>
      <c:layout>
        <c:manualLayout>
          <c:layoutTarget val="inner"/>
          <c:xMode val="edge"/>
          <c:yMode val="edge"/>
          <c:x val="8.5186223459681326E-2"/>
          <c:y val="0.14951132087051938"/>
          <c:w val="0.8920580091260889"/>
          <c:h val="0.56043743937757429"/>
        </c:manualLayout>
      </c:layout>
      <c:barChart>
        <c:barDir val="col"/>
        <c:grouping val="clustered"/>
        <c:varyColors val="0"/>
        <c:ser>
          <c:idx val="0"/>
          <c:order val="0"/>
          <c:tx>
            <c:strRef>
              <c:f>Sheet1!$A$2</c:f>
              <c:strCache>
                <c:ptCount val="1"/>
                <c:pt idx="0">
                  <c:v>QFS α=0.992 (#features=4)</c:v>
                </c:pt>
              </c:strCache>
            </c:strRef>
          </c:tx>
          <c:spPr>
            <a:solidFill>
              <a:schemeClr val="accent1">
                <a:tint val="58000"/>
              </a:schemeClr>
            </a:solidFill>
            <a:ln>
              <a:noFill/>
            </a:ln>
            <a:effectLst/>
          </c:spPr>
          <c:invertIfNegative val="0"/>
          <c:cat>
            <c:strRef>
              <c:f>Sheet1!$B$1:$D$1</c:f>
              <c:strCache>
                <c:ptCount val="3"/>
                <c:pt idx="0">
                  <c:v>precision@10%</c:v>
                </c:pt>
                <c:pt idx="1">
                  <c:v>precision@5%</c:v>
                </c:pt>
                <c:pt idx="2">
                  <c:v>precision@1%</c:v>
                </c:pt>
              </c:strCache>
            </c:strRef>
          </c:cat>
          <c:val>
            <c:numRef>
              <c:f>Sheet1!$B$2:$D$2</c:f>
              <c:numCache>
                <c:formatCode>General</c:formatCode>
                <c:ptCount val="3"/>
                <c:pt idx="0">
                  <c:v>3.7493333333333302E-2</c:v>
                </c:pt>
                <c:pt idx="1">
                  <c:v>3.8613333333333298E-2</c:v>
                </c:pt>
                <c:pt idx="2">
                  <c:v>4.21333333333333E-2</c:v>
                </c:pt>
              </c:numCache>
            </c:numRef>
          </c:val>
          <c:extLst>
            <c:ext xmlns:c16="http://schemas.microsoft.com/office/drawing/2014/chart" uri="{C3380CC4-5D6E-409C-BE32-E72D297353CC}">
              <c16:uniqueId val="{00000000-577A-1E40-A2B0-19A9DBFB5DA2}"/>
            </c:ext>
          </c:extLst>
        </c:ser>
        <c:ser>
          <c:idx val="1"/>
          <c:order val="1"/>
          <c:tx>
            <c:strRef>
              <c:f>Sheet1!$A$3</c:f>
              <c:strCache>
                <c:ptCount val="1"/>
                <c:pt idx="0">
                  <c:v>QFS α=0.9992 (#features=11)</c:v>
                </c:pt>
              </c:strCache>
            </c:strRef>
          </c:tx>
          <c:spPr>
            <a:solidFill>
              <a:schemeClr val="accent1">
                <a:tint val="86000"/>
              </a:schemeClr>
            </a:solidFill>
            <a:ln>
              <a:noFill/>
            </a:ln>
            <a:effectLst/>
          </c:spPr>
          <c:invertIfNegative val="0"/>
          <c:cat>
            <c:strRef>
              <c:f>Sheet1!$B$1:$D$1</c:f>
              <c:strCache>
                <c:ptCount val="3"/>
                <c:pt idx="0">
                  <c:v>precision@10%</c:v>
                </c:pt>
                <c:pt idx="1">
                  <c:v>precision@5%</c:v>
                </c:pt>
                <c:pt idx="2">
                  <c:v>precision@1%</c:v>
                </c:pt>
              </c:strCache>
            </c:strRef>
          </c:cat>
          <c:val>
            <c:numRef>
              <c:f>Sheet1!$B$3:$D$3</c:f>
              <c:numCache>
                <c:formatCode>General</c:formatCode>
                <c:ptCount val="3"/>
                <c:pt idx="0">
                  <c:v>3.7653333333333303E-2</c:v>
                </c:pt>
                <c:pt idx="1">
                  <c:v>3.6159999999999998E-2</c:v>
                </c:pt>
                <c:pt idx="2">
                  <c:v>0.04</c:v>
                </c:pt>
              </c:numCache>
            </c:numRef>
          </c:val>
          <c:extLst>
            <c:ext xmlns:c16="http://schemas.microsoft.com/office/drawing/2014/chart" uri="{C3380CC4-5D6E-409C-BE32-E72D297353CC}">
              <c16:uniqueId val="{00000001-577A-1E40-A2B0-19A9DBFB5DA2}"/>
            </c:ext>
          </c:extLst>
        </c:ser>
        <c:ser>
          <c:idx val="2"/>
          <c:order val="2"/>
          <c:tx>
            <c:strRef>
              <c:f>Sheet1!$A$4</c:f>
              <c:strCache>
                <c:ptCount val="1"/>
                <c:pt idx="0">
                  <c:v>QFS α=0.9997 (#features=15)</c:v>
                </c:pt>
              </c:strCache>
            </c:strRef>
          </c:tx>
          <c:spPr>
            <a:solidFill>
              <a:schemeClr val="accent1">
                <a:shade val="86000"/>
              </a:schemeClr>
            </a:solidFill>
            <a:ln>
              <a:noFill/>
            </a:ln>
            <a:effectLst/>
          </c:spPr>
          <c:invertIfNegative val="0"/>
          <c:cat>
            <c:strRef>
              <c:f>Sheet1!$B$1:$D$1</c:f>
              <c:strCache>
                <c:ptCount val="3"/>
                <c:pt idx="0">
                  <c:v>precision@10%</c:v>
                </c:pt>
                <c:pt idx="1">
                  <c:v>precision@5%</c:v>
                </c:pt>
                <c:pt idx="2">
                  <c:v>precision@1%</c:v>
                </c:pt>
              </c:strCache>
            </c:strRef>
          </c:cat>
          <c:val>
            <c:numRef>
              <c:f>Sheet1!$B$4:$D$4</c:f>
              <c:numCache>
                <c:formatCode>General</c:formatCode>
                <c:ptCount val="3"/>
                <c:pt idx="0">
                  <c:v>3.4506666666666602E-2</c:v>
                </c:pt>
                <c:pt idx="1">
                  <c:v>3.4880000000000001E-2</c:v>
                </c:pt>
                <c:pt idx="2">
                  <c:v>4.1599999999999998E-2</c:v>
                </c:pt>
              </c:numCache>
            </c:numRef>
          </c:val>
          <c:extLst>
            <c:ext xmlns:c16="http://schemas.microsoft.com/office/drawing/2014/chart" uri="{C3380CC4-5D6E-409C-BE32-E72D297353CC}">
              <c16:uniqueId val="{00000002-577A-1E40-A2B0-19A9DBFB5DA2}"/>
            </c:ext>
          </c:extLst>
        </c:ser>
        <c:ser>
          <c:idx val="3"/>
          <c:order val="3"/>
          <c:tx>
            <c:strRef>
              <c:f>Sheet1!$A$5</c:f>
              <c:strCache>
                <c:ptCount val="1"/>
                <c:pt idx="0">
                  <c:v>All features (#features=39)</c:v>
                </c:pt>
              </c:strCache>
            </c:strRef>
          </c:tx>
          <c:spPr>
            <a:solidFill>
              <a:schemeClr val="accent1">
                <a:shade val="58000"/>
              </a:schemeClr>
            </a:solidFill>
            <a:ln>
              <a:noFill/>
            </a:ln>
            <a:effectLst/>
          </c:spPr>
          <c:invertIfNegative val="0"/>
          <c:cat>
            <c:strRef>
              <c:f>Sheet1!$B$1:$D$1</c:f>
              <c:strCache>
                <c:ptCount val="3"/>
                <c:pt idx="0">
                  <c:v>precision@10%</c:v>
                </c:pt>
                <c:pt idx="1">
                  <c:v>precision@5%</c:v>
                </c:pt>
                <c:pt idx="2">
                  <c:v>precision@1%</c:v>
                </c:pt>
              </c:strCache>
            </c:strRef>
          </c:cat>
          <c:val>
            <c:numRef>
              <c:f>Sheet1!$B$5:$D$5</c:f>
              <c:numCache>
                <c:formatCode>General</c:formatCode>
                <c:ptCount val="3"/>
                <c:pt idx="0">
                  <c:v>3.2746666666666598E-2</c:v>
                </c:pt>
                <c:pt idx="1">
                  <c:v>3.2853333333333297E-2</c:v>
                </c:pt>
                <c:pt idx="2">
                  <c:v>2.24E-2</c:v>
                </c:pt>
              </c:numCache>
            </c:numRef>
          </c:val>
          <c:extLst>
            <c:ext xmlns:c16="http://schemas.microsoft.com/office/drawing/2014/chart" uri="{C3380CC4-5D6E-409C-BE32-E72D297353CC}">
              <c16:uniqueId val="{00000003-577A-1E40-A2B0-19A9DBFB5DA2}"/>
            </c:ext>
          </c:extLst>
        </c:ser>
        <c:dLbls>
          <c:showLegendKey val="0"/>
          <c:showVal val="0"/>
          <c:showCatName val="0"/>
          <c:showSerName val="0"/>
          <c:showPercent val="0"/>
          <c:showBubbleSize val="0"/>
        </c:dLbls>
        <c:gapWidth val="219"/>
        <c:overlap val="-27"/>
        <c:axId val="10594656"/>
        <c:axId val="10596448"/>
      </c:barChart>
      <c:catAx>
        <c:axId val="10594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ja-JP"/>
          </a:p>
        </c:txPr>
        <c:crossAx val="10596448"/>
        <c:crosses val="autoZero"/>
        <c:auto val="1"/>
        <c:lblAlgn val="ctr"/>
        <c:lblOffset val="100"/>
        <c:noMultiLvlLbl val="0"/>
      </c:catAx>
      <c:valAx>
        <c:axId val="10596448"/>
        <c:scaling>
          <c:orientation val="minMax"/>
          <c:max val="0.05"/>
          <c:min val="0.0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ja-JP"/>
          </a:p>
        </c:txPr>
        <c:crossAx val="10594656"/>
        <c:crosses val="autoZero"/>
        <c:crossBetween val="between"/>
      </c:valAx>
      <c:spPr>
        <a:noFill/>
        <a:ln>
          <a:noFill/>
        </a:ln>
        <a:effectLst/>
      </c:spPr>
    </c:plotArea>
    <c:legend>
      <c:legendPos val="b"/>
      <c:layout>
        <c:manualLayout>
          <c:xMode val="edge"/>
          <c:yMode val="edge"/>
          <c:x val="0"/>
          <c:y val="0.8138307178096712"/>
          <c:w val="1"/>
          <c:h val="0.14164254364236692"/>
        </c:manualLayout>
      </c:layout>
      <c:overlay val="0"/>
      <c:spPr>
        <a:noFill/>
        <a:ln>
          <a:noFill/>
        </a:ln>
        <a:effectLst/>
      </c:spPr>
      <c:txPr>
        <a:bodyPr rot="0" spcFirstLastPara="1" vertOverflow="ellipsis" vert="horz" wrap="square" anchor="ctr" anchorCtr="1"/>
        <a:lstStyle/>
        <a:p>
          <a:pPr>
            <a:defRPr lang="ja-JP" sz="1100" b="1"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1">
  <a:schemeClr val="accent1"/>
</cs:colorStyle>
</file>

<file path=ppt/charts/colors2.xml><?xml version="1.0" encoding="utf-8"?>
<cs:colorStyle xmlns:cs="http://schemas.microsoft.com/office/drawing/2012/chartStyle" xmlns:a="http://schemas.openxmlformats.org/drawingml/2006/main" meth="withinLinearReversed" id="21">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D16ED5-2FA1-304C-8A4D-4B30D14434F2}" type="datetimeFigureOut">
              <a:rPr lang="en-US" smtClean="0"/>
              <a:t>4/17/26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81E7ED-78F3-8C4C-B211-D79B20E55895}" type="slidenum">
              <a:rPr lang="en-US" smtClean="0"/>
              <a:t>‹#›</a:t>
            </a:fld>
            <a:endParaRPr lang="en-US"/>
          </a:p>
        </p:txBody>
      </p:sp>
    </p:spTree>
    <p:extLst>
      <p:ext uri="{BB962C8B-B14F-4D97-AF65-F5344CB8AC3E}">
        <p14:creationId xmlns:p14="http://schemas.microsoft.com/office/powerpoint/2010/main" val="2723826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8125C310-E430-411F-84A2-88AB1F299507}" type="slidenum">
              <a:rPr lang="en-US" smtClean="0"/>
              <a:t>10</a:t>
            </a:fld>
            <a:endParaRPr lang="en-US"/>
          </a:p>
        </p:txBody>
      </p:sp>
    </p:spTree>
    <p:extLst>
      <p:ext uri="{BB962C8B-B14F-4D97-AF65-F5344CB8AC3E}">
        <p14:creationId xmlns:p14="http://schemas.microsoft.com/office/powerpoint/2010/main" val="555266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C2CC8A-01D0-03B7-7B74-C0DB65F9398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8879585-B9B2-BEC3-F50F-6E1E7EF959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2B47A19-3998-0769-EE16-E52ECCF91971}"/>
              </a:ext>
            </a:extLst>
          </p:cNvPr>
          <p:cNvSpPr>
            <a:spLocks noGrp="1"/>
          </p:cNvSpPr>
          <p:nvPr>
            <p:ph type="dt" sz="half" idx="10"/>
          </p:nvPr>
        </p:nvSpPr>
        <p:spPr/>
        <p:txBody>
          <a:bodyPr/>
          <a:lstStyle/>
          <a:p>
            <a:fld id="{3D8833CA-FCF0-7249-9A53-4EE228A86CA0}" type="datetimeFigureOut">
              <a:rPr kumimoji="1" lang="ja-JP" altLang="en-US" smtClean="0"/>
              <a:t>2026/4/17</a:t>
            </a:fld>
            <a:endParaRPr kumimoji="1" lang="ja-JP" altLang="en-US"/>
          </a:p>
        </p:txBody>
      </p:sp>
      <p:sp>
        <p:nvSpPr>
          <p:cNvPr id="5" name="フッター プレースホルダー 4">
            <a:extLst>
              <a:ext uri="{FF2B5EF4-FFF2-40B4-BE49-F238E27FC236}">
                <a16:creationId xmlns:a16="http://schemas.microsoft.com/office/drawing/2014/main" id="{20002C9C-C143-FD12-0532-8498AA221C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142222A-5517-3110-DA2C-9061C080BAA0}"/>
              </a:ext>
            </a:extLst>
          </p:cNvPr>
          <p:cNvSpPr>
            <a:spLocks noGrp="1"/>
          </p:cNvSpPr>
          <p:nvPr>
            <p:ph type="sldNum" sz="quarter" idx="12"/>
          </p:nvPr>
        </p:nvSpPr>
        <p:spPr/>
        <p:txBody>
          <a:bodyPr/>
          <a:lstStyle/>
          <a:p>
            <a:fld id="{DDD1D5A8-2B2F-B54A-A036-C2282FBDF344}" type="slidenum">
              <a:rPr kumimoji="1" lang="ja-JP" altLang="en-US" smtClean="0"/>
              <a:t>‹#›</a:t>
            </a:fld>
            <a:endParaRPr kumimoji="1" lang="ja-JP" altLang="en-US"/>
          </a:p>
        </p:txBody>
      </p:sp>
    </p:spTree>
    <p:extLst>
      <p:ext uri="{BB962C8B-B14F-4D97-AF65-F5344CB8AC3E}">
        <p14:creationId xmlns:p14="http://schemas.microsoft.com/office/powerpoint/2010/main" val="3155736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9473D9-1341-6997-2BEA-FA9D40BAABA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470B071-7249-BF25-E2C8-2E92CBB7B65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9998762-B4ED-F631-7DB0-C69758DBA7AB}"/>
              </a:ext>
            </a:extLst>
          </p:cNvPr>
          <p:cNvSpPr>
            <a:spLocks noGrp="1"/>
          </p:cNvSpPr>
          <p:nvPr>
            <p:ph type="dt" sz="half" idx="10"/>
          </p:nvPr>
        </p:nvSpPr>
        <p:spPr/>
        <p:txBody>
          <a:bodyPr/>
          <a:lstStyle/>
          <a:p>
            <a:fld id="{3D8833CA-FCF0-7249-9A53-4EE228A86CA0}" type="datetimeFigureOut">
              <a:rPr kumimoji="1" lang="ja-JP" altLang="en-US" smtClean="0"/>
              <a:t>2026/4/17</a:t>
            </a:fld>
            <a:endParaRPr kumimoji="1" lang="ja-JP" altLang="en-US"/>
          </a:p>
        </p:txBody>
      </p:sp>
      <p:sp>
        <p:nvSpPr>
          <p:cNvPr id="5" name="フッター プレースホルダー 4">
            <a:extLst>
              <a:ext uri="{FF2B5EF4-FFF2-40B4-BE49-F238E27FC236}">
                <a16:creationId xmlns:a16="http://schemas.microsoft.com/office/drawing/2014/main" id="{CF4E7316-3936-F32B-D0E4-0B7F87925B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C58B136-D965-226E-8D55-2B0DE271298B}"/>
              </a:ext>
            </a:extLst>
          </p:cNvPr>
          <p:cNvSpPr>
            <a:spLocks noGrp="1"/>
          </p:cNvSpPr>
          <p:nvPr>
            <p:ph type="sldNum" sz="quarter" idx="12"/>
          </p:nvPr>
        </p:nvSpPr>
        <p:spPr/>
        <p:txBody>
          <a:bodyPr/>
          <a:lstStyle/>
          <a:p>
            <a:fld id="{DDD1D5A8-2B2F-B54A-A036-C2282FBDF344}" type="slidenum">
              <a:rPr kumimoji="1" lang="ja-JP" altLang="en-US" smtClean="0"/>
              <a:t>‹#›</a:t>
            </a:fld>
            <a:endParaRPr kumimoji="1" lang="ja-JP" altLang="en-US"/>
          </a:p>
        </p:txBody>
      </p:sp>
    </p:spTree>
    <p:extLst>
      <p:ext uri="{BB962C8B-B14F-4D97-AF65-F5344CB8AC3E}">
        <p14:creationId xmlns:p14="http://schemas.microsoft.com/office/powerpoint/2010/main" val="694509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A74BF2-EBA8-C6BE-F81F-746C9EEF4FE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9FF7EE0-D58F-A738-4D92-AC7B19F101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5EE9DE5-F2AF-0AB5-42DA-B462F1D053D0}"/>
              </a:ext>
            </a:extLst>
          </p:cNvPr>
          <p:cNvSpPr>
            <a:spLocks noGrp="1"/>
          </p:cNvSpPr>
          <p:nvPr>
            <p:ph type="dt" sz="half" idx="10"/>
          </p:nvPr>
        </p:nvSpPr>
        <p:spPr/>
        <p:txBody>
          <a:bodyPr/>
          <a:lstStyle/>
          <a:p>
            <a:fld id="{3D8833CA-FCF0-7249-9A53-4EE228A86CA0}" type="datetimeFigureOut">
              <a:rPr kumimoji="1" lang="ja-JP" altLang="en-US" smtClean="0"/>
              <a:t>2026/4/17</a:t>
            </a:fld>
            <a:endParaRPr kumimoji="1" lang="ja-JP" altLang="en-US"/>
          </a:p>
        </p:txBody>
      </p:sp>
      <p:sp>
        <p:nvSpPr>
          <p:cNvPr id="5" name="フッター プレースホルダー 4">
            <a:extLst>
              <a:ext uri="{FF2B5EF4-FFF2-40B4-BE49-F238E27FC236}">
                <a16:creationId xmlns:a16="http://schemas.microsoft.com/office/drawing/2014/main" id="{754E3DB5-CED9-5E08-E95D-A1CA6C5AFB2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6202A41-EFAF-84E8-5087-F339223E1DDF}"/>
              </a:ext>
            </a:extLst>
          </p:cNvPr>
          <p:cNvSpPr>
            <a:spLocks noGrp="1"/>
          </p:cNvSpPr>
          <p:nvPr>
            <p:ph type="sldNum" sz="quarter" idx="12"/>
          </p:nvPr>
        </p:nvSpPr>
        <p:spPr/>
        <p:txBody>
          <a:bodyPr/>
          <a:lstStyle/>
          <a:p>
            <a:fld id="{DDD1D5A8-2B2F-B54A-A036-C2282FBDF344}" type="slidenum">
              <a:rPr kumimoji="1" lang="ja-JP" altLang="en-US" smtClean="0"/>
              <a:t>‹#›</a:t>
            </a:fld>
            <a:endParaRPr kumimoji="1" lang="ja-JP" altLang="en-US"/>
          </a:p>
        </p:txBody>
      </p:sp>
    </p:spTree>
    <p:extLst>
      <p:ext uri="{BB962C8B-B14F-4D97-AF65-F5344CB8AC3E}">
        <p14:creationId xmlns:p14="http://schemas.microsoft.com/office/powerpoint/2010/main" val="3702111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77F623-EDBC-58F2-1D6D-BA3FD139B19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453170B-7187-A5A9-B797-DC637C56637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AE42A14-88DD-919D-354B-6F7553C57F3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0BEDB96-3A18-3F13-6EFD-CCD2E9BD9968}"/>
              </a:ext>
            </a:extLst>
          </p:cNvPr>
          <p:cNvSpPr>
            <a:spLocks noGrp="1"/>
          </p:cNvSpPr>
          <p:nvPr>
            <p:ph type="dt" sz="half" idx="10"/>
          </p:nvPr>
        </p:nvSpPr>
        <p:spPr/>
        <p:txBody>
          <a:bodyPr/>
          <a:lstStyle/>
          <a:p>
            <a:fld id="{3D8833CA-FCF0-7249-9A53-4EE228A86CA0}" type="datetimeFigureOut">
              <a:rPr kumimoji="1" lang="ja-JP" altLang="en-US" smtClean="0"/>
              <a:t>2026/4/17</a:t>
            </a:fld>
            <a:endParaRPr kumimoji="1" lang="ja-JP" altLang="en-US"/>
          </a:p>
        </p:txBody>
      </p:sp>
      <p:sp>
        <p:nvSpPr>
          <p:cNvPr id="6" name="フッター プレースホルダー 5">
            <a:extLst>
              <a:ext uri="{FF2B5EF4-FFF2-40B4-BE49-F238E27FC236}">
                <a16:creationId xmlns:a16="http://schemas.microsoft.com/office/drawing/2014/main" id="{FC65237F-ABE7-313A-044B-0A3ACF18DA6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3AA6908-9383-0EE6-6632-7E361211472A}"/>
              </a:ext>
            </a:extLst>
          </p:cNvPr>
          <p:cNvSpPr>
            <a:spLocks noGrp="1"/>
          </p:cNvSpPr>
          <p:nvPr>
            <p:ph type="sldNum" sz="quarter" idx="12"/>
          </p:nvPr>
        </p:nvSpPr>
        <p:spPr/>
        <p:txBody>
          <a:bodyPr/>
          <a:lstStyle/>
          <a:p>
            <a:fld id="{DDD1D5A8-2B2F-B54A-A036-C2282FBDF344}" type="slidenum">
              <a:rPr kumimoji="1" lang="ja-JP" altLang="en-US" smtClean="0"/>
              <a:t>‹#›</a:t>
            </a:fld>
            <a:endParaRPr kumimoji="1" lang="ja-JP" altLang="en-US"/>
          </a:p>
        </p:txBody>
      </p:sp>
    </p:spTree>
    <p:extLst>
      <p:ext uri="{BB962C8B-B14F-4D97-AF65-F5344CB8AC3E}">
        <p14:creationId xmlns:p14="http://schemas.microsoft.com/office/powerpoint/2010/main" val="3246966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ACBF12-0392-2617-9733-937ADEC6971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0E9A4BF-EC3C-7A85-6729-DA437A7B8D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EF7B7E4-CE46-58BD-675C-A023CDA11EB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B3A8DD2-FBA9-1770-8A74-E79A60D7E4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5A0DAA4-BA4E-F9DA-F159-A41FFBF8348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61CAE9C-2681-2662-6F51-E41BE55565EA}"/>
              </a:ext>
            </a:extLst>
          </p:cNvPr>
          <p:cNvSpPr>
            <a:spLocks noGrp="1"/>
          </p:cNvSpPr>
          <p:nvPr>
            <p:ph type="dt" sz="half" idx="10"/>
          </p:nvPr>
        </p:nvSpPr>
        <p:spPr/>
        <p:txBody>
          <a:bodyPr/>
          <a:lstStyle/>
          <a:p>
            <a:fld id="{3D8833CA-FCF0-7249-9A53-4EE228A86CA0}" type="datetimeFigureOut">
              <a:rPr kumimoji="1" lang="ja-JP" altLang="en-US" smtClean="0"/>
              <a:t>2026/4/17</a:t>
            </a:fld>
            <a:endParaRPr kumimoji="1" lang="ja-JP" altLang="en-US"/>
          </a:p>
        </p:txBody>
      </p:sp>
      <p:sp>
        <p:nvSpPr>
          <p:cNvPr id="8" name="フッター プレースホルダー 7">
            <a:extLst>
              <a:ext uri="{FF2B5EF4-FFF2-40B4-BE49-F238E27FC236}">
                <a16:creationId xmlns:a16="http://schemas.microsoft.com/office/drawing/2014/main" id="{9E53EBE9-9022-53DB-3864-B781E6CE0A2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B1A1842-807E-3C3F-08CA-F880C28F6E74}"/>
              </a:ext>
            </a:extLst>
          </p:cNvPr>
          <p:cNvSpPr>
            <a:spLocks noGrp="1"/>
          </p:cNvSpPr>
          <p:nvPr>
            <p:ph type="sldNum" sz="quarter" idx="12"/>
          </p:nvPr>
        </p:nvSpPr>
        <p:spPr/>
        <p:txBody>
          <a:bodyPr/>
          <a:lstStyle/>
          <a:p>
            <a:fld id="{DDD1D5A8-2B2F-B54A-A036-C2282FBDF344}" type="slidenum">
              <a:rPr kumimoji="1" lang="ja-JP" altLang="en-US" smtClean="0"/>
              <a:t>‹#›</a:t>
            </a:fld>
            <a:endParaRPr kumimoji="1" lang="ja-JP" altLang="en-US"/>
          </a:p>
        </p:txBody>
      </p:sp>
    </p:spTree>
    <p:extLst>
      <p:ext uri="{BB962C8B-B14F-4D97-AF65-F5344CB8AC3E}">
        <p14:creationId xmlns:p14="http://schemas.microsoft.com/office/powerpoint/2010/main" val="779934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CEDA2A-668C-4171-1C3D-249FDD22D05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A4352C7-0746-7266-A49C-24B77521BD5F}"/>
              </a:ext>
            </a:extLst>
          </p:cNvPr>
          <p:cNvSpPr>
            <a:spLocks noGrp="1"/>
          </p:cNvSpPr>
          <p:nvPr>
            <p:ph type="dt" sz="half" idx="10"/>
          </p:nvPr>
        </p:nvSpPr>
        <p:spPr/>
        <p:txBody>
          <a:bodyPr/>
          <a:lstStyle/>
          <a:p>
            <a:fld id="{3D8833CA-FCF0-7249-9A53-4EE228A86CA0}" type="datetimeFigureOut">
              <a:rPr kumimoji="1" lang="ja-JP" altLang="en-US" smtClean="0"/>
              <a:t>2026/4/17</a:t>
            </a:fld>
            <a:endParaRPr kumimoji="1" lang="ja-JP" altLang="en-US"/>
          </a:p>
        </p:txBody>
      </p:sp>
      <p:sp>
        <p:nvSpPr>
          <p:cNvPr id="4" name="フッター プレースホルダー 3">
            <a:extLst>
              <a:ext uri="{FF2B5EF4-FFF2-40B4-BE49-F238E27FC236}">
                <a16:creationId xmlns:a16="http://schemas.microsoft.com/office/drawing/2014/main" id="{7A9427F7-86C6-5703-69F2-ACDF9316365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D072B2A-7DAE-1B31-DE4C-95A46872DA68}"/>
              </a:ext>
            </a:extLst>
          </p:cNvPr>
          <p:cNvSpPr>
            <a:spLocks noGrp="1"/>
          </p:cNvSpPr>
          <p:nvPr>
            <p:ph type="sldNum" sz="quarter" idx="12"/>
          </p:nvPr>
        </p:nvSpPr>
        <p:spPr/>
        <p:txBody>
          <a:bodyPr/>
          <a:lstStyle/>
          <a:p>
            <a:fld id="{DDD1D5A8-2B2F-B54A-A036-C2282FBDF344}" type="slidenum">
              <a:rPr kumimoji="1" lang="ja-JP" altLang="en-US" smtClean="0"/>
              <a:t>‹#›</a:t>
            </a:fld>
            <a:endParaRPr kumimoji="1" lang="ja-JP" altLang="en-US"/>
          </a:p>
        </p:txBody>
      </p:sp>
    </p:spTree>
    <p:extLst>
      <p:ext uri="{BB962C8B-B14F-4D97-AF65-F5344CB8AC3E}">
        <p14:creationId xmlns:p14="http://schemas.microsoft.com/office/powerpoint/2010/main" val="3912830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98653D3-ABB5-17B5-072C-AE4E871F2DFA}"/>
              </a:ext>
            </a:extLst>
          </p:cNvPr>
          <p:cNvSpPr>
            <a:spLocks noGrp="1"/>
          </p:cNvSpPr>
          <p:nvPr>
            <p:ph type="dt" sz="half" idx="10"/>
          </p:nvPr>
        </p:nvSpPr>
        <p:spPr/>
        <p:txBody>
          <a:bodyPr/>
          <a:lstStyle/>
          <a:p>
            <a:fld id="{3D8833CA-FCF0-7249-9A53-4EE228A86CA0}" type="datetimeFigureOut">
              <a:rPr kumimoji="1" lang="ja-JP" altLang="en-US" smtClean="0"/>
              <a:t>2026/4/17</a:t>
            </a:fld>
            <a:endParaRPr kumimoji="1" lang="ja-JP" altLang="en-US"/>
          </a:p>
        </p:txBody>
      </p:sp>
      <p:sp>
        <p:nvSpPr>
          <p:cNvPr id="3" name="フッター プレースホルダー 2">
            <a:extLst>
              <a:ext uri="{FF2B5EF4-FFF2-40B4-BE49-F238E27FC236}">
                <a16:creationId xmlns:a16="http://schemas.microsoft.com/office/drawing/2014/main" id="{BAB8C60F-BD28-A952-1FE1-1E91552E49E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07E17F1-7B2A-B8BB-4957-7CE6E29C9F6E}"/>
              </a:ext>
            </a:extLst>
          </p:cNvPr>
          <p:cNvSpPr>
            <a:spLocks noGrp="1"/>
          </p:cNvSpPr>
          <p:nvPr>
            <p:ph type="sldNum" sz="quarter" idx="12"/>
          </p:nvPr>
        </p:nvSpPr>
        <p:spPr/>
        <p:txBody>
          <a:bodyPr/>
          <a:lstStyle/>
          <a:p>
            <a:fld id="{DDD1D5A8-2B2F-B54A-A036-C2282FBDF344}" type="slidenum">
              <a:rPr kumimoji="1" lang="ja-JP" altLang="en-US" smtClean="0"/>
              <a:t>‹#›</a:t>
            </a:fld>
            <a:endParaRPr kumimoji="1" lang="ja-JP" altLang="en-US"/>
          </a:p>
        </p:txBody>
      </p:sp>
    </p:spTree>
    <p:extLst>
      <p:ext uri="{BB962C8B-B14F-4D97-AF65-F5344CB8AC3E}">
        <p14:creationId xmlns:p14="http://schemas.microsoft.com/office/powerpoint/2010/main" val="3460179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8C5377-FDCF-9FE1-71C7-2FDF5B51BDE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96ECE8F-F1CB-E29D-BECE-3CEBF7DCD9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07A36DA-B003-BE21-F7B3-368B3429F8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4273C6D-472C-EDB2-D298-B64BF149DE09}"/>
              </a:ext>
            </a:extLst>
          </p:cNvPr>
          <p:cNvSpPr>
            <a:spLocks noGrp="1"/>
          </p:cNvSpPr>
          <p:nvPr>
            <p:ph type="dt" sz="half" idx="10"/>
          </p:nvPr>
        </p:nvSpPr>
        <p:spPr/>
        <p:txBody>
          <a:bodyPr/>
          <a:lstStyle/>
          <a:p>
            <a:fld id="{3D8833CA-FCF0-7249-9A53-4EE228A86CA0}" type="datetimeFigureOut">
              <a:rPr kumimoji="1" lang="ja-JP" altLang="en-US" smtClean="0"/>
              <a:t>2026/4/17</a:t>
            </a:fld>
            <a:endParaRPr kumimoji="1" lang="ja-JP" altLang="en-US"/>
          </a:p>
        </p:txBody>
      </p:sp>
      <p:sp>
        <p:nvSpPr>
          <p:cNvPr id="6" name="フッター プレースホルダー 5">
            <a:extLst>
              <a:ext uri="{FF2B5EF4-FFF2-40B4-BE49-F238E27FC236}">
                <a16:creationId xmlns:a16="http://schemas.microsoft.com/office/drawing/2014/main" id="{0BDC1195-27CA-3976-2EA7-633336D34F3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CD1F862-7740-491E-9C80-A774D19760C7}"/>
              </a:ext>
            </a:extLst>
          </p:cNvPr>
          <p:cNvSpPr>
            <a:spLocks noGrp="1"/>
          </p:cNvSpPr>
          <p:nvPr>
            <p:ph type="sldNum" sz="quarter" idx="12"/>
          </p:nvPr>
        </p:nvSpPr>
        <p:spPr/>
        <p:txBody>
          <a:bodyPr/>
          <a:lstStyle/>
          <a:p>
            <a:fld id="{DDD1D5A8-2B2F-B54A-A036-C2282FBDF344}" type="slidenum">
              <a:rPr kumimoji="1" lang="ja-JP" altLang="en-US" smtClean="0"/>
              <a:t>‹#›</a:t>
            </a:fld>
            <a:endParaRPr kumimoji="1" lang="ja-JP" altLang="en-US"/>
          </a:p>
        </p:txBody>
      </p:sp>
    </p:spTree>
    <p:extLst>
      <p:ext uri="{BB962C8B-B14F-4D97-AF65-F5344CB8AC3E}">
        <p14:creationId xmlns:p14="http://schemas.microsoft.com/office/powerpoint/2010/main" val="1345347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197029-66FF-22AB-C888-E22E863476A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B07BCF6-7D20-E69F-9590-672506E75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5C094A6-F6E9-597E-4C04-53E12D7788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FC1E905-6643-71EF-13D0-374A09E7E1F7}"/>
              </a:ext>
            </a:extLst>
          </p:cNvPr>
          <p:cNvSpPr>
            <a:spLocks noGrp="1"/>
          </p:cNvSpPr>
          <p:nvPr>
            <p:ph type="dt" sz="half" idx="10"/>
          </p:nvPr>
        </p:nvSpPr>
        <p:spPr/>
        <p:txBody>
          <a:bodyPr/>
          <a:lstStyle/>
          <a:p>
            <a:fld id="{3D8833CA-FCF0-7249-9A53-4EE228A86CA0}" type="datetimeFigureOut">
              <a:rPr kumimoji="1" lang="ja-JP" altLang="en-US" smtClean="0"/>
              <a:t>2026/4/17</a:t>
            </a:fld>
            <a:endParaRPr kumimoji="1" lang="ja-JP" altLang="en-US"/>
          </a:p>
        </p:txBody>
      </p:sp>
      <p:sp>
        <p:nvSpPr>
          <p:cNvPr id="6" name="フッター プレースホルダー 5">
            <a:extLst>
              <a:ext uri="{FF2B5EF4-FFF2-40B4-BE49-F238E27FC236}">
                <a16:creationId xmlns:a16="http://schemas.microsoft.com/office/drawing/2014/main" id="{C9B3B5F8-5B15-B4D9-7BB4-A72ECCEE664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B2B2F05-0649-7B98-1215-9F5B595E8443}"/>
              </a:ext>
            </a:extLst>
          </p:cNvPr>
          <p:cNvSpPr>
            <a:spLocks noGrp="1"/>
          </p:cNvSpPr>
          <p:nvPr>
            <p:ph type="sldNum" sz="quarter" idx="12"/>
          </p:nvPr>
        </p:nvSpPr>
        <p:spPr/>
        <p:txBody>
          <a:bodyPr/>
          <a:lstStyle/>
          <a:p>
            <a:fld id="{DDD1D5A8-2B2F-B54A-A036-C2282FBDF344}" type="slidenum">
              <a:rPr kumimoji="1" lang="ja-JP" altLang="en-US" smtClean="0"/>
              <a:t>‹#›</a:t>
            </a:fld>
            <a:endParaRPr kumimoji="1" lang="ja-JP" altLang="en-US"/>
          </a:p>
        </p:txBody>
      </p:sp>
    </p:spTree>
    <p:extLst>
      <p:ext uri="{BB962C8B-B14F-4D97-AF65-F5344CB8AC3E}">
        <p14:creationId xmlns:p14="http://schemas.microsoft.com/office/powerpoint/2010/main" val="930155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18E141-28D4-0396-4873-D16B2F35FFE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703F42F-D577-4D5E-EA4E-0C251AC0641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2CBA25-24B2-4A95-73A8-7411405A9300}"/>
              </a:ext>
            </a:extLst>
          </p:cNvPr>
          <p:cNvSpPr>
            <a:spLocks noGrp="1"/>
          </p:cNvSpPr>
          <p:nvPr>
            <p:ph type="dt" sz="half" idx="10"/>
          </p:nvPr>
        </p:nvSpPr>
        <p:spPr/>
        <p:txBody>
          <a:bodyPr/>
          <a:lstStyle/>
          <a:p>
            <a:fld id="{3D8833CA-FCF0-7249-9A53-4EE228A86CA0}" type="datetimeFigureOut">
              <a:rPr kumimoji="1" lang="ja-JP" altLang="en-US" smtClean="0"/>
              <a:t>2026/4/17</a:t>
            </a:fld>
            <a:endParaRPr kumimoji="1" lang="ja-JP" altLang="en-US"/>
          </a:p>
        </p:txBody>
      </p:sp>
      <p:sp>
        <p:nvSpPr>
          <p:cNvPr id="5" name="フッター プレースホルダー 4">
            <a:extLst>
              <a:ext uri="{FF2B5EF4-FFF2-40B4-BE49-F238E27FC236}">
                <a16:creationId xmlns:a16="http://schemas.microsoft.com/office/drawing/2014/main" id="{E3B8E15E-8559-78DB-8936-F561A1D9A1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43DB946-04F9-11D3-261C-8DC8E7FA4883}"/>
              </a:ext>
            </a:extLst>
          </p:cNvPr>
          <p:cNvSpPr>
            <a:spLocks noGrp="1"/>
          </p:cNvSpPr>
          <p:nvPr>
            <p:ph type="sldNum" sz="quarter" idx="12"/>
          </p:nvPr>
        </p:nvSpPr>
        <p:spPr/>
        <p:txBody>
          <a:bodyPr/>
          <a:lstStyle/>
          <a:p>
            <a:fld id="{DDD1D5A8-2B2F-B54A-A036-C2282FBDF344}" type="slidenum">
              <a:rPr kumimoji="1" lang="ja-JP" altLang="en-US" smtClean="0"/>
              <a:t>‹#›</a:t>
            </a:fld>
            <a:endParaRPr kumimoji="1" lang="ja-JP" altLang="en-US"/>
          </a:p>
        </p:txBody>
      </p:sp>
    </p:spTree>
    <p:extLst>
      <p:ext uri="{BB962C8B-B14F-4D97-AF65-F5344CB8AC3E}">
        <p14:creationId xmlns:p14="http://schemas.microsoft.com/office/powerpoint/2010/main" val="1040822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A2CF909-42ED-284F-E0F7-C5CC1EA30D9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BCAFDA6-FF99-B440-0DEE-011CF61F86D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61B862D-1163-E703-0F57-9283A8FDF606}"/>
              </a:ext>
            </a:extLst>
          </p:cNvPr>
          <p:cNvSpPr>
            <a:spLocks noGrp="1"/>
          </p:cNvSpPr>
          <p:nvPr>
            <p:ph type="dt" sz="half" idx="10"/>
          </p:nvPr>
        </p:nvSpPr>
        <p:spPr/>
        <p:txBody>
          <a:bodyPr/>
          <a:lstStyle/>
          <a:p>
            <a:fld id="{3D8833CA-FCF0-7249-9A53-4EE228A86CA0}" type="datetimeFigureOut">
              <a:rPr kumimoji="1" lang="ja-JP" altLang="en-US" smtClean="0"/>
              <a:t>2026/4/17</a:t>
            </a:fld>
            <a:endParaRPr kumimoji="1" lang="ja-JP" altLang="en-US"/>
          </a:p>
        </p:txBody>
      </p:sp>
      <p:sp>
        <p:nvSpPr>
          <p:cNvPr id="5" name="フッター プレースホルダー 4">
            <a:extLst>
              <a:ext uri="{FF2B5EF4-FFF2-40B4-BE49-F238E27FC236}">
                <a16:creationId xmlns:a16="http://schemas.microsoft.com/office/drawing/2014/main" id="{D48D22D1-3188-B270-8E93-10855E938F9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D5C6D84-C304-75FF-5CCC-378548CCD307}"/>
              </a:ext>
            </a:extLst>
          </p:cNvPr>
          <p:cNvSpPr>
            <a:spLocks noGrp="1"/>
          </p:cNvSpPr>
          <p:nvPr>
            <p:ph type="sldNum" sz="quarter" idx="12"/>
          </p:nvPr>
        </p:nvSpPr>
        <p:spPr/>
        <p:txBody>
          <a:bodyPr/>
          <a:lstStyle/>
          <a:p>
            <a:fld id="{DDD1D5A8-2B2F-B54A-A036-C2282FBDF344}" type="slidenum">
              <a:rPr kumimoji="1" lang="ja-JP" altLang="en-US" smtClean="0"/>
              <a:t>‹#›</a:t>
            </a:fld>
            <a:endParaRPr kumimoji="1" lang="ja-JP" altLang="en-US"/>
          </a:p>
        </p:txBody>
      </p:sp>
    </p:spTree>
    <p:extLst>
      <p:ext uri="{BB962C8B-B14F-4D97-AF65-F5344CB8AC3E}">
        <p14:creationId xmlns:p14="http://schemas.microsoft.com/office/powerpoint/2010/main" val="546863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ユーザー設定レイアウト">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D0C43246-E9D3-3245-2C94-24F39BEC26F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1090254"/>
            <a:ext cx="12192000" cy="5766817"/>
          </a:xfrm>
          <a:prstGeom prst="rect">
            <a:avLst/>
          </a:prstGeom>
        </p:spPr>
      </p:pic>
      <p:sp>
        <p:nvSpPr>
          <p:cNvPr id="5" name="正方形/長方形 4">
            <a:extLst>
              <a:ext uri="{FF2B5EF4-FFF2-40B4-BE49-F238E27FC236}">
                <a16:creationId xmlns:a16="http://schemas.microsoft.com/office/drawing/2014/main" id="{1141B74D-E759-16A3-5E79-78BE90568687}"/>
              </a:ext>
            </a:extLst>
          </p:cNvPr>
          <p:cNvSpPr/>
          <p:nvPr userDrawn="1"/>
        </p:nvSpPr>
        <p:spPr>
          <a:xfrm>
            <a:off x="0" y="1090254"/>
            <a:ext cx="12192000" cy="5767746"/>
          </a:xfrm>
          <a:prstGeom prst="rect">
            <a:avLst/>
          </a:pr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18" name="テキスト プレースホルダー 14">
            <a:extLst>
              <a:ext uri="{FF2B5EF4-FFF2-40B4-BE49-F238E27FC236}">
                <a16:creationId xmlns:a16="http://schemas.microsoft.com/office/drawing/2014/main" id="{E78CE5C2-D449-CDFC-CDE2-1C54F340B4EB}"/>
              </a:ext>
            </a:extLst>
          </p:cNvPr>
          <p:cNvSpPr>
            <a:spLocks noGrp="1"/>
          </p:cNvSpPr>
          <p:nvPr>
            <p:ph type="body" sz="quarter" idx="14"/>
          </p:nvPr>
        </p:nvSpPr>
        <p:spPr>
          <a:xfrm>
            <a:off x="6645600" y="6303600"/>
            <a:ext cx="5204922" cy="370800"/>
          </a:xfrm>
          <a:prstGeom prst="rect">
            <a:avLst/>
          </a:prstGeom>
        </p:spPr>
        <p:txBody>
          <a:bodyPr anchor="t"/>
          <a:lstStyle>
            <a:lvl1pPr marL="0" indent="0" algn="r">
              <a:buNone/>
              <a:defRPr sz="1800" b="1">
                <a:solidFill>
                  <a:srgbClr val="030C40"/>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kumimoji="1" lang="ja-JP" altLang="en-US"/>
              <a:t>マスター テキストの書式設定</a:t>
            </a:r>
          </a:p>
        </p:txBody>
      </p:sp>
      <p:sp>
        <p:nvSpPr>
          <p:cNvPr id="17" name="テキスト プレースホルダー 14">
            <a:extLst>
              <a:ext uri="{FF2B5EF4-FFF2-40B4-BE49-F238E27FC236}">
                <a16:creationId xmlns:a16="http://schemas.microsoft.com/office/drawing/2014/main" id="{A6D6649E-941C-798B-8A67-6BFAD1C31BBD}"/>
              </a:ext>
            </a:extLst>
          </p:cNvPr>
          <p:cNvSpPr>
            <a:spLocks noGrp="1"/>
          </p:cNvSpPr>
          <p:nvPr>
            <p:ph type="body" sz="quarter" idx="13"/>
          </p:nvPr>
        </p:nvSpPr>
        <p:spPr>
          <a:xfrm>
            <a:off x="367200" y="2836560"/>
            <a:ext cx="10681800" cy="923330"/>
          </a:xfrm>
          <a:prstGeom prst="rect">
            <a:avLst/>
          </a:prstGeom>
        </p:spPr>
        <p:txBody>
          <a:bodyPr anchor="t"/>
          <a:lstStyle>
            <a:lvl1pPr marL="0" indent="0">
              <a:buNone/>
              <a:defRPr sz="5200" b="1">
                <a:solidFill>
                  <a:srgbClr val="030C40"/>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kumimoji="1" lang="ja-JP" altLang="en-US"/>
              <a:t>マスター テキストの書式設定</a:t>
            </a:r>
          </a:p>
        </p:txBody>
      </p:sp>
      <p:sp>
        <p:nvSpPr>
          <p:cNvPr id="16" name="テキスト プレースホルダー 14">
            <a:extLst>
              <a:ext uri="{FF2B5EF4-FFF2-40B4-BE49-F238E27FC236}">
                <a16:creationId xmlns:a16="http://schemas.microsoft.com/office/drawing/2014/main" id="{14325566-C717-FDBB-B1E1-5D16D828E78D}"/>
              </a:ext>
            </a:extLst>
          </p:cNvPr>
          <p:cNvSpPr>
            <a:spLocks noGrp="1"/>
          </p:cNvSpPr>
          <p:nvPr>
            <p:ph type="body" sz="quarter" idx="12"/>
          </p:nvPr>
        </p:nvSpPr>
        <p:spPr>
          <a:xfrm>
            <a:off x="367200" y="4575600"/>
            <a:ext cx="8136000" cy="392400"/>
          </a:xfrm>
          <a:prstGeom prst="rect">
            <a:avLst/>
          </a:prstGeom>
        </p:spPr>
        <p:txBody>
          <a:bodyPr anchor="t"/>
          <a:lstStyle>
            <a:lvl1pPr marL="0" indent="0">
              <a:buNone/>
              <a:defRPr sz="1800" b="1">
                <a:solidFill>
                  <a:srgbClr val="030C40"/>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kumimoji="1" lang="ja-JP" altLang="en-US"/>
              <a:t>マスター テキストの書式設定</a:t>
            </a:r>
          </a:p>
        </p:txBody>
      </p:sp>
      <p:sp>
        <p:nvSpPr>
          <p:cNvPr id="15" name="テキスト プレースホルダー 14">
            <a:extLst>
              <a:ext uri="{FF2B5EF4-FFF2-40B4-BE49-F238E27FC236}">
                <a16:creationId xmlns:a16="http://schemas.microsoft.com/office/drawing/2014/main" id="{3FDEA75B-D8F7-DC11-751F-C3C0E8724581}"/>
              </a:ext>
            </a:extLst>
          </p:cNvPr>
          <p:cNvSpPr>
            <a:spLocks noGrp="1"/>
          </p:cNvSpPr>
          <p:nvPr>
            <p:ph type="body" sz="quarter" idx="11"/>
          </p:nvPr>
        </p:nvSpPr>
        <p:spPr>
          <a:xfrm>
            <a:off x="368400" y="4971840"/>
            <a:ext cx="8136000" cy="392400"/>
          </a:xfrm>
          <a:prstGeom prst="rect">
            <a:avLst/>
          </a:prstGeom>
        </p:spPr>
        <p:txBody>
          <a:bodyPr anchor="t"/>
          <a:lstStyle>
            <a:lvl1pPr marL="0" indent="0">
              <a:buNone/>
              <a:defRPr sz="2400" b="1">
                <a:solidFill>
                  <a:srgbClr val="030C40"/>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kumimoji="1" lang="ja-JP" altLang="en-US"/>
              <a:t>マスター テキストの書式設定</a:t>
            </a:r>
          </a:p>
        </p:txBody>
      </p:sp>
      <p:sp>
        <p:nvSpPr>
          <p:cNvPr id="7" name="TextBox 19">
            <a:extLst>
              <a:ext uri="{FF2B5EF4-FFF2-40B4-BE49-F238E27FC236}">
                <a16:creationId xmlns:a16="http://schemas.microsoft.com/office/drawing/2014/main" id="{6C21306B-52E8-2380-FB1F-378DF4694235}"/>
              </a:ext>
            </a:extLst>
          </p:cNvPr>
          <p:cNvSpPr txBox="1"/>
          <p:nvPr userDrawn="1"/>
        </p:nvSpPr>
        <p:spPr>
          <a:xfrm>
            <a:off x="372918" y="6123134"/>
            <a:ext cx="6068825" cy="430887"/>
          </a:xfrm>
          <a:prstGeom prst="rect">
            <a:avLst/>
          </a:prstGeom>
          <a:noFill/>
        </p:spPr>
        <p:txBody>
          <a:bodyPr wrap="square" rtlCol="0">
            <a:spAutoFit/>
          </a:bodyPr>
          <a:lstStyle/>
          <a:p>
            <a:pPr lvl="0"/>
            <a:r>
              <a:rPr lang="en-JP" sz="1100" b="1">
                <a:solidFill>
                  <a:srgbClr val="030C40"/>
                </a:solidFill>
                <a:latin typeface="游ゴシック" panose="020B0400000000000000" pitchFamily="50" charset="-128"/>
                <a:ea typeface="游ゴシック" panose="020B0400000000000000" pitchFamily="50" charset="-128"/>
                <a:cs typeface="Arial" panose="020B0604020202020204" pitchFamily="34" charset="0"/>
              </a:rPr>
              <a:t>This document contains con</a:t>
            </a:r>
            <a:r>
              <a:rPr lang="en-US" sz="1100" b="1">
                <a:solidFill>
                  <a:srgbClr val="030C40"/>
                </a:solidFill>
                <a:latin typeface="游ゴシック" panose="020B0400000000000000" pitchFamily="50" charset="-128"/>
                <a:ea typeface="游ゴシック" panose="020B0400000000000000" pitchFamily="50" charset="-128"/>
                <a:cs typeface="Arial" panose="020B0604020202020204" pitchFamily="34" charset="0"/>
              </a:rPr>
              <a:t>fi</a:t>
            </a:r>
            <a:r>
              <a:rPr lang="en-JP" sz="1100" b="1">
                <a:solidFill>
                  <a:srgbClr val="030C40"/>
                </a:solidFill>
                <a:latin typeface="游ゴシック" panose="020B0400000000000000" pitchFamily="50" charset="-128"/>
                <a:ea typeface="游ゴシック" panose="020B0400000000000000" pitchFamily="50" charset="-128"/>
                <a:cs typeface="Arial" panose="020B0604020202020204" pitchFamily="34" charset="0"/>
              </a:rPr>
              <a:t>dential and proprietary information of </a:t>
            </a:r>
            <a:r>
              <a:rPr lang="en-US" sz="1100" b="1">
                <a:solidFill>
                  <a:srgbClr val="030C40"/>
                </a:solidFill>
                <a:latin typeface="游ゴシック" panose="020B0400000000000000" pitchFamily="50" charset="-128"/>
                <a:ea typeface="游ゴシック" panose="020B0400000000000000" pitchFamily="50" charset="-128"/>
                <a:cs typeface="Arial" panose="020B0604020202020204" pitchFamily="34" charset="0"/>
              </a:rPr>
              <a:t>Quanmatic, Inc. </a:t>
            </a:r>
            <a:r>
              <a:rPr lang="en-JP" sz="1100" b="1">
                <a:solidFill>
                  <a:srgbClr val="030C40"/>
                </a:solidFill>
                <a:latin typeface="游ゴシック" panose="020B0400000000000000" pitchFamily="50" charset="-128"/>
                <a:ea typeface="游ゴシック" panose="020B0400000000000000" pitchFamily="50" charset="-128"/>
                <a:cs typeface="Arial" panose="020B0604020202020204" pitchFamily="34" charset="0"/>
              </a:rPr>
              <a:t>Any use of this material wit</a:t>
            </a:r>
            <a:r>
              <a:rPr lang="en-US" altLang="ja-JP" sz="1100" b="1">
                <a:solidFill>
                  <a:srgbClr val="030C40"/>
                </a:solidFill>
                <a:latin typeface="游ゴシック" panose="020B0400000000000000" pitchFamily="50" charset="-128"/>
                <a:ea typeface="游ゴシック" panose="020B0400000000000000" pitchFamily="50" charset="-128"/>
                <a:cs typeface="Arial" panose="020B0604020202020204" pitchFamily="34" charset="0"/>
              </a:rPr>
              <a:t>h</a:t>
            </a:r>
            <a:r>
              <a:rPr lang="en-JP" sz="1100" b="1">
                <a:solidFill>
                  <a:srgbClr val="030C40"/>
                </a:solidFill>
                <a:latin typeface="游ゴシック" panose="020B0400000000000000" pitchFamily="50" charset="-128"/>
                <a:ea typeface="游ゴシック" panose="020B0400000000000000" pitchFamily="50" charset="-128"/>
                <a:cs typeface="Arial" panose="020B0604020202020204" pitchFamily="34" charset="0"/>
              </a:rPr>
              <a:t>out permission of </a:t>
            </a:r>
            <a:r>
              <a:rPr lang="en-US" sz="1100" b="1">
                <a:solidFill>
                  <a:srgbClr val="030C40"/>
                </a:solidFill>
                <a:latin typeface="游ゴシック" panose="020B0400000000000000" pitchFamily="50" charset="-128"/>
                <a:ea typeface="游ゴシック" panose="020B0400000000000000" pitchFamily="50" charset="-128"/>
                <a:cs typeface="Arial" panose="020B0604020202020204" pitchFamily="34" charset="0"/>
              </a:rPr>
              <a:t>Quanmatic, Inc. </a:t>
            </a:r>
            <a:r>
              <a:rPr lang="en-JP" sz="1100" b="1">
                <a:solidFill>
                  <a:srgbClr val="030C40"/>
                </a:solidFill>
                <a:latin typeface="游ゴシック" panose="020B0400000000000000" pitchFamily="50" charset="-128"/>
                <a:ea typeface="游ゴシック" panose="020B0400000000000000" pitchFamily="50" charset="-128"/>
                <a:cs typeface="Arial" panose="020B0604020202020204" pitchFamily="34" charset="0"/>
              </a:rPr>
              <a:t>is strictly prohibited.</a:t>
            </a:r>
          </a:p>
        </p:txBody>
      </p:sp>
      <p:pic>
        <p:nvPicPr>
          <p:cNvPr id="11" name="図 10">
            <a:extLst>
              <a:ext uri="{FF2B5EF4-FFF2-40B4-BE49-F238E27FC236}">
                <a16:creationId xmlns:a16="http://schemas.microsoft.com/office/drawing/2014/main" id="{34427221-04AD-B6E2-275E-CBEA757DEB67}"/>
              </a:ext>
            </a:extLst>
          </p:cNvPr>
          <p:cNvPicPr>
            <a:picLocks noChangeAspect="1"/>
          </p:cNvPicPr>
          <p:nvPr userDrawn="1"/>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28565" y="193515"/>
            <a:ext cx="3041546" cy="684000"/>
          </a:xfrm>
          <a:prstGeom prst="rect">
            <a:avLst/>
          </a:prstGeom>
        </p:spPr>
      </p:pic>
    </p:spTree>
    <p:extLst>
      <p:ext uri="{BB962C8B-B14F-4D97-AF65-F5344CB8AC3E}">
        <p14:creationId xmlns:p14="http://schemas.microsoft.com/office/powerpoint/2010/main" val="2624205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白紙（ページ数あり）">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4E86EBDB-9686-6FCC-7C89-F181E4CDB374}"/>
              </a:ext>
            </a:extLst>
          </p:cNvPr>
          <p:cNvSpPr>
            <a:spLocks noGrp="1"/>
          </p:cNvSpPr>
          <p:nvPr>
            <p:ph type="sldNum" sz="quarter" idx="4"/>
          </p:nvPr>
        </p:nvSpPr>
        <p:spPr>
          <a:xfrm>
            <a:off x="11696044" y="6468129"/>
            <a:ext cx="476794" cy="365760"/>
          </a:xfrm>
          <a:prstGeom prst="rect">
            <a:avLst/>
          </a:prstGeom>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4" name="テキスト プレースホルダー 4">
            <a:extLst>
              <a:ext uri="{FF2B5EF4-FFF2-40B4-BE49-F238E27FC236}">
                <a16:creationId xmlns:a16="http://schemas.microsoft.com/office/drawing/2014/main" id="{F0F5EF81-F478-FB48-A87D-34B59436DB94}"/>
              </a:ext>
            </a:extLst>
          </p:cNvPr>
          <p:cNvSpPr>
            <a:spLocks noGrp="1"/>
          </p:cNvSpPr>
          <p:nvPr>
            <p:ph type="body" sz="quarter" idx="10"/>
          </p:nvPr>
        </p:nvSpPr>
        <p:spPr>
          <a:xfrm>
            <a:off x="176400" y="171550"/>
            <a:ext cx="10491600" cy="669547"/>
          </a:xfrm>
          <a:prstGeom prst="rect">
            <a:avLst/>
          </a:prstGeom>
        </p:spPr>
        <p:txBody>
          <a:bodyPr/>
          <a:lstStyle>
            <a:lvl1pPr marL="0" indent="0">
              <a:buNone/>
              <a:defRPr sz="2400" b="1">
                <a:solidFill>
                  <a:srgbClr val="030C40"/>
                </a:solidFill>
              </a:defRPr>
            </a:lvl1pPr>
            <a:lvl2pPr marL="457200" indent="0">
              <a:buNone/>
              <a:defRPr/>
            </a:lvl2pPr>
            <a:lvl3pPr marL="914400" indent="0">
              <a:buNone/>
              <a:defRPr/>
            </a:lvl3pPr>
            <a:lvl4pPr marL="1371600" indent="0">
              <a:buNone/>
              <a:defRPr/>
            </a:lvl4pPr>
            <a:lvl5pPr marL="1828800" indent="0">
              <a:buNone/>
              <a:defRPr/>
            </a:lvl5pPr>
          </a:lstStyle>
          <a:p>
            <a:pPr lvl="0"/>
            <a:endParaRPr kumimoji="1" lang="ja-JP" altLang="en-US"/>
          </a:p>
        </p:txBody>
      </p:sp>
      <p:pic>
        <p:nvPicPr>
          <p:cNvPr id="5" name="図 4">
            <a:extLst>
              <a:ext uri="{FF2B5EF4-FFF2-40B4-BE49-F238E27FC236}">
                <a16:creationId xmlns:a16="http://schemas.microsoft.com/office/drawing/2014/main" id="{8E43328E-66C4-7B9D-C50B-C0695759A5C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158864" y="211715"/>
            <a:ext cx="895236" cy="669547"/>
          </a:xfrm>
          <a:prstGeom prst="rect">
            <a:avLst/>
          </a:prstGeom>
        </p:spPr>
      </p:pic>
      <p:cxnSp>
        <p:nvCxnSpPr>
          <p:cNvPr id="6" name="直線コネクタ 5">
            <a:extLst>
              <a:ext uri="{FF2B5EF4-FFF2-40B4-BE49-F238E27FC236}">
                <a16:creationId xmlns:a16="http://schemas.microsoft.com/office/drawing/2014/main" id="{D215D284-2193-9F1C-EB60-175EBDF066D6}"/>
              </a:ext>
            </a:extLst>
          </p:cNvPr>
          <p:cNvCxnSpPr>
            <a:cxnSpLocks/>
          </p:cNvCxnSpPr>
          <p:nvPr userDrawn="1"/>
        </p:nvCxnSpPr>
        <p:spPr>
          <a:xfrm>
            <a:off x="125128" y="904772"/>
            <a:ext cx="11957847"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0610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タイトル/CONFIDENTIAL/ページ数/グレー背景">
    <p:spTree>
      <p:nvGrpSpPr>
        <p:cNvPr id="1" name=""/>
        <p:cNvGrpSpPr/>
        <p:nvPr/>
      </p:nvGrpSpPr>
      <p:grpSpPr>
        <a:xfrm>
          <a:off x="0" y="0"/>
          <a:ext cx="0" cy="0"/>
          <a:chOff x="0" y="0"/>
          <a:chExt cx="0" cy="0"/>
        </a:xfrm>
      </p:grpSpPr>
      <p:sp>
        <p:nvSpPr>
          <p:cNvPr id="2" name="四角形: 上の 2 つの角を丸める 127">
            <a:extLst>
              <a:ext uri="{FF2B5EF4-FFF2-40B4-BE49-F238E27FC236}">
                <a16:creationId xmlns:a16="http://schemas.microsoft.com/office/drawing/2014/main" id="{5031E66F-CBC9-6949-D11F-CC1C216DB857}"/>
              </a:ext>
            </a:extLst>
          </p:cNvPr>
          <p:cNvSpPr/>
          <p:nvPr userDrawn="1"/>
        </p:nvSpPr>
        <p:spPr>
          <a:xfrm>
            <a:off x="10339862" y="24111"/>
            <a:ext cx="1852138" cy="235729"/>
          </a:xfrm>
          <a:prstGeom prst="round2SameRect">
            <a:avLst>
              <a:gd name="adj1" fmla="val 0"/>
              <a:gd name="adj2"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9B003F"/>
                </a:solidFill>
                <a:effectLst/>
                <a:uLnTx/>
                <a:uFillTx/>
                <a:latin typeface="游ゴシック" panose="020B0400000000000000" pitchFamily="34" charset="-128"/>
                <a:ea typeface="游ゴシック" panose="020B0400000000000000" pitchFamily="34" charset="-128"/>
                <a:cs typeface="+mn-cs"/>
              </a:rPr>
              <a:t>CONFIDENTIAL</a:t>
            </a:r>
            <a:endParaRPr kumimoji="1" lang="ja-JP" altLang="en-US" sz="1200" b="1" i="0" u="none" strike="noStrike" kern="1200" cap="none" spc="0" normalizeH="0" baseline="0" noProof="0">
              <a:ln>
                <a:noFill/>
              </a:ln>
              <a:solidFill>
                <a:srgbClr val="9B003F"/>
              </a:solidFill>
              <a:effectLst/>
              <a:uLnTx/>
              <a:uFillTx/>
              <a:latin typeface="游ゴシック" panose="020B0400000000000000" pitchFamily="34" charset="-128"/>
              <a:ea typeface="游ゴシック" panose="020B0400000000000000" pitchFamily="34" charset="-128"/>
              <a:cs typeface="+mn-cs"/>
            </a:endParaRPr>
          </a:p>
        </p:txBody>
      </p:sp>
      <p:sp>
        <p:nvSpPr>
          <p:cNvPr id="6" name="テキスト プレースホルダー 4">
            <a:extLst>
              <a:ext uri="{FF2B5EF4-FFF2-40B4-BE49-F238E27FC236}">
                <a16:creationId xmlns:a16="http://schemas.microsoft.com/office/drawing/2014/main" id="{177B9EF6-8FFF-6471-AFD1-CBF45503F889}"/>
              </a:ext>
            </a:extLst>
          </p:cNvPr>
          <p:cNvSpPr>
            <a:spLocks noGrp="1"/>
          </p:cNvSpPr>
          <p:nvPr>
            <p:ph type="body" sz="quarter" idx="10"/>
          </p:nvPr>
        </p:nvSpPr>
        <p:spPr>
          <a:xfrm>
            <a:off x="176400" y="171550"/>
            <a:ext cx="10491600" cy="669547"/>
          </a:xfrm>
          <a:prstGeom prst="rect">
            <a:avLst/>
          </a:prstGeom>
        </p:spPr>
        <p:txBody>
          <a:bodyPr/>
          <a:lstStyle>
            <a:lvl1pPr marL="0" indent="0">
              <a:buNone/>
              <a:defRPr sz="2400" b="1">
                <a:solidFill>
                  <a:srgbClr val="030C40"/>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a:t>マスター テキストの書式設定</a:t>
            </a:r>
          </a:p>
        </p:txBody>
      </p:sp>
      <p:sp>
        <p:nvSpPr>
          <p:cNvPr id="4" name="Slide Number Placeholder 4">
            <a:extLst>
              <a:ext uri="{FF2B5EF4-FFF2-40B4-BE49-F238E27FC236}">
                <a16:creationId xmlns:a16="http://schemas.microsoft.com/office/drawing/2014/main" id="{EF2C68B8-99EC-ACEA-DAA0-F03A7CD70D20}"/>
              </a:ext>
            </a:extLst>
          </p:cNvPr>
          <p:cNvSpPr>
            <a:spLocks noGrp="1"/>
          </p:cNvSpPr>
          <p:nvPr>
            <p:ph type="sldNum" sz="quarter" idx="4"/>
          </p:nvPr>
        </p:nvSpPr>
        <p:spPr>
          <a:xfrm>
            <a:off x="11696044" y="6468129"/>
            <a:ext cx="476794" cy="365760"/>
          </a:xfrm>
          <a:prstGeom prst="rect">
            <a:avLst/>
          </a:prstGeom>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pic>
        <p:nvPicPr>
          <p:cNvPr id="5" name="図 4">
            <a:extLst>
              <a:ext uri="{FF2B5EF4-FFF2-40B4-BE49-F238E27FC236}">
                <a16:creationId xmlns:a16="http://schemas.microsoft.com/office/drawing/2014/main" id="{705859C9-F036-3EE1-3790-177B46F796E7}"/>
              </a:ext>
            </a:extLst>
          </p:cNvPr>
          <p:cNvPicPr>
            <a:picLocks noChangeAspect="1"/>
          </p:cNvPicPr>
          <p:nvPr userDrawn="1"/>
        </p:nvPicPr>
        <p:blipFill>
          <a:blip r:embed="rId2"/>
          <a:stretch>
            <a:fillRect/>
          </a:stretch>
        </p:blipFill>
        <p:spPr>
          <a:xfrm>
            <a:off x="11158864" y="211715"/>
            <a:ext cx="895236" cy="669547"/>
          </a:xfrm>
          <a:prstGeom prst="rect">
            <a:avLst/>
          </a:prstGeom>
        </p:spPr>
      </p:pic>
      <p:cxnSp>
        <p:nvCxnSpPr>
          <p:cNvPr id="8" name="直線コネクタ 7">
            <a:extLst>
              <a:ext uri="{FF2B5EF4-FFF2-40B4-BE49-F238E27FC236}">
                <a16:creationId xmlns:a16="http://schemas.microsoft.com/office/drawing/2014/main" id="{337747D7-09F6-8EC6-59BA-0B7E7B9F23CF}"/>
              </a:ext>
            </a:extLst>
          </p:cNvPr>
          <p:cNvCxnSpPr>
            <a:cxnSpLocks/>
          </p:cNvCxnSpPr>
          <p:nvPr userDrawn="1"/>
        </p:nvCxnSpPr>
        <p:spPr>
          <a:xfrm>
            <a:off x="125128" y="904772"/>
            <a:ext cx="11957847"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テキスト プレースホルダー 6">
            <a:extLst>
              <a:ext uri="{FF2B5EF4-FFF2-40B4-BE49-F238E27FC236}">
                <a16:creationId xmlns:a16="http://schemas.microsoft.com/office/drawing/2014/main" id="{A166A962-CBA2-8B4F-3075-F930856B0F49}"/>
              </a:ext>
            </a:extLst>
          </p:cNvPr>
          <p:cNvSpPr>
            <a:spLocks noGrp="1"/>
          </p:cNvSpPr>
          <p:nvPr>
            <p:ph type="body" sz="quarter" idx="11"/>
          </p:nvPr>
        </p:nvSpPr>
        <p:spPr>
          <a:xfrm>
            <a:off x="176400" y="547041"/>
            <a:ext cx="8916159" cy="294055"/>
          </a:xfrm>
          <a:prstGeom prst="rect">
            <a:avLst/>
          </a:prstGeom>
        </p:spPr>
        <p:txBody>
          <a:bodyPr/>
          <a:lstStyle>
            <a:lvl1pPr marL="0" indent="0">
              <a:buNone/>
              <a:defRPr sz="1800" b="1">
                <a:solidFill>
                  <a:srgbClr val="030C40"/>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4187413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B123D26-484E-D125-999A-2C62B1296A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FAADFF7-AACF-1D33-0705-CA8C4C3639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9C3DBA4-A228-29AF-7A99-400089E83A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8833CA-FCF0-7249-9A53-4EE228A86CA0}" type="datetimeFigureOut">
              <a:rPr kumimoji="1" lang="ja-JP" altLang="en-US" smtClean="0"/>
              <a:t>2026/4/17</a:t>
            </a:fld>
            <a:endParaRPr kumimoji="1" lang="ja-JP" altLang="en-US"/>
          </a:p>
        </p:txBody>
      </p:sp>
      <p:sp>
        <p:nvSpPr>
          <p:cNvPr id="5" name="フッター プレースホルダー 4">
            <a:extLst>
              <a:ext uri="{FF2B5EF4-FFF2-40B4-BE49-F238E27FC236}">
                <a16:creationId xmlns:a16="http://schemas.microsoft.com/office/drawing/2014/main" id="{F45B172B-B8ED-BDEF-C5CF-F23AECB407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C8C1033-B8CD-D7A1-91B1-B9423649BF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DD1D5A8-2B2F-B54A-A036-C2282FBDF344}" type="slidenum">
              <a:rPr kumimoji="1" lang="ja-JP" altLang="en-US" smtClean="0"/>
              <a:t>‹#›</a:t>
            </a:fld>
            <a:endParaRPr kumimoji="1" lang="ja-JP" altLang="en-US"/>
          </a:p>
        </p:txBody>
      </p:sp>
    </p:spTree>
    <p:extLst>
      <p:ext uri="{BB962C8B-B14F-4D97-AF65-F5344CB8AC3E}">
        <p14:creationId xmlns:p14="http://schemas.microsoft.com/office/powerpoint/2010/main" val="3194473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tags" Target="../tags/tag1.xml"/><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7" Type="http://schemas.microsoft.com/office/2007/relationships/hdphoto" Target="../media/hdphoto1.wdp"/><Relationship Id="rId2" Type="http://schemas.openxmlformats.org/officeDocument/2006/relationships/slideLayout" Target="../slideLayouts/slideLayout14.xml"/><Relationship Id="rId1" Type="http://schemas.openxmlformats.org/officeDocument/2006/relationships/tags" Target="../tags/tag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tags" Target="../tags/tag3.xml"/><Relationship Id="rId5" Type="http://schemas.openxmlformats.org/officeDocument/2006/relationships/image" Target="../media/image15.png"/><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tags" Target="../tags/tag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oleObject" Target="../embeddings/oleObject1.bin"/><Relationship Id="rId7" Type="http://schemas.openxmlformats.org/officeDocument/2006/relationships/image" Target="../media/image12.png"/><Relationship Id="rId2" Type="http://schemas.openxmlformats.org/officeDocument/2006/relationships/slideLayout" Target="../slideLayouts/slideLayout14.xml"/><Relationship Id="rId1" Type="http://schemas.openxmlformats.org/officeDocument/2006/relationships/tags" Target="../tags/tag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tags" Target="../tags/tag6.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oleObject" Target="../embeddings/oleObject1.bin"/><Relationship Id="rId7" Type="http://schemas.openxmlformats.org/officeDocument/2006/relationships/image" Target="../media/image17.png"/><Relationship Id="rId2" Type="http://schemas.openxmlformats.org/officeDocument/2006/relationships/slideLayout" Target="../slideLayouts/slideLayout14.xml"/><Relationship Id="rId1" Type="http://schemas.openxmlformats.org/officeDocument/2006/relationships/tags" Target="../tags/tag7.xml"/><Relationship Id="rId6" Type="http://schemas.openxmlformats.org/officeDocument/2006/relationships/image" Target="../media/image16.png"/><Relationship Id="rId5" Type="http://schemas.openxmlformats.org/officeDocument/2006/relationships/image" Target="../media/image14.png"/><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notesSlide" Target="../notesSlides/notesSlide1.xml"/><Relationship Id="rId7" Type="http://schemas.openxmlformats.org/officeDocument/2006/relationships/image" Target="../media/image20.png"/><Relationship Id="rId2" Type="http://schemas.openxmlformats.org/officeDocument/2006/relationships/slideLayout" Target="../slideLayouts/slideLayout14.xml"/><Relationship Id="rId1" Type="http://schemas.openxmlformats.org/officeDocument/2006/relationships/tags" Target="../tags/tag8.xml"/><Relationship Id="rId6" Type="http://schemas.openxmlformats.org/officeDocument/2006/relationships/image" Target="../media/image19.png"/><Relationship Id="rId5" Type="http://schemas.openxmlformats.org/officeDocument/2006/relationships/image" Target="../media/image5.emf"/><Relationship Id="rId4" Type="http://schemas.openxmlformats.org/officeDocument/2006/relationships/oleObject" Target="../embeddings/oleObject1.bin"/><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tags" Target="../tags/tag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5.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tags" Target="../tags/tag10.xml"/><Relationship Id="rId4" Type="http://schemas.openxmlformats.org/officeDocument/2006/relationships/image" Target="../media/image5.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tags" Target="../tags/tag1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5.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tags" Target="../tags/tag12.xml"/><Relationship Id="rId4" Type="http://schemas.openxmlformats.org/officeDocument/2006/relationships/image" Target="../media/image5.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tags" Target="../tags/tag13.xml"/><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tags" Target="../tags/tag14.xml"/><Relationship Id="rId4" Type="http://schemas.openxmlformats.org/officeDocument/2006/relationships/image" Target="../media/image5.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tags" Target="../tags/tag15.xml"/><Relationship Id="rId5" Type="http://schemas.openxmlformats.org/officeDocument/2006/relationships/image" Target="../media/image27.svg"/><Relationship Id="rId4" Type="http://schemas.openxmlformats.org/officeDocument/2006/relationships/image" Target="../media/image5.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tags" Target="../tags/tag16.xml"/><Relationship Id="rId4" Type="http://schemas.openxmlformats.org/officeDocument/2006/relationships/image" Target="../media/image5.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895ACBD-D3EF-0AD9-CCD8-5ED15EF639B5}"/>
              </a:ext>
            </a:extLst>
          </p:cNvPr>
          <p:cNvSpPr>
            <a:spLocks noGrp="1"/>
          </p:cNvSpPr>
          <p:nvPr>
            <p:ph type="body" sz="quarter" idx="13"/>
          </p:nvPr>
        </p:nvSpPr>
        <p:spPr>
          <a:xfrm>
            <a:off x="367200" y="2836560"/>
            <a:ext cx="11824800" cy="923330"/>
          </a:xfrm>
        </p:spPr>
        <p:txBody>
          <a:bodyPr>
            <a:normAutofit/>
          </a:bodyPr>
          <a:lstStyle/>
          <a:p>
            <a:r>
              <a:rPr kumimoji="1" lang="en-US" altLang="ja-JP" sz="3200" dirty="0"/>
              <a:t>QFS</a:t>
            </a:r>
            <a:r>
              <a:rPr kumimoji="1" lang="ja-JP" altLang="en-US" sz="3200"/>
              <a:t>法を用いた広告レコメンドに関するアルゴリズム仕様書</a:t>
            </a:r>
            <a:endParaRPr kumimoji="1" lang="ja-JP" altLang="en-US" sz="3200" dirty="0"/>
          </a:p>
        </p:txBody>
      </p:sp>
      <p:sp>
        <p:nvSpPr>
          <p:cNvPr id="4" name="テキスト プレースホルダー 3">
            <a:extLst>
              <a:ext uri="{FF2B5EF4-FFF2-40B4-BE49-F238E27FC236}">
                <a16:creationId xmlns:a16="http://schemas.microsoft.com/office/drawing/2014/main" id="{6226EF84-B820-6BC8-F392-D32787C85F2D}"/>
              </a:ext>
            </a:extLst>
          </p:cNvPr>
          <p:cNvSpPr>
            <a:spLocks noGrp="1"/>
          </p:cNvSpPr>
          <p:nvPr>
            <p:ph type="body" sz="quarter" idx="12"/>
          </p:nvPr>
        </p:nvSpPr>
        <p:spPr>
          <a:xfrm>
            <a:off x="367200" y="4607684"/>
            <a:ext cx="8136000" cy="392400"/>
          </a:xfrm>
        </p:spPr>
        <p:txBody>
          <a:bodyPr/>
          <a:lstStyle/>
          <a:p>
            <a:r>
              <a:rPr kumimoji="1" lang="en-US" altLang="ja-JP" dirty="0"/>
              <a:t>2026.04.20</a:t>
            </a:r>
            <a:endParaRPr kumimoji="1" lang="ja-JP" altLang="en-US" dirty="0"/>
          </a:p>
        </p:txBody>
      </p:sp>
      <p:sp>
        <p:nvSpPr>
          <p:cNvPr id="5" name="テキスト プレースホルダー 4">
            <a:extLst>
              <a:ext uri="{FF2B5EF4-FFF2-40B4-BE49-F238E27FC236}">
                <a16:creationId xmlns:a16="http://schemas.microsoft.com/office/drawing/2014/main" id="{F4703A07-4D3F-5F4B-A874-78BA07E15A47}"/>
              </a:ext>
            </a:extLst>
          </p:cNvPr>
          <p:cNvSpPr>
            <a:spLocks noGrp="1"/>
          </p:cNvSpPr>
          <p:nvPr>
            <p:ph type="body" sz="quarter" idx="11"/>
          </p:nvPr>
        </p:nvSpPr>
        <p:spPr/>
        <p:txBody>
          <a:bodyPr>
            <a:normAutofit fontScale="92500" lnSpcReduction="10000"/>
          </a:bodyPr>
          <a:lstStyle/>
          <a:p>
            <a:r>
              <a:rPr kumimoji="1" lang="ja-JP" altLang="en-US"/>
              <a:t>株式会社</a:t>
            </a:r>
            <a:r>
              <a:rPr kumimoji="1" lang="en-US" altLang="ja-JP" dirty="0" err="1"/>
              <a:t>Quanmatic</a:t>
            </a:r>
            <a:endParaRPr kumimoji="1" lang="ja-JP" altLang="en-US" dirty="0"/>
          </a:p>
        </p:txBody>
      </p:sp>
    </p:spTree>
    <p:extLst>
      <p:ext uri="{BB962C8B-B14F-4D97-AF65-F5344CB8AC3E}">
        <p14:creationId xmlns:p14="http://schemas.microsoft.com/office/powerpoint/2010/main" val="1367944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F9EF-5FEA-52A6-D4DB-C2E3290215BB}"/>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47F83C76-9F0E-67BB-7536-05A7DA712C46}"/>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47F83C76-9F0E-67BB-7536-05A7DA712C46}"/>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AC6F781D-C7C8-2CB4-DCD2-9646151BA42D}"/>
              </a:ext>
            </a:extLst>
          </p:cNvPr>
          <p:cNvSpPr>
            <a:spLocks noGrp="1"/>
          </p:cNvSpPr>
          <p:nvPr>
            <p:ph type="body" sz="quarter" idx="10"/>
          </p:nvPr>
        </p:nvSpPr>
        <p:spPr>
          <a:xfrm>
            <a:off x="176400" y="171550"/>
            <a:ext cx="10738158" cy="669547"/>
          </a:xfrm>
        </p:spPr>
        <p:txBody>
          <a:bodyPr>
            <a:normAutofit fontScale="92500" lnSpcReduction="10000"/>
          </a:bodyPr>
          <a:lstStyle/>
          <a:p>
            <a:r>
              <a:rPr lang="ja-JP" altLang="en-US"/>
              <a:t>過去実績の実広告案件を対象に、高クリックが期待される顧客セグメントを抽出したところ、ボリュームを確保した有効セグメントの抽出を確認した</a:t>
            </a:r>
            <a:endParaRPr lang="ja-JP" altLang="en-US" dirty="0"/>
          </a:p>
        </p:txBody>
      </p:sp>
      <p:sp>
        <p:nvSpPr>
          <p:cNvPr id="3" name="Slide Number Placeholder 2">
            <a:extLst>
              <a:ext uri="{FF2B5EF4-FFF2-40B4-BE49-F238E27FC236}">
                <a16:creationId xmlns:a16="http://schemas.microsoft.com/office/drawing/2014/main" id="{FE02DDD2-579A-0879-6513-ECA2BF0FB66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4" name="テキスト ボックス 3">
            <a:extLst>
              <a:ext uri="{FF2B5EF4-FFF2-40B4-BE49-F238E27FC236}">
                <a16:creationId xmlns:a16="http://schemas.microsoft.com/office/drawing/2014/main" id="{5DDD371A-BAB7-5764-4FFE-1976B0C368F8}"/>
              </a:ext>
            </a:extLst>
          </p:cNvPr>
          <p:cNvSpPr txBox="1"/>
          <p:nvPr/>
        </p:nvSpPr>
        <p:spPr>
          <a:xfrm>
            <a:off x="527176" y="1199098"/>
            <a:ext cx="11383321" cy="4616648"/>
          </a:xfrm>
          <a:prstGeom prst="rect">
            <a:avLst/>
          </a:prstGeom>
          <a:noFill/>
        </p:spPr>
        <p:txBody>
          <a:bodyPr wrap="square" rtlCol="0">
            <a:spAutoFit/>
          </a:bodyPr>
          <a:lstStyle/>
          <a:p>
            <a:pPr marL="285750" indent="-285750">
              <a:spcBef>
                <a:spcPts val="800"/>
              </a:spcBef>
              <a:buFont typeface="Arial" panose="020B0604020202020204" pitchFamily="34" charset="0"/>
              <a:buChar char="•"/>
            </a:pPr>
            <a:r>
              <a:rPr kumimoji="1" lang="ja-JP" altLang="en-US" b="1"/>
              <a:t>机上検証したこと</a:t>
            </a:r>
            <a:endParaRPr kumimoji="1" lang="en-US" altLang="ja-JP" b="1" dirty="0"/>
          </a:p>
          <a:p>
            <a:pPr marL="742950" lvl="1" indent="-285750">
              <a:spcBef>
                <a:spcPts val="800"/>
              </a:spcBef>
              <a:buFont typeface="Arial" panose="020B0604020202020204" pitchFamily="34" charset="0"/>
              <a:buChar char="•"/>
            </a:pPr>
            <a:r>
              <a:rPr kumimoji="1" lang="ja-JP" altLang="en-US"/>
              <a:t>過去配信実績の「ふるさと納税リリースプロモーション」、「</a:t>
            </a:r>
            <a:r>
              <a:rPr kumimoji="1" lang="en-US" altLang="ja-JP" dirty="0"/>
              <a:t>JRA (</a:t>
            </a:r>
            <a:r>
              <a:rPr kumimoji="1" lang="ja-JP" altLang="en-US"/>
              <a:t>年末</a:t>
            </a:r>
            <a:r>
              <a:rPr kumimoji="1" lang="en-US" altLang="ja-JP" dirty="0"/>
              <a:t>/</a:t>
            </a:r>
            <a:r>
              <a:rPr kumimoji="1" lang="ja-JP" altLang="en-US"/>
              <a:t>春</a:t>
            </a:r>
            <a:r>
              <a:rPr kumimoji="1" lang="en-US" altLang="ja-JP" dirty="0"/>
              <a:t>)</a:t>
            </a:r>
            <a:r>
              <a:rPr kumimoji="1" lang="ja-JP" altLang="en-US"/>
              <a:t>」、「ユニセフ </a:t>
            </a:r>
            <a:r>
              <a:rPr kumimoji="1" lang="en-US" altLang="ja-JP" dirty="0"/>
              <a:t>(</a:t>
            </a:r>
            <a:r>
              <a:rPr kumimoji="1" lang="en-US" altLang="ja-JP" dirty="0" err="1"/>
              <a:t>iPS</a:t>
            </a:r>
            <a:r>
              <a:rPr kumimoji="1" lang="ja-JP" altLang="en-US"/>
              <a:t>細胞</a:t>
            </a:r>
            <a:r>
              <a:rPr kumimoji="1" lang="en-US" altLang="ja-JP" dirty="0"/>
              <a:t>)</a:t>
            </a:r>
            <a:r>
              <a:rPr kumimoji="1" lang="ja-JP" altLang="en-US"/>
              <a:t>」の実広告案件での効果テストを行い、量子特徴量選択に基づき高クリックが期待される顧客セグメントを抽出した</a:t>
            </a:r>
            <a:endParaRPr kumimoji="1" lang="en-US" altLang="ja-JP" dirty="0"/>
          </a:p>
          <a:p>
            <a:pPr marL="285750" indent="-285750">
              <a:spcBef>
                <a:spcPts val="800"/>
              </a:spcBef>
              <a:buFont typeface="Arial" panose="020B0604020202020204" pitchFamily="34" charset="0"/>
              <a:buChar char="•"/>
            </a:pPr>
            <a:r>
              <a:rPr kumimoji="1" lang="ja-JP" altLang="en-US" b="1"/>
              <a:t>高クリックが期待される顧客セグメント抽出結果</a:t>
            </a:r>
            <a:endParaRPr kumimoji="1" lang="en-US" altLang="ja-JP" b="1" dirty="0"/>
          </a:p>
          <a:p>
            <a:pPr marL="742950" lvl="1" indent="-285750">
              <a:spcBef>
                <a:spcPts val="800"/>
              </a:spcBef>
              <a:buFont typeface="Arial" panose="020B0604020202020204" pitchFamily="34" charset="0"/>
              <a:buChar char="•"/>
            </a:pPr>
            <a:r>
              <a:rPr kumimoji="1" lang="ja-JP" altLang="en-US" b="1"/>
              <a:t>一定のボリューム（予測されるインプレッション数）を確保しつつ</a:t>
            </a:r>
            <a:r>
              <a:rPr kumimoji="1" lang="ja-JP" altLang="en-US"/>
              <a:t>、</a:t>
            </a:r>
            <a:br>
              <a:rPr kumimoji="1" lang="en-US" altLang="ja-JP" dirty="0"/>
            </a:br>
            <a:r>
              <a:rPr kumimoji="1" lang="ja-JP" altLang="en-US"/>
              <a:t>実績</a:t>
            </a:r>
            <a:r>
              <a:rPr kumimoji="1" lang="en-US" altLang="ja-JP" dirty="0"/>
              <a:t>CTR</a:t>
            </a:r>
            <a:r>
              <a:rPr kumimoji="1" lang="ja-JP" altLang="en-US"/>
              <a:t>を</a:t>
            </a:r>
            <a:r>
              <a:rPr kumimoji="1" lang="en-US" altLang="ja-JP" dirty="0"/>
              <a:t> </a:t>
            </a:r>
            <a:r>
              <a:rPr kumimoji="1" lang="ja-JP" altLang="en-US" b="1">
                <a:solidFill>
                  <a:schemeClr val="accent2"/>
                </a:solidFill>
              </a:rPr>
              <a:t>最大</a:t>
            </a:r>
            <a:r>
              <a:rPr kumimoji="1" lang="en-US" altLang="ja-JP" b="1" dirty="0">
                <a:solidFill>
                  <a:schemeClr val="accent2"/>
                </a:solidFill>
              </a:rPr>
              <a:t>1%pt </a:t>
            </a:r>
            <a:r>
              <a:rPr kumimoji="1" lang="ja-JP" altLang="en-US" b="1">
                <a:solidFill>
                  <a:schemeClr val="accent2"/>
                </a:solidFill>
              </a:rPr>
              <a:t>ほど上回る</a:t>
            </a:r>
            <a:r>
              <a:rPr kumimoji="1" lang="en-US" altLang="ja-JP" b="1" dirty="0">
                <a:solidFill>
                  <a:schemeClr val="accent2"/>
                </a:solidFill>
              </a:rPr>
              <a:t>CTR</a:t>
            </a:r>
            <a:r>
              <a:rPr kumimoji="1" lang="ja-JP" altLang="en-US" b="1">
                <a:solidFill>
                  <a:schemeClr val="accent2"/>
                </a:solidFill>
              </a:rPr>
              <a:t>が予測</a:t>
            </a:r>
            <a:r>
              <a:rPr kumimoji="1" lang="ja-JP" altLang="en-US"/>
              <a:t>される</a:t>
            </a:r>
            <a:r>
              <a:rPr kumimoji="1" lang="ja-JP" altLang="en-US" b="1"/>
              <a:t>顧客セグメントの抽出</a:t>
            </a:r>
            <a:r>
              <a:rPr kumimoji="1" lang="ja-JP" altLang="en-US"/>
              <a:t>ができた</a:t>
            </a:r>
            <a:endParaRPr kumimoji="1" lang="en-US" altLang="ja-JP" dirty="0"/>
          </a:p>
          <a:p>
            <a:pPr marL="742950" lvl="1" indent="-285750">
              <a:spcBef>
                <a:spcPts val="800"/>
              </a:spcBef>
              <a:buFont typeface="Arial" panose="020B0604020202020204" pitchFamily="34" charset="0"/>
              <a:buChar char="•"/>
            </a:pPr>
            <a:r>
              <a:rPr kumimoji="1" lang="ja-JP" altLang="en-US"/>
              <a:t>実配信時の対象セグメントと</a:t>
            </a:r>
            <a:r>
              <a:rPr kumimoji="1" lang="ja-JP" altLang="en-US" b="1">
                <a:solidFill>
                  <a:schemeClr val="accent2"/>
                </a:solidFill>
              </a:rPr>
              <a:t>異なる顧客属性を利用したセグメント</a:t>
            </a:r>
            <a:r>
              <a:rPr kumimoji="1" lang="ja-JP" altLang="en-US"/>
              <a:t>を抽出できた</a:t>
            </a:r>
            <a:endParaRPr kumimoji="1" lang="en-US" altLang="ja-JP" dirty="0"/>
          </a:p>
          <a:p>
            <a:pPr marL="742950" lvl="1" indent="-285750">
              <a:spcBef>
                <a:spcPts val="800"/>
              </a:spcBef>
              <a:buFont typeface="Arial" panose="020B0604020202020204" pitchFamily="34" charset="0"/>
              <a:buChar char="•"/>
            </a:pPr>
            <a:r>
              <a:rPr kumimoji="1" lang="ja-JP" altLang="en-US"/>
              <a:t>広告案件ごとに効果的な顧客セグメントの特徴が異なる結果を得られた</a:t>
            </a:r>
            <a:endParaRPr kumimoji="1" lang="en-US" altLang="ja-JP" dirty="0"/>
          </a:p>
          <a:p>
            <a:pPr marL="742950" lvl="1" indent="-285750">
              <a:spcBef>
                <a:spcPts val="800"/>
              </a:spcBef>
              <a:buFont typeface="Arial" panose="020B0604020202020204" pitchFamily="34" charset="0"/>
              <a:buChar char="•"/>
            </a:pPr>
            <a:endParaRPr kumimoji="1" lang="en-US" altLang="ja-JP" dirty="0"/>
          </a:p>
          <a:p>
            <a:pPr algn="ctr">
              <a:spcBef>
                <a:spcPts val="800"/>
              </a:spcBef>
            </a:pPr>
            <a:r>
              <a:rPr kumimoji="1" lang="ja-JP" altLang="en-US" b="1">
                <a:solidFill>
                  <a:srgbClr val="C00000"/>
                </a:solidFill>
              </a:rPr>
              <a:t>量子特徴量選択手法は、ボリュームを確保したまま期待の高い顧客セグメントの抽出に利用可能と判断</a:t>
            </a:r>
            <a:endParaRPr kumimoji="1" lang="en-US" altLang="ja-JP" b="1" dirty="0">
              <a:solidFill>
                <a:srgbClr val="C00000"/>
              </a:solidFill>
            </a:endParaRPr>
          </a:p>
          <a:p>
            <a:pPr>
              <a:spcBef>
                <a:spcPts val="800"/>
              </a:spcBef>
            </a:pPr>
            <a:endParaRPr kumimoji="1" lang="en-US" altLang="ja-JP" dirty="0"/>
          </a:p>
          <a:p>
            <a:pPr>
              <a:spcBef>
                <a:spcPts val="800"/>
              </a:spcBef>
            </a:pPr>
            <a:r>
              <a:rPr kumimoji="1" lang="ja-JP" altLang="en-US"/>
              <a:t>次ページ以降で各広告案件ごとの詳細結果を記載する。</a:t>
            </a:r>
            <a:endParaRPr kumimoji="1" lang="en-US" altLang="ja-JP" dirty="0"/>
          </a:p>
        </p:txBody>
      </p:sp>
      <p:sp>
        <p:nvSpPr>
          <p:cNvPr id="5" name="右矢印 4">
            <a:extLst>
              <a:ext uri="{FF2B5EF4-FFF2-40B4-BE49-F238E27FC236}">
                <a16:creationId xmlns:a16="http://schemas.microsoft.com/office/drawing/2014/main" id="{AC33C891-2EE5-601C-E355-44511F89E8DB}"/>
              </a:ext>
            </a:extLst>
          </p:cNvPr>
          <p:cNvSpPr/>
          <p:nvPr/>
        </p:nvSpPr>
        <p:spPr>
          <a:xfrm rot="5400000">
            <a:off x="5947483" y="4205076"/>
            <a:ext cx="297034" cy="47176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31192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94F7E-5934-45AC-46FF-82EA4AA52133}"/>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EEFC9DC2-E812-5013-7930-31F0488C2F05}"/>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EEFC9DC2-E812-5013-7930-31F0488C2F0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3252C232-1DCF-4901-5715-B249BD77A3EB}"/>
              </a:ext>
            </a:extLst>
          </p:cNvPr>
          <p:cNvSpPr>
            <a:spLocks noGrp="1"/>
          </p:cNvSpPr>
          <p:nvPr>
            <p:ph type="body" sz="quarter" idx="10"/>
          </p:nvPr>
        </p:nvSpPr>
        <p:spPr/>
        <p:txBody>
          <a:bodyPr>
            <a:noAutofit/>
          </a:bodyPr>
          <a:lstStyle/>
          <a:p>
            <a:r>
              <a:rPr lang="ja-JP" altLang="en-US"/>
              <a:t>量子計算を活用した、評価・顧客セグメントレコメンドのための機械学習全体フロー</a:t>
            </a:r>
          </a:p>
        </p:txBody>
      </p:sp>
      <p:sp>
        <p:nvSpPr>
          <p:cNvPr id="3" name="Slide Number Placeholder 2">
            <a:extLst>
              <a:ext uri="{FF2B5EF4-FFF2-40B4-BE49-F238E27FC236}">
                <a16:creationId xmlns:a16="http://schemas.microsoft.com/office/drawing/2014/main" id="{879C2F50-B16F-167C-23FE-94A99D1C9D0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2" name="ホームベース 1">
            <a:extLst>
              <a:ext uri="{FF2B5EF4-FFF2-40B4-BE49-F238E27FC236}">
                <a16:creationId xmlns:a16="http://schemas.microsoft.com/office/drawing/2014/main" id="{25583A0A-1B6E-59F9-DDFC-0CF770C38F48}"/>
              </a:ext>
            </a:extLst>
          </p:cNvPr>
          <p:cNvSpPr/>
          <p:nvPr/>
        </p:nvSpPr>
        <p:spPr>
          <a:xfrm>
            <a:off x="8950833" y="1077476"/>
            <a:ext cx="2850945" cy="372749"/>
          </a:xfrm>
          <a:prstGeom prst="homePlate">
            <a:avLst/>
          </a:prstGeom>
          <a:solidFill>
            <a:schemeClr val="tx1">
              <a:lumMod val="50000"/>
              <a:lumOff val="50000"/>
            </a:schemeClr>
          </a:solidFill>
          <a:ln w="25400"/>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kumimoji="1" lang="ja-JP" altLang="en-US" b="1"/>
              <a:t>出力・評価</a:t>
            </a:r>
          </a:p>
        </p:txBody>
      </p:sp>
      <p:cxnSp>
        <p:nvCxnSpPr>
          <p:cNvPr id="5" name="直線コネクタ 4">
            <a:extLst>
              <a:ext uri="{FF2B5EF4-FFF2-40B4-BE49-F238E27FC236}">
                <a16:creationId xmlns:a16="http://schemas.microsoft.com/office/drawing/2014/main" id="{4581F595-A6C6-4879-B697-DA3B49B772F6}"/>
              </a:ext>
            </a:extLst>
          </p:cNvPr>
          <p:cNvCxnSpPr/>
          <p:nvPr/>
        </p:nvCxnSpPr>
        <p:spPr>
          <a:xfrm flipV="1">
            <a:off x="1578360" y="2830551"/>
            <a:ext cx="361101" cy="807656"/>
          </a:xfrm>
          <a:prstGeom prst="line">
            <a:avLst/>
          </a:prstGeom>
          <a:ln w="317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9A246AFB-9D89-CD88-5D3E-91CC1E390C10}"/>
              </a:ext>
            </a:extLst>
          </p:cNvPr>
          <p:cNvCxnSpPr>
            <a:cxnSpLocks/>
          </p:cNvCxnSpPr>
          <p:nvPr/>
        </p:nvCxnSpPr>
        <p:spPr>
          <a:xfrm flipV="1">
            <a:off x="1595832" y="3638207"/>
            <a:ext cx="361101" cy="427599"/>
          </a:xfrm>
          <a:prstGeom prst="line">
            <a:avLst/>
          </a:prstGeom>
          <a:ln w="317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4CE4E3D0-3335-34B9-CF34-881E8983C9C1}"/>
              </a:ext>
            </a:extLst>
          </p:cNvPr>
          <p:cNvCxnSpPr>
            <a:cxnSpLocks/>
          </p:cNvCxnSpPr>
          <p:nvPr/>
        </p:nvCxnSpPr>
        <p:spPr>
          <a:xfrm>
            <a:off x="1578360" y="3670510"/>
            <a:ext cx="390547" cy="295100"/>
          </a:xfrm>
          <a:prstGeom prst="line">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7440EB8A-F0DA-8BD8-368F-89C9FAA46BDE}"/>
              </a:ext>
            </a:extLst>
          </p:cNvPr>
          <p:cNvCxnSpPr>
            <a:cxnSpLocks/>
          </p:cNvCxnSpPr>
          <p:nvPr/>
        </p:nvCxnSpPr>
        <p:spPr>
          <a:xfrm>
            <a:off x="1578360" y="4262160"/>
            <a:ext cx="373075" cy="492993"/>
          </a:xfrm>
          <a:prstGeom prst="line">
            <a:avLst/>
          </a:prstGeom>
          <a:ln w="317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A2610A3F-A6A3-1810-6D08-6AFFE2B57C4F}"/>
              </a:ext>
            </a:extLst>
          </p:cNvPr>
          <p:cNvCxnSpPr>
            <a:cxnSpLocks/>
          </p:cNvCxnSpPr>
          <p:nvPr/>
        </p:nvCxnSpPr>
        <p:spPr>
          <a:xfrm>
            <a:off x="1578360" y="3852006"/>
            <a:ext cx="373075" cy="1204439"/>
          </a:xfrm>
          <a:prstGeom prst="line">
            <a:avLst/>
          </a:prstGeom>
          <a:ln w="317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02D4D22A-89D0-5649-4966-25E28F1062EE}"/>
              </a:ext>
            </a:extLst>
          </p:cNvPr>
          <p:cNvCxnSpPr>
            <a:cxnSpLocks/>
          </p:cNvCxnSpPr>
          <p:nvPr/>
        </p:nvCxnSpPr>
        <p:spPr>
          <a:xfrm>
            <a:off x="1578360" y="4471517"/>
            <a:ext cx="361101" cy="1410706"/>
          </a:xfrm>
          <a:prstGeom prst="line">
            <a:avLst/>
          </a:prstGeom>
          <a:ln w="317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図 11" descr="図形&#10;&#10;AI 生成コンテンツは誤りを含む可能性があります。">
            <a:extLst>
              <a:ext uri="{FF2B5EF4-FFF2-40B4-BE49-F238E27FC236}">
                <a16:creationId xmlns:a16="http://schemas.microsoft.com/office/drawing/2014/main" id="{ACA1F77D-FF76-6345-32D5-38A8F290EAC2}"/>
              </a:ext>
            </a:extLst>
          </p:cNvPr>
          <p:cNvPicPr>
            <a:picLocks noChangeAspect="1"/>
          </p:cNvPicPr>
          <p:nvPr/>
        </p:nvPicPr>
        <p:blipFill>
          <a:blip r:embed="rId5">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689345" y="2414619"/>
            <a:ext cx="1637248" cy="1637248"/>
          </a:xfrm>
          <a:prstGeom prst="rect">
            <a:avLst/>
          </a:prstGeom>
          <a:noFill/>
          <a:ln>
            <a:noFill/>
          </a:ln>
        </p:spPr>
      </p:pic>
      <p:pic>
        <p:nvPicPr>
          <p:cNvPr id="14" name="図 13" descr="図形&#10;&#10;AI 生成コンテンツは誤りを含む可能性があります。">
            <a:extLst>
              <a:ext uri="{FF2B5EF4-FFF2-40B4-BE49-F238E27FC236}">
                <a16:creationId xmlns:a16="http://schemas.microsoft.com/office/drawing/2014/main" id="{C110B484-FAFF-28C4-E222-2724438EC2C6}"/>
              </a:ext>
            </a:extLst>
          </p:cNvPr>
          <p:cNvPicPr>
            <a:picLocks noChangeAspect="1"/>
          </p:cNvPicPr>
          <p:nvPr/>
        </p:nvPicPr>
        <p:blipFill>
          <a:blip r:embed="rId5">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1689345" y="3533837"/>
            <a:ext cx="1637248" cy="1637248"/>
          </a:xfrm>
          <a:prstGeom prst="rect">
            <a:avLst/>
          </a:prstGeom>
          <a:noFill/>
          <a:ln>
            <a:noFill/>
          </a:ln>
        </p:spPr>
      </p:pic>
      <p:pic>
        <p:nvPicPr>
          <p:cNvPr id="15" name="図 14" descr="図形&#10;&#10;AI 生成コンテンツは誤りを含む可能性があります。">
            <a:extLst>
              <a:ext uri="{FF2B5EF4-FFF2-40B4-BE49-F238E27FC236}">
                <a16:creationId xmlns:a16="http://schemas.microsoft.com/office/drawing/2014/main" id="{3C3EEAA1-8B71-44C1-64F7-20CC2F98D524}"/>
              </a:ext>
            </a:extLst>
          </p:cNvPr>
          <p:cNvPicPr>
            <a:picLocks noChangeAspect="1"/>
          </p:cNvPicPr>
          <p:nvPr/>
        </p:nvPicPr>
        <p:blipFill>
          <a:blip r:embed="rId5">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689345" y="4660672"/>
            <a:ext cx="1637248" cy="1637248"/>
          </a:xfrm>
          <a:prstGeom prst="rect">
            <a:avLst/>
          </a:prstGeom>
          <a:noFill/>
          <a:ln>
            <a:noFill/>
          </a:ln>
        </p:spPr>
      </p:pic>
      <p:sp>
        <p:nvSpPr>
          <p:cNvPr id="16" name="TextBox 3">
            <a:extLst>
              <a:ext uri="{FF2B5EF4-FFF2-40B4-BE49-F238E27FC236}">
                <a16:creationId xmlns:a16="http://schemas.microsoft.com/office/drawing/2014/main" id="{1A6E1E17-A40A-EDDB-2544-A006B9C5249A}"/>
              </a:ext>
            </a:extLst>
          </p:cNvPr>
          <p:cNvSpPr txBox="1"/>
          <p:nvPr/>
        </p:nvSpPr>
        <p:spPr>
          <a:xfrm>
            <a:off x="2060392" y="2935838"/>
            <a:ext cx="899753" cy="584775"/>
          </a:xfrm>
          <a:prstGeom prst="rect">
            <a:avLst/>
          </a:prstGeom>
          <a:solidFill>
            <a:schemeClr val="bg1"/>
          </a:solidFill>
        </p:spPr>
        <p:txBody>
          <a:bodyPr wrap="square" rtlCol="0">
            <a:spAutoFit/>
          </a:bodyPr>
          <a:lstStyle/>
          <a:p>
            <a:pPr algn="ctr">
              <a:spcAft>
                <a:spcPts val="600"/>
              </a:spcAft>
            </a:pPr>
            <a:r>
              <a:rPr kumimoji="1" lang="ja-JP" altLang="en-US" sz="1600" b="1">
                <a:solidFill>
                  <a:schemeClr val="accent6">
                    <a:lumMod val="75000"/>
                  </a:schemeClr>
                </a:solidFill>
              </a:rPr>
              <a:t>ふるさと納税</a:t>
            </a:r>
            <a:endParaRPr kumimoji="1" lang="en-US" altLang="ja-JP" sz="1600" dirty="0">
              <a:solidFill>
                <a:schemeClr val="accent6">
                  <a:lumMod val="75000"/>
                </a:schemeClr>
              </a:solidFill>
            </a:endParaRPr>
          </a:p>
        </p:txBody>
      </p:sp>
      <p:sp>
        <p:nvSpPr>
          <p:cNvPr id="17" name="TextBox 3">
            <a:extLst>
              <a:ext uri="{FF2B5EF4-FFF2-40B4-BE49-F238E27FC236}">
                <a16:creationId xmlns:a16="http://schemas.microsoft.com/office/drawing/2014/main" id="{C4B92C6D-96A2-3607-E393-938F19675792}"/>
              </a:ext>
            </a:extLst>
          </p:cNvPr>
          <p:cNvSpPr txBox="1"/>
          <p:nvPr/>
        </p:nvSpPr>
        <p:spPr>
          <a:xfrm>
            <a:off x="2127981" y="4071084"/>
            <a:ext cx="776068" cy="584775"/>
          </a:xfrm>
          <a:prstGeom prst="rect">
            <a:avLst/>
          </a:prstGeom>
          <a:solidFill>
            <a:schemeClr val="bg1"/>
          </a:solidFill>
        </p:spPr>
        <p:txBody>
          <a:bodyPr wrap="square" rtlCol="0">
            <a:spAutoFit/>
          </a:bodyPr>
          <a:lstStyle/>
          <a:p>
            <a:pPr algn="ctr">
              <a:spcAft>
                <a:spcPts val="600"/>
              </a:spcAft>
            </a:pPr>
            <a:r>
              <a:rPr kumimoji="1" lang="ja-JP" altLang="en-US" sz="1600" b="1">
                <a:solidFill>
                  <a:schemeClr val="accent4">
                    <a:lumMod val="75000"/>
                  </a:schemeClr>
                </a:solidFill>
              </a:rPr>
              <a:t>競馬</a:t>
            </a:r>
            <a:r>
              <a:rPr kumimoji="1" lang="en-US" altLang="ja-JP" sz="1600" b="1" dirty="0">
                <a:solidFill>
                  <a:schemeClr val="accent4">
                    <a:lumMod val="75000"/>
                  </a:schemeClr>
                </a:solidFill>
              </a:rPr>
              <a:t> (JRA)</a:t>
            </a:r>
            <a:endParaRPr kumimoji="1" lang="en-US" altLang="ja-JP" sz="1600" dirty="0">
              <a:solidFill>
                <a:schemeClr val="accent4">
                  <a:lumMod val="75000"/>
                </a:schemeClr>
              </a:solidFill>
            </a:endParaRPr>
          </a:p>
        </p:txBody>
      </p:sp>
      <p:sp>
        <p:nvSpPr>
          <p:cNvPr id="18" name="TextBox 3">
            <a:extLst>
              <a:ext uri="{FF2B5EF4-FFF2-40B4-BE49-F238E27FC236}">
                <a16:creationId xmlns:a16="http://schemas.microsoft.com/office/drawing/2014/main" id="{46064B42-6EDE-D562-F771-A81A167491A1}"/>
              </a:ext>
            </a:extLst>
          </p:cNvPr>
          <p:cNvSpPr txBox="1"/>
          <p:nvPr/>
        </p:nvSpPr>
        <p:spPr>
          <a:xfrm>
            <a:off x="2060391" y="5230275"/>
            <a:ext cx="899753" cy="523220"/>
          </a:xfrm>
          <a:prstGeom prst="rect">
            <a:avLst/>
          </a:prstGeom>
          <a:solidFill>
            <a:schemeClr val="bg1"/>
          </a:solidFill>
        </p:spPr>
        <p:txBody>
          <a:bodyPr wrap="square" rtlCol="0">
            <a:spAutoFit/>
          </a:bodyPr>
          <a:lstStyle/>
          <a:p>
            <a:pPr algn="ctr">
              <a:spcAft>
                <a:spcPts val="600"/>
              </a:spcAft>
            </a:pPr>
            <a:r>
              <a:rPr kumimoji="1" lang="ja-JP" altLang="en-US" sz="1400" b="1">
                <a:solidFill>
                  <a:schemeClr val="accent2">
                    <a:lumMod val="75000"/>
                  </a:schemeClr>
                </a:solidFill>
              </a:rPr>
              <a:t>ユニセフ</a:t>
            </a:r>
            <a:r>
              <a:rPr kumimoji="1" lang="en-US" altLang="ja-JP" sz="1400" b="1" dirty="0">
                <a:solidFill>
                  <a:schemeClr val="accent2">
                    <a:lumMod val="75000"/>
                  </a:schemeClr>
                </a:solidFill>
              </a:rPr>
              <a:t> (</a:t>
            </a:r>
            <a:r>
              <a:rPr kumimoji="1" lang="en-US" altLang="ja-JP" sz="1400" b="1" dirty="0" err="1">
                <a:solidFill>
                  <a:schemeClr val="accent2">
                    <a:lumMod val="75000"/>
                  </a:schemeClr>
                </a:solidFill>
              </a:rPr>
              <a:t>iPS</a:t>
            </a:r>
            <a:r>
              <a:rPr kumimoji="1" lang="en-US" altLang="ja-JP" sz="1400" b="1" dirty="0">
                <a:solidFill>
                  <a:schemeClr val="accent2">
                    <a:lumMod val="75000"/>
                  </a:schemeClr>
                </a:solidFill>
              </a:rPr>
              <a:t>)</a:t>
            </a:r>
          </a:p>
        </p:txBody>
      </p:sp>
      <p:sp>
        <p:nvSpPr>
          <p:cNvPr id="19" name="ホームベース 18">
            <a:extLst>
              <a:ext uri="{FF2B5EF4-FFF2-40B4-BE49-F238E27FC236}">
                <a16:creationId xmlns:a16="http://schemas.microsoft.com/office/drawing/2014/main" id="{01975C98-4ACF-71BF-D7CB-605EDBD4B989}"/>
              </a:ext>
            </a:extLst>
          </p:cNvPr>
          <p:cNvSpPr/>
          <p:nvPr/>
        </p:nvSpPr>
        <p:spPr>
          <a:xfrm>
            <a:off x="6309556" y="1077476"/>
            <a:ext cx="2850945" cy="372749"/>
          </a:xfrm>
          <a:prstGeom prst="homePlate">
            <a:avLst/>
          </a:prstGeom>
          <a:solidFill>
            <a:schemeClr val="tx1">
              <a:lumMod val="50000"/>
              <a:lumOff val="50000"/>
            </a:schemeClr>
          </a:solidFill>
          <a:ln w="25400"/>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kumimoji="1" lang="ja-JP" altLang="en-US" b="1"/>
              <a:t>学習</a:t>
            </a:r>
            <a:r>
              <a:rPr kumimoji="1" lang="en-US" altLang="ja-JP" b="1" dirty="0"/>
              <a:t> (</a:t>
            </a:r>
            <a:r>
              <a:rPr kumimoji="1" lang="ja-JP" altLang="en-US" b="1"/>
              <a:t>古典</a:t>
            </a:r>
            <a:r>
              <a:rPr kumimoji="1" lang="en-US" altLang="ja-JP" b="1" dirty="0"/>
              <a:t>ML)</a:t>
            </a:r>
            <a:endParaRPr kumimoji="1" lang="ja-JP" altLang="en-US" b="1"/>
          </a:p>
        </p:txBody>
      </p:sp>
      <p:sp>
        <p:nvSpPr>
          <p:cNvPr id="20" name="ホームベース 19">
            <a:extLst>
              <a:ext uri="{FF2B5EF4-FFF2-40B4-BE49-F238E27FC236}">
                <a16:creationId xmlns:a16="http://schemas.microsoft.com/office/drawing/2014/main" id="{425404DD-9FA6-13D5-6F8F-72525B57AD62}"/>
              </a:ext>
            </a:extLst>
          </p:cNvPr>
          <p:cNvSpPr/>
          <p:nvPr/>
        </p:nvSpPr>
        <p:spPr>
          <a:xfrm>
            <a:off x="3349889" y="1077477"/>
            <a:ext cx="3145070" cy="372749"/>
          </a:xfrm>
          <a:prstGeom prst="homePlate">
            <a:avLst/>
          </a:prstGeom>
          <a:solidFill>
            <a:schemeClr val="tx1">
              <a:lumMod val="50000"/>
              <a:lumOff val="50000"/>
            </a:schemeClr>
          </a:solidFill>
          <a:ln w="25400"/>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kumimoji="1" lang="ja-JP" altLang="en-US" b="1"/>
              <a:t>特徴量選択</a:t>
            </a:r>
          </a:p>
        </p:txBody>
      </p:sp>
      <p:sp>
        <p:nvSpPr>
          <p:cNvPr id="21" name="ホームベース 20">
            <a:extLst>
              <a:ext uri="{FF2B5EF4-FFF2-40B4-BE49-F238E27FC236}">
                <a16:creationId xmlns:a16="http://schemas.microsoft.com/office/drawing/2014/main" id="{7BBE46CD-9ACE-E706-8207-91BCC1F52329}"/>
              </a:ext>
            </a:extLst>
          </p:cNvPr>
          <p:cNvSpPr/>
          <p:nvPr/>
        </p:nvSpPr>
        <p:spPr>
          <a:xfrm>
            <a:off x="390222" y="1077478"/>
            <a:ext cx="3145070" cy="372749"/>
          </a:xfrm>
          <a:prstGeom prst="homePlate">
            <a:avLst/>
          </a:prstGeom>
          <a:solidFill>
            <a:schemeClr val="tx1">
              <a:lumMod val="50000"/>
              <a:lumOff val="50000"/>
            </a:schemeClr>
          </a:solidFill>
          <a:ln w="25400"/>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kumimoji="1" lang="ja-JP" altLang="en-US" b="1"/>
              <a:t>入力データセット</a:t>
            </a:r>
          </a:p>
        </p:txBody>
      </p:sp>
      <p:pic>
        <p:nvPicPr>
          <p:cNvPr id="22" name="図 21" descr="図形&#10;&#10;AI 生成コンテンツは誤りを含む可能性があります。">
            <a:extLst>
              <a:ext uri="{FF2B5EF4-FFF2-40B4-BE49-F238E27FC236}">
                <a16:creationId xmlns:a16="http://schemas.microsoft.com/office/drawing/2014/main" id="{B46A4A09-1DF6-E089-3CB2-19689C734712}"/>
              </a:ext>
            </a:extLst>
          </p:cNvPr>
          <p:cNvPicPr>
            <a:picLocks noChangeAspect="1"/>
          </p:cNvPicPr>
          <p:nvPr/>
        </p:nvPicPr>
        <p:blipFill>
          <a:blip r:embed="rId6">
            <a:duotone>
              <a:schemeClr val="accent5">
                <a:shade val="45000"/>
                <a:satMod val="135000"/>
              </a:schemeClr>
              <a:prstClr val="white"/>
            </a:duotone>
            <a:extLst>
              <a:ext uri="{BEBA8EAE-BF5A-486C-A8C5-ECC9F3942E4B}">
                <a14:imgProps xmlns:a14="http://schemas.microsoft.com/office/drawing/2010/main">
                  <a14:imgLayer r:embed="rId7">
                    <a14:imgEffect>
                      <a14:colorTemperature colorTemp="5900"/>
                    </a14:imgEffect>
                  </a14:imgLayer>
                </a14:imgProps>
              </a:ext>
              <a:ext uri="{28A0092B-C50C-407E-A947-70E740481C1C}">
                <a14:useLocalDpi xmlns:a14="http://schemas.microsoft.com/office/drawing/2010/main" val="0"/>
              </a:ext>
            </a:extLst>
          </a:blip>
          <a:stretch>
            <a:fillRect/>
          </a:stretch>
        </p:blipFill>
        <p:spPr>
          <a:xfrm>
            <a:off x="220674" y="3247237"/>
            <a:ext cx="1637248" cy="1637248"/>
          </a:xfrm>
          <a:prstGeom prst="rect">
            <a:avLst/>
          </a:prstGeom>
          <a:noFill/>
          <a:ln>
            <a:noFill/>
          </a:ln>
        </p:spPr>
      </p:pic>
      <p:sp>
        <p:nvSpPr>
          <p:cNvPr id="23" name="TextBox 3">
            <a:extLst>
              <a:ext uri="{FF2B5EF4-FFF2-40B4-BE49-F238E27FC236}">
                <a16:creationId xmlns:a16="http://schemas.microsoft.com/office/drawing/2014/main" id="{6602F2AC-EC74-2714-136E-3E312FC1FF3F}"/>
              </a:ext>
            </a:extLst>
          </p:cNvPr>
          <p:cNvSpPr txBox="1"/>
          <p:nvPr/>
        </p:nvSpPr>
        <p:spPr>
          <a:xfrm>
            <a:off x="441841" y="2845365"/>
            <a:ext cx="1235856" cy="769441"/>
          </a:xfrm>
          <a:prstGeom prst="rect">
            <a:avLst/>
          </a:prstGeom>
          <a:noFill/>
        </p:spPr>
        <p:txBody>
          <a:bodyPr wrap="square" rtlCol="0">
            <a:spAutoFit/>
          </a:bodyPr>
          <a:lstStyle/>
          <a:p>
            <a:pPr>
              <a:spcAft>
                <a:spcPts val="600"/>
              </a:spcAft>
            </a:pPr>
            <a:r>
              <a:rPr kumimoji="1" lang="ja-JP" altLang="en-US" sz="1600" b="1">
                <a:solidFill>
                  <a:schemeClr val="accent1"/>
                </a:solidFill>
              </a:rPr>
              <a:t>顧客マスタ</a:t>
            </a:r>
            <a:br>
              <a:rPr kumimoji="1" lang="en-US" altLang="ja-JP" sz="1600" b="1" dirty="0">
                <a:solidFill>
                  <a:schemeClr val="accent1"/>
                </a:solidFill>
              </a:rPr>
            </a:br>
            <a:r>
              <a:rPr kumimoji="1" lang="en-US" altLang="ja-JP" sz="1400" b="1" dirty="0">
                <a:solidFill>
                  <a:schemeClr val="accent1"/>
                </a:solidFill>
              </a:rPr>
              <a:t>(</a:t>
            </a:r>
            <a:r>
              <a:rPr kumimoji="1" lang="ja-JP" altLang="en-US" sz="1400" b="1">
                <a:solidFill>
                  <a:schemeClr val="accent1"/>
                </a:solidFill>
              </a:rPr>
              <a:t>ユーザ属性</a:t>
            </a:r>
            <a:r>
              <a:rPr kumimoji="1" lang="en-US" altLang="ja-JP" sz="1400" b="1" dirty="0">
                <a:solidFill>
                  <a:schemeClr val="accent1"/>
                </a:solidFill>
              </a:rPr>
              <a:t>=</a:t>
            </a:r>
            <a:r>
              <a:rPr kumimoji="1" lang="ja-JP" altLang="en-US" sz="1400" b="1">
                <a:solidFill>
                  <a:schemeClr val="accent1"/>
                </a:solidFill>
              </a:rPr>
              <a:t>特徴量</a:t>
            </a:r>
            <a:r>
              <a:rPr kumimoji="1" lang="en-US" altLang="ja-JP" sz="1400" b="1" dirty="0">
                <a:solidFill>
                  <a:schemeClr val="accent1"/>
                </a:solidFill>
              </a:rPr>
              <a:t>)</a:t>
            </a:r>
            <a:endParaRPr kumimoji="1" lang="en-US" altLang="ja-JP" sz="1400" dirty="0">
              <a:solidFill>
                <a:schemeClr val="accent1"/>
              </a:solidFill>
            </a:endParaRPr>
          </a:p>
        </p:txBody>
      </p:sp>
      <p:sp>
        <p:nvSpPr>
          <p:cNvPr id="24" name="TextBox 3">
            <a:extLst>
              <a:ext uri="{FF2B5EF4-FFF2-40B4-BE49-F238E27FC236}">
                <a16:creationId xmlns:a16="http://schemas.microsoft.com/office/drawing/2014/main" id="{3D916626-BC65-C79D-B5FD-B49E3706B418}"/>
              </a:ext>
            </a:extLst>
          </p:cNvPr>
          <p:cNvSpPr txBox="1"/>
          <p:nvPr/>
        </p:nvSpPr>
        <p:spPr>
          <a:xfrm>
            <a:off x="1828476" y="2092967"/>
            <a:ext cx="1468671" cy="738664"/>
          </a:xfrm>
          <a:prstGeom prst="rect">
            <a:avLst/>
          </a:prstGeom>
          <a:noFill/>
        </p:spPr>
        <p:txBody>
          <a:bodyPr wrap="square" rtlCol="0">
            <a:spAutoFit/>
          </a:bodyPr>
          <a:lstStyle/>
          <a:p>
            <a:pPr>
              <a:spcAft>
                <a:spcPts val="600"/>
              </a:spcAft>
            </a:pPr>
            <a:r>
              <a:rPr kumimoji="1" lang="ja-JP" altLang="en-US" sz="1400" b="1">
                <a:solidFill>
                  <a:schemeClr val="accent6">
                    <a:lumMod val="75000"/>
                  </a:schemeClr>
                </a:solidFill>
              </a:rPr>
              <a:t>顧客クリック</a:t>
            </a:r>
            <a:br>
              <a:rPr kumimoji="1" lang="en-US" altLang="ja-JP" sz="1400" b="1" dirty="0">
                <a:solidFill>
                  <a:schemeClr val="accent6">
                    <a:lumMod val="75000"/>
                  </a:schemeClr>
                </a:solidFill>
              </a:rPr>
            </a:br>
            <a:r>
              <a:rPr kumimoji="1" lang="ja-JP" altLang="en-US" sz="1400" b="1">
                <a:solidFill>
                  <a:schemeClr val="accent6">
                    <a:lumMod val="75000"/>
                  </a:schemeClr>
                </a:solidFill>
              </a:rPr>
              <a:t>実績データ</a:t>
            </a:r>
            <a:br>
              <a:rPr kumimoji="1" lang="en-US" altLang="ja-JP" sz="1400" b="1" dirty="0">
                <a:solidFill>
                  <a:schemeClr val="accent6">
                    <a:lumMod val="75000"/>
                  </a:schemeClr>
                </a:solidFill>
              </a:rPr>
            </a:br>
            <a:r>
              <a:rPr kumimoji="1" lang="en-US" altLang="ja-JP" sz="1400" b="1" dirty="0">
                <a:solidFill>
                  <a:schemeClr val="accent6">
                    <a:lumMod val="75000"/>
                  </a:schemeClr>
                </a:solidFill>
              </a:rPr>
              <a:t>(</a:t>
            </a:r>
            <a:r>
              <a:rPr kumimoji="1" lang="ja-JP" altLang="en-US" sz="1400" b="1">
                <a:solidFill>
                  <a:schemeClr val="accent6">
                    <a:lumMod val="75000"/>
                  </a:schemeClr>
                </a:solidFill>
              </a:rPr>
              <a:t>特定広告</a:t>
            </a:r>
            <a:r>
              <a:rPr kumimoji="1" lang="en-US" altLang="ja-JP" sz="1400" b="1" dirty="0">
                <a:solidFill>
                  <a:schemeClr val="accent6">
                    <a:lumMod val="75000"/>
                  </a:schemeClr>
                </a:solidFill>
              </a:rPr>
              <a:t>)</a:t>
            </a:r>
            <a:endParaRPr kumimoji="1" lang="en-US" altLang="ja-JP" sz="1400" dirty="0">
              <a:solidFill>
                <a:schemeClr val="accent6">
                  <a:lumMod val="75000"/>
                </a:schemeClr>
              </a:solidFill>
            </a:endParaRPr>
          </a:p>
        </p:txBody>
      </p:sp>
      <p:pic>
        <p:nvPicPr>
          <p:cNvPr id="25" name="図 24" descr="図形&#10;&#10;AI 生成コンテンツは誤りを含む可能性があります。">
            <a:extLst>
              <a:ext uri="{FF2B5EF4-FFF2-40B4-BE49-F238E27FC236}">
                <a16:creationId xmlns:a16="http://schemas.microsoft.com/office/drawing/2014/main" id="{AFDCDC47-EE90-1820-48D4-99A9EC58AF9E}"/>
              </a:ext>
            </a:extLst>
          </p:cNvPr>
          <p:cNvPicPr>
            <a:picLocks noChangeAspect="1"/>
          </p:cNvPicPr>
          <p:nvPr/>
        </p:nvPicPr>
        <p:blipFill>
          <a:blip r:embed="rId5">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4008354" y="2062911"/>
            <a:ext cx="1637248" cy="1637248"/>
          </a:xfrm>
          <a:prstGeom prst="rect">
            <a:avLst/>
          </a:prstGeom>
          <a:noFill/>
          <a:ln>
            <a:noFill/>
          </a:ln>
        </p:spPr>
      </p:pic>
      <p:pic>
        <p:nvPicPr>
          <p:cNvPr id="26" name="図 25" descr="図形&#10;&#10;AI 生成コンテンツは誤りを含む可能性があります。">
            <a:extLst>
              <a:ext uri="{FF2B5EF4-FFF2-40B4-BE49-F238E27FC236}">
                <a16:creationId xmlns:a16="http://schemas.microsoft.com/office/drawing/2014/main" id="{7E93F0BE-878D-7618-2633-0CDE08C56251}"/>
              </a:ext>
            </a:extLst>
          </p:cNvPr>
          <p:cNvPicPr>
            <a:picLocks noChangeAspect="1"/>
          </p:cNvPicPr>
          <p:nvPr/>
        </p:nvPicPr>
        <p:blipFill>
          <a:blip r:embed="rId5">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645957" y="2062911"/>
            <a:ext cx="1637248" cy="1637248"/>
          </a:xfrm>
          <a:prstGeom prst="rect">
            <a:avLst/>
          </a:prstGeom>
          <a:noFill/>
          <a:ln>
            <a:noFill/>
          </a:ln>
        </p:spPr>
      </p:pic>
      <p:sp>
        <p:nvSpPr>
          <p:cNvPr id="27" name="TextBox 3">
            <a:extLst>
              <a:ext uri="{FF2B5EF4-FFF2-40B4-BE49-F238E27FC236}">
                <a16:creationId xmlns:a16="http://schemas.microsoft.com/office/drawing/2014/main" id="{44228510-55BA-0669-55D1-AFB422BCEC36}"/>
              </a:ext>
            </a:extLst>
          </p:cNvPr>
          <p:cNvSpPr txBox="1"/>
          <p:nvPr/>
        </p:nvSpPr>
        <p:spPr>
          <a:xfrm>
            <a:off x="3493558" y="1448673"/>
            <a:ext cx="2803378" cy="523220"/>
          </a:xfrm>
          <a:prstGeom prst="rect">
            <a:avLst/>
          </a:prstGeom>
          <a:noFill/>
        </p:spPr>
        <p:txBody>
          <a:bodyPr wrap="square" rtlCol="0">
            <a:spAutoFit/>
          </a:bodyPr>
          <a:lstStyle/>
          <a:p>
            <a:pPr>
              <a:spcAft>
                <a:spcPts val="600"/>
              </a:spcAft>
            </a:pPr>
            <a:r>
              <a:rPr kumimoji="1" lang="ja-JP" altLang="en-US" sz="1400" b="1">
                <a:solidFill>
                  <a:srgbClr val="C00000"/>
                </a:solidFill>
              </a:rPr>
              <a:t>★量子アニーリングを用いた</a:t>
            </a:r>
            <a:br>
              <a:rPr kumimoji="1" lang="en-US" altLang="ja-JP" sz="1400" b="1" dirty="0">
                <a:solidFill>
                  <a:srgbClr val="C00000"/>
                </a:solidFill>
              </a:rPr>
            </a:br>
            <a:r>
              <a:rPr kumimoji="1" lang="ja-JP" altLang="en-US" sz="1400" b="1">
                <a:solidFill>
                  <a:srgbClr val="C00000"/>
                </a:solidFill>
              </a:rPr>
              <a:t>特徴量選択手法</a:t>
            </a:r>
            <a:r>
              <a:rPr kumimoji="1" lang="en-US" altLang="ja-JP" sz="1400" b="1" dirty="0">
                <a:solidFill>
                  <a:srgbClr val="C00000"/>
                </a:solidFill>
              </a:rPr>
              <a:t> (QFS</a:t>
            </a:r>
            <a:r>
              <a:rPr kumimoji="1" lang="ja-JP" altLang="en-US" sz="1400" b="1">
                <a:solidFill>
                  <a:srgbClr val="C00000"/>
                </a:solidFill>
              </a:rPr>
              <a:t>法</a:t>
            </a:r>
            <a:r>
              <a:rPr kumimoji="1" lang="en-US" altLang="ja-JP" sz="1400" b="1" dirty="0">
                <a:solidFill>
                  <a:srgbClr val="C00000"/>
                </a:solidFill>
              </a:rPr>
              <a:t>) </a:t>
            </a:r>
            <a:r>
              <a:rPr kumimoji="1" lang="ja-JP" altLang="en-US" sz="1400" b="1">
                <a:solidFill>
                  <a:srgbClr val="C00000"/>
                </a:solidFill>
              </a:rPr>
              <a:t>を活用</a:t>
            </a:r>
            <a:endParaRPr kumimoji="1" lang="en-US" altLang="ja-JP" sz="1400" dirty="0">
              <a:solidFill>
                <a:srgbClr val="C00000"/>
              </a:solidFill>
            </a:endParaRPr>
          </a:p>
        </p:txBody>
      </p:sp>
      <p:sp>
        <p:nvSpPr>
          <p:cNvPr id="28" name="TextBox 3">
            <a:extLst>
              <a:ext uri="{FF2B5EF4-FFF2-40B4-BE49-F238E27FC236}">
                <a16:creationId xmlns:a16="http://schemas.microsoft.com/office/drawing/2014/main" id="{1CE7B2F4-F090-F479-6E33-5502D2D634A0}"/>
              </a:ext>
            </a:extLst>
          </p:cNvPr>
          <p:cNvSpPr txBox="1"/>
          <p:nvPr/>
        </p:nvSpPr>
        <p:spPr>
          <a:xfrm>
            <a:off x="3467674" y="3352135"/>
            <a:ext cx="2866153" cy="307777"/>
          </a:xfrm>
          <a:prstGeom prst="rect">
            <a:avLst/>
          </a:prstGeom>
          <a:noFill/>
        </p:spPr>
        <p:txBody>
          <a:bodyPr wrap="square" rtlCol="0">
            <a:spAutoFit/>
          </a:bodyPr>
          <a:lstStyle/>
          <a:p>
            <a:pPr>
              <a:spcAft>
                <a:spcPts val="600"/>
              </a:spcAft>
            </a:pPr>
            <a:r>
              <a:rPr kumimoji="1" lang="ja-JP" altLang="en-US" sz="1400" b="1">
                <a:solidFill>
                  <a:schemeClr val="tx1">
                    <a:lumMod val="85000"/>
                    <a:lumOff val="15000"/>
                  </a:schemeClr>
                </a:solidFill>
              </a:rPr>
              <a:t>顧客特徴量</a:t>
            </a:r>
            <a:r>
              <a:rPr kumimoji="1" lang="en-US" altLang="ja-JP" sz="1400" b="1" dirty="0">
                <a:solidFill>
                  <a:schemeClr val="tx1">
                    <a:lumMod val="85000"/>
                    <a:lumOff val="15000"/>
                  </a:schemeClr>
                </a:solidFill>
              </a:rPr>
              <a:t> (39</a:t>
            </a:r>
            <a:r>
              <a:rPr kumimoji="1" lang="ja-JP" altLang="en-US" sz="1400" b="1">
                <a:solidFill>
                  <a:schemeClr val="tx1">
                    <a:lumMod val="85000"/>
                    <a:lumOff val="15000"/>
                  </a:schemeClr>
                </a:solidFill>
              </a:rPr>
              <a:t>個</a:t>
            </a:r>
            <a:r>
              <a:rPr kumimoji="1" lang="en-US" altLang="ja-JP" sz="1400" b="1" baseline="30000" dirty="0">
                <a:solidFill>
                  <a:schemeClr val="tx1">
                    <a:lumMod val="85000"/>
                    <a:lumOff val="15000"/>
                  </a:schemeClr>
                </a:solidFill>
              </a:rPr>
              <a:t>※</a:t>
            </a:r>
            <a:r>
              <a:rPr kumimoji="1" lang="en-US" altLang="ja-JP" sz="1400" b="1" dirty="0">
                <a:solidFill>
                  <a:schemeClr val="tx1">
                    <a:lumMod val="85000"/>
                    <a:lumOff val="15000"/>
                  </a:schemeClr>
                </a:solidFill>
              </a:rPr>
              <a:t>)×100</a:t>
            </a:r>
            <a:r>
              <a:rPr kumimoji="1" lang="ja-JP" altLang="en-US" sz="1400" b="1">
                <a:solidFill>
                  <a:schemeClr val="tx1">
                    <a:lumMod val="85000"/>
                    <a:lumOff val="15000"/>
                  </a:schemeClr>
                </a:solidFill>
              </a:rPr>
              <a:t>万件</a:t>
            </a:r>
            <a:endParaRPr kumimoji="1" lang="en-US" altLang="ja-JP" sz="1400" dirty="0">
              <a:solidFill>
                <a:schemeClr val="tx1">
                  <a:lumMod val="85000"/>
                  <a:lumOff val="15000"/>
                </a:schemeClr>
              </a:solidFill>
            </a:endParaRPr>
          </a:p>
        </p:txBody>
      </p:sp>
      <p:pic>
        <p:nvPicPr>
          <p:cNvPr id="29" name="図 28" descr="図形&#10;&#10;AI 生成コンテンツは誤りを含む可能性があります。">
            <a:extLst>
              <a:ext uri="{FF2B5EF4-FFF2-40B4-BE49-F238E27FC236}">
                <a16:creationId xmlns:a16="http://schemas.microsoft.com/office/drawing/2014/main" id="{60352445-0B1D-F6D2-1303-804563829181}"/>
              </a:ext>
            </a:extLst>
          </p:cNvPr>
          <p:cNvPicPr>
            <a:picLocks noChangeAspect="1"/>
          </p:cNvPicPr>
          <p:nvPr/>
        </p:nvPicPr>
        <p:blipFill>
          <a:blip r:embed="rId5">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806445" y="4222894"/>
            <a:ext cx="675608" cy="1637248"/>
          </a:xfrm>
          <a:prstGeom prst="rect">
            <a:avLst/>
          </a:prstGeom>
          <a:noFill/>
          <a:ln>
            <a:noFill/>
          </a:ln>
        </p:spPr>
      </p:pic>
      <p:sp>
        <p:nvSpPr>
          <p:cNvPr id="30" name="TextBox 3">
            <a:extLst>
              <a:ext uri="{FF2B5EF4-FFF2-40B4-BE49-F238E27FC236}">
                <a16:creationId xmlns:a16="http://schemas.microsoft.com/office/drawing/2014/main" id="{9091FA6C-34F0-3F12-BEFC-AA3FA00E7818}"/>
              </a:ext>
            </a:extLst>
          </p:cNvPr>
          <p:cNvSpPr txBox="1"/>
          <p:nvPr/>
        </p:nvSpPr>
        <p:spPr>
          <a:xfrm>
            <a:off x="3473498" y="5513560"/>
            <a:ext cx="2796102" cy="492443"/>
          </a:xfrm>
          <a:prstGeom prst="rect">
            <a:avLst/>
          </a:prstGeom>
          <a:noFill/>
        </p:spPr>
        <p:txBody>
          <a:bodyPr wrap="square" rtlCol="0">
            <a:spAutoFit/>
          </a:bodyPr>
          <a:lstStyle/>
          <a:p>
            <a:pPr>
              <a:spcAft>
                <a:spcPts val="600"/>
              </a:spcAft>
            </a:pPr>
            <a:r>
              <a:rPr kumimoji="1" lang="ja-JP" altLang="en-US" sz="1400" b="1">
                <a:solidFill>
                  <a:schemeClr val="tx1">
                    <a:lumMod val="85000"/>
                    <a:lumOff val="15000"/>
                  </a:schemeClr>
                </a:solidFill>
              </a:rPr>
              <a:t>選択特徴量</a:t>
            </a:r>
            <a:r>
              <a:rPr kumimoji="1" lang="en-US" altLang="ja-JP" sz="1400" b="1" dirty="0">
                <a:solidFill>
                  <a:schemeClr val="tx1">
                    <a:lumMod val="85000"/>
                    <a:lumOff val="15000"/>
                  </a:schemeClr>
                </a:solidFill>
              </a:rPr>
              <a:t> (</a:t>
            </a:r>
            <a:r>
              <a:rPr kumimoji="1" lang="ja-JP" altLang="en-US" sz="1400" b="1">
                <a:solidFill>
                  <a:schemeClr val="tx1">
                    <a:lumMod val="85000"/>
                    <a:lumOff val="15000"/>
                  </a:schemeClr>
                </a:solidFill>
              </a:rPr>
              <a:t>例</a:t>
            </a:r>
            <a:r>
              <a:rPr kumimoji="1" lang="en-US" altLang="ja-JP" sz="1400" b="1" dirty="0">
                <a:solidFill>
                  <a:schemeClr val="tx1">
                    <a:lumMod val="85000"/>
                    <a:lumOff val="15000"/>
                  </a:schemeClr>
                </a:solidFill>
              </a:rPr>
              <a:t>:10</a:t>
            </a:r>
            <a:r>
              <a:rPr kumimoji="1" lang="ja-JP" altLang="en-US" sz="1400" b="1">
                <a:solidFill>
                  <a:schemeClr val="tx1">
                    <a:lumMod val="85000"/>
                    <a:lumOff val="15000"/>
                  </a:schemeClr>
                </a:solidFill>
              </a:rPr>
              <a:t>個</a:t>
            </a:r>
            <a:r>
              <a:rPr kumimoji="1" lang="en-US" altLang="ja-JP" sz="1400" b="1" dirty="0">
                <a:solidFill>
                  <a:schemeClr val="tx1">
                    <a:lumMod val="85000"/>
                    <a:lumOff val="15000"/>
                  </a:schemeClr>
                </a:solidFill>
              </a:rPr>
              <a:t>)×100</a:t>
            </a:r>
            <a:r>
              <a:rPr kumimoji="1" lang="ja-JP" altLang="en-US" sz="1400" b="1">
                <a:solidFill>
                  <a:schemeClr val="tx1">
                    <a:lumMod val="85000"/>
                    <a:lumOff val="15000"/>
                  </a:schemeClr>
                </a:solidFill>
              </a:rPr>
              <a:t>万件</a:t>
            </a:r>
            <a:br>
              <a:rPr kumimoji="1" lang="en-US" altLang="ja-JP" sz="1400" b="1" dirty="0">
                <a:solidFill>
                  <a:schemeClr val="tx1">
                    <a:lumMod val="85000"/>
                    <a:lumOff val="15000"/>
                  </a:schemeClr>
                </a:solidFill>
              </a:rPr>
            </a:br>
            <a:r>
              <a:rPr kumimoji="1" lang="ja-JP" altLang="en-US" sz="1200">
                <a:solidFill>
                  <a:schemeClr val="tx1">
                    <a:lumMod val="85000"/>
                    <a:lumOff val="15000"/>
                  </a:schemeClr>
                </a:solidFill>
              </a:rPr>
              <a:t>例</a:t>
            </a:r>
            <a:r>
              <a:rPr kumimoji="1" lang="en-US" altLang="ja-JP" sz="1200" dirty="0">
                <a:solidFill>
                  <a:schemeClr val="tx1">
                    <a:lumMod val="85000"/>
                    <a:lumOff val="15000"/>
                  </a:schemeClr>
                </a:solidFill>
              </a:rPr>
              <a:t>: </a:t>
            </a:r>
            <a:r>
              <a:rPr kumimoji="1" lang="ja-JP" altLang="en-US" sz="1200">
                <a:solidFill>
                  <a:schemeClr val="tx1">
                    <a:lumMod val="85000"/>
                    <a:lumOff val="15000"/>
                  </a:schemeClr>
                </a:solidFill>
              </a:rPr>
              <a:t>年齢</a:t>
            </a:r>
            <a:r>
              <a:rPr kumimoji="1" lang="en-US" altLang="ja-JP" sz="1200" dirty="0">
                <a:solidFill>
                  <a:schemeClr val="tx1">
                    <a:lumMod val="85000"/>
                    <a:lumOff val="15000"/>
                  </a:schemeClr>
                </a:solidFill>
              </a:rPr>
              <a:t>, </a:t>
            </a:r>
            <a:r>
              <a:rPr kumimoji="1" lang="ja-JP" altLang="en-US" sz="1200">
                <a:solidFill>
                  <a:schemeClr val="tx1">
                    <a:lumMod val="85000"/>
                    <a:lumOff val="15000"/>
                  </a:schemeClr>
                </a:solidFill>
              </a:rPr>
              <a:t>性別</a:t>
            </a:r>
            <a:r>
              <a:rPr kumimoji="1" lang="en-US" altLang="ja-JP" sz="1200" dirty="0">
                <a:solidFill>
                  <a:schemeClr val="tx1">
                    <a:lumMod val="85000"/>
                    <a:lumOff val="15000"/>
                  </a:schemeClr>
                </a:solidFill>
              </a:rPr>
              <a:t>, </a:t>
            </a:r>
            <a:r>
              <a:rPr kumimoji="1" lang="ja-JP" altLang="en-US" sz="1200">
                <a:solidFill>
                  <a:schemeClr val="tx1">
                    <a:lumMod val="85000"/>
                    <a:lumOff val="15000"/>
                  </a:schemeClr>
                </a:solidFill>
              </a:rPr>
              <a:t>年収</a:t>
            </a:r>
            <a:r>
              <a:rPr kumimoji="1" lang="en-US" altLang="ja-JP" sz="1200" dirty="0">
                <a:solidFill>
                  <a:schemeClr val="tx1">
                    <a:lumMod val="85000"/>
                    <a:lumOff val="15000"/>
                  </a:schemeClr>
                </a:solidFill>
              </a:rPr>
              <a:t>, …, </a:t>
            </a:r>
            <a:r>
              <a:rPr kumimoji="1" lang="ja-JP" altLang="en-US" sz="1200">
                <a:solidFill>
                  <a:schemeClr val="tx1">
                    <a:lumMod val="85000"/>
                    <a:lumOff val="15000"/>
                  </a:schemeClr>
                </a:solidFill>
              </a:rPr>
              <a:t>子供有無</a:t>
            </a:r>
            <a:endParaRPr kumimoji="1" lang="en-US" altLang="ja-JP" sz="1200" dirty="0">
              <a:solidFill>
                <a:schemeClr val="tx1">
                  <a:lumMod val="85000"/>
                  <a:lumOff val="15000"/>
                </a:schemeClr>
              </a:solidFill>
            </a:endParaRPr>
          </a:p>
        </p:txBody>
      </p:sp>
      <p:sp>
        <p:nvSpPr>
          <p:cNvPr id="31" name="右矢印 30">
            <a:extLst>
              <a:ext uri="{FF2B5EF4-FFF2-40B4-BE49-F238E27FC236}">
                <a16:creationId xmlns:a16="http://schemas.microsoft.com/office/drawing/2014/main" id="{79A878E5-D20B-04DB-B885-3F7512D08C10}"/>
              </a:ext>
            </a:extLst>
          </p:cNvPr>
          <p:cNvSpPr/>
          <p:nvPr/>
        </p:nvSpPr>
        <p:spPr>
          <a:xfrm rot="5400000">
            <a:off x="4005762" y="4081234"/>
            <a:ext cx="230381" cy="492993"/>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32" name="TextBox 3">
            <a:extLst>
              <a:ext uri="{FF2B5EF4-FFF2-40B4-BE49-F238E27FC236}">
                <a16:creationId xmlns:a16="http://schemas.microsoft.com/office/drawing/2014/main" id="{E52168E8-AF06-9CB8-5DD7-8EB6AB511FBC}"/>
              </a:ext>
            </a:extLst>
          </p:cNvPr>
          <p:cNvSpPr txBox="1"/>
          <p:nvPr/>
        </p:nvSpPr>
        <p:spPr>
          <a:xfrm>
            <a:off x="4347129" y="4156658"/>
            <a:ext cx="1920690" cy="276999"/>
          </a:xfrm>
          <a:prstGeom prst="rect">
            <a:avLst/>
          </a:prstGeom>
          <a:noFill/>
        </p:spPr>
        <p:txBody>
          <a:bodyPr wrap="square" rtlCol="0">
            <a:spAutoFit/>
          </a:bodyPr>
          <a:lstStyle/>
          <a:p>
            <a:pPr>
              <a:spcAft>
                <a:spcPts val="600"/>
              </a:spcAft>
            </a:pPr>
            <a:r>
              <a:rPr kumimoji="1" lang="en-US" altLang="ja-JP" sz="1200" b="1" dirty="0">
                <a:solidFill>
                  <a:schemeClr val="tx1">
                    <a:lumMod val="85000"/>
                    <a:lumOff val="15000"/>
                  </a:schemeClr>
                </a:solidFill>
              </a:rPr>
              <a:t>QFS</a:t>
            </a:r>
            <a:r>
              <a:rPr kumimoji="1" lang="ja-JP" altLang="en-US" sz="1200" b="1">
                <a:solidFill>
                  <a:schemeClr val="tx1">
                    <a:lumMod val="85000"/>
                    <a:lumOff val="15000"/>
                  </a:schemeClr>
                </a:solidFill>
              </a:rPr>
              <a:t>法による特徴量選択</a:t>
            </a:r>
            <a:endParaRPr kumimoji="1" lang="en-US" altLang="ja-JP" sz="1200" dirty="0">
              <a:solidFill>
                <a:schemeClr val="tx1">
                  <a:lumMod val="85000"/>
                  <a:lumOff val="15000"/>
                </a:schemeClr>
              </a:solidFill>
            </a:endParaRPr>
          </a:p>
        </p:txBody>
      </p:sp>
      <p:sp>
        <p:nvSpPr>
          <p:cNvPr id="33" name="左中かっこ 32">
            <a:extLst>
              <a:ext uri="{FF2B5EF4-FFF2-40B4-BE49-F238E27FC236}">
                <a16:creationId xmlns:a16="http://schemas.microsoft.com/office/drawing/2014/main" id="{748DD122-5F35-99BF-8C35-8BD432B7CD04}"/>
              </a:ext>
            </a:extLst>
          </p:cNvPr>
          <p:cNvSpPr/>
          <p:nvPr/>
        </p:nvSpPr>
        <p:spPr>
          <a:xfrm rot="16200000">
            <a:off x="4783162" y="5006109"/>
            <a:ext cx="102572" cy="2024816"/>
          </a:xfrm>
          <a:prstGeom prst="leftBrace">
            <a:avLst>
              <a:gd name="adj1" fmla="val 32723"/>
              <a:gd name="adj2" fmla="val 50000"/>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kumimoji="1" lang="ja-JP" altLang="en-US"/>
          </a:p>
        </p:txBody>
      </p:sp>
      <p:sp>
        <p:nvSpPr>
          <p:cNvPr id="34" name="TextBox 3">
            <a:extLst>
              <a:ext uri="{FF2B5EF4-FFF2-40B4-BE49-F238E27FC236}">
                <a16:creationId xmlns:a16="http://schemas.microsoft.com/office/drawing/2014/main" id="{C9EDAEA2-0F0C-1B08-A452-ED48E12546CD}"/>
              </a:ext>
            </a:extLst>
          </p:cNvPr>
          <p:cNvSpPr txBox="1"/>
          <p:nvPr/>
        </p:nvSpPr>
        <p:spPr>
          <a:xfrm>
            <a:off x="4158178" y="6081451"/>
            <a:ext cx="1523021" cy="276999"/>
          </a:xfrm>
          <a:prstGeom prst="rect">
            <a:avLst/>
          </a:prstGeom>
          <a:noFill/>
        </p:spPr>
        <p:txBody>
          <a:bodyPr wrap="square" rtlCol="0">
            <a:spAutoFit/>
          </a:bodyPr>
          <a:lstStyle/>
          <a:p>
            <a:pPr>
              <a:spcAft>
                <a:spcPts val="600"/>
              </a:spcAft>
            </a:pPr>
            <a:r>
              <a:rPr kumimoji="1" lang="en-US" altLang="ja-JP" sz="1200" dirty="0">
                <a:solidFill>
                  <a:schemeClr val="tx1">
                    <a:lumMod val="85000"/>
                    <a:lumOff val="15000"/>
                  </a:schemeClr>
                </a:solidFill>
              </a:rPr>
              <a:t>10</a:t>
            </a:r>
            <a:r>
              <a:rPr kumimoji="1" lang="ja-JP" altLang="en-US" sz="1200">
                <a:solidFill>
                  <a:schemeClr val="tx1">
                    <a:lumMod val="85000"/>
                    <a:lumOff val="15000"/>
                  </a:schemeClr>
                </a:solidFill>
              </a:rPr>
              <a:t>種類の特徴量</a:t>
            </a:r>
            <a:endParaRPr kumimoji="1" lang="en-US" altLang="ja-JP" sz="1200" dirty="0">
              <a:solidFill>
                <a:schemeClr val="tx1">
                  <a:lumMod val="85000"/>
                  <a:lumOff val="15000"/>
                </a:schemeClr>
              </a:solidFill>
            </a:endParaRPr>
          </a:p>
        </p:txBody>
      </p:sp>
      <p:sp>
        <p:nvSpPr>
          <p:cNvPr id="35" name="直方体 34">
            <a:extLst>
              <a:ext uri="{FF2B5EF4-FFF2-40B4-BE49-F238E27FC236}">
                <a16:creationId xmlns:a16="http://schemas.microsoft.com/office/drawing/2014/main" id="{CDCDA427-BDB0-19E1-AF93-8A346D81BA21}"/>
              </a:ext>
            </a:extLst>
          </p:cNvPr>
          <p:cNvSpPr/>
          <p:nvPr/>
        </p:nvSpPr>
        <p:spPr>
          <a:xfrm>
            <a:off x="6440289" y="3242586"/>
            <a:ext cx="1833974" cy="834971"/>
          </a:xfrm>
          <a:prstGeom prst="cube">
            <a:avLst/>
          </a:prstGeom>
        </p:spPr>
        <p:style>
          <a:lnRef idx="3">
            <a:schemeClr val="lt1"/>
          </a:lnRef>
          <a:fillRef idx="1">
            <a:schemeClr val="dk1"/>
          </a:fillRef>
          <a:effectRef idx="1">
            <a:schemeClr val="dk1"/>
          </a:effectRef>
          <a:fontRef idx="minor">
            <a:schemeClr val="lt1"/>
          </a:fontRef>
        </p:style>
        <p:txBody>
          <a:bodyPr rtlCol="0" anchor="ctr"/>
          <a:lstStyle/>
          <a:p>
            <a:pPr algn="ctr"/>
            <a:r>
              <a:rPr kumimoji="1" lang="en-US" altLang="ja-JP" b="1" dirty="0"/>
              <a:t>ML</a:t>
            </a:r>
            <a:r>
              <a:rPr kumimoji="1" lang="ja-JP" altLang="en-US" b="1"/>
              <a:t>モデル</a:t>
            </a:r>
          </a:p>
        </p:txBody>
      </p:sp>
      <p:sp>
        <p:nvSpPr>
          <p:cNvPr id="36" name="TextBox 3">
            <a:extLst>
              <a:ext uri="{FF2B5EF4-FFF2-40B4-BE49-F238E27FC236}">
                <a16:creationId xmlns:a16="http://schemas.microsoft.com/office/drawing/2014/main" id="{707FFE5D-C655-3732-28E3-D5E77D3AED95}"/>
              </a:ext>
            </a:extLst>
          </p:cNvPr>
          <p:cNvSpPr txBox="1"/>
          <p:nvPr/>
        </p:nvSpPr>
        <p:spPr>
          <a:xfrm>
            <a:off x="6309886" y="2381734"/>
            <a:ext cx="2455874" cy="523220"/>
          </a:xfrm>
          <a:prstGeom prst="rect">
            <a:avLst/>
          </a:prstGeom>
          <a:noFill/>
        </p:spPr>
        <p:txBody>
          <a:bodyPr wrap="square" rtlCol="0">
            <a:spAutoFit/>
          </a:bodyPr>
          <a:lstStyle/>
          <a:p>
            <a:pPr>
              <a:spcAft>
                <a:spcPts val="600"/>
              </a:spcAft>
            </a:pPr>
            <a:r>
              <a:rPr kumimoji="1" lang="ja-JP" altLang="en-US" sz="1400" b="1">
                <a:solidFill>
                  <a:schemeClr val="tx1">
                    <a:lumMod val="85000"/>
                    <a:lumOff val="15000"/>
                  </a:schemeClr>
                </a:solidFill>
              </a:rPr>
              <a:t>入力：</a:t>
            </a:r>
            <a:r>
              <a:rPr kumimoji="1" lang="ja-JP" altLang="en-US" sz="1400">
                <a:solidFill>
                  <a:schemeClr val="tx1">
                    <a:lumMod val="85000"/>
                    <a:lumOff val="15000"/>
                  </a:schemeClr>
                </a:solidFill>
              </a:rPr>
              <a:t>選択された</a:t>
            </a:r>
            <a:r>
              <a:rPr kumimoji="1" lang="en-US" altLang="ja-JP" sz="1400" dirty="0">
                <a:solidFill>
                  <a:schemeClr val="tx1">
                    <a:lumMod val="85000"/>
                    <a:lumOff val="15000"/>
                  </a:schemeClr>
                </a:solidFill>
              </a:rPr>
              <a:t>10</a:t>
            </a:r>
            <a:r>
              <a:rPr kumimoji="1" lang="ja-JP" altLang="en-US" sz="1400">
                <a:solidFill>
                  <a:schemeClr val="tx1">
                    <a:lumMod val="85000"/>
                    <a:lumOff val="15000"/>
                  </a:schemeClr>
                </a:solidFill>
              </a:rPr>
              <a:t>次元の特徴量ベクトル</a:t>
            </a:r>
            <a:endParaRPr kumimoji="1" lang="en-US" altLang="ja-JP" sz="1400" dirty="0">
              <a:solidFill>
                <a:schemeClr val="tx1">
                  <a:lumMod val="85000"/>
                  <a:lumOff val="15000"/>
                </a:schemeClr>
              </a:solidFill>
            </a:endParaRPr>
          </a:p>
        </p:txBody>
      </p:sp>
      <p:sp>
        <p:nvSpPr>
          <p:cNvPr id="37" name="TextBox 3">
            <a:extLst>
              <a:ext uri="{FF2B5EF4-FFF2-40B4-BE49-F238E27FC236}">
                <a16:creationId xmlns:a16="http://schemas.microsoft.com/office/drawing/2014/main" id="{EBF58FD7-278D-DD8E-32D4-24E57D5EA012}"/>
              </a:ext>
            </a:extLst>
          </p:cNvPr>
          <p:cNvSpPr txBox="1"/>
          <p:nvPr/>
        </p:nvSpPr>
        <p:spPr>
          <a:xfrm>
            <a:off x="6309886" y="5142288"/>
            <a:ext cx="2455874" cy="523220"/>
          </a:xfrm>
          <a:prstGeom prst="rect">
            <a:avLst/>
          </a:prstGeom>
          <a:noFill/>
        </p:spPr>
        <p:txBody>
          <a:bodyPr wrap="square" rtlCol="0">
            <a:spAutoFit/>
          </a:bodyPr>
          <a:lstStyle/>
          <a:p>
            <a:pPr>
              <a:spcAft>
                <a:spcPts val="600"/>
              </a:spcAft>
            </a:pPr>
            <a:r>
              <a:rPr kumimoji="1" lang="ja-JP" altLang="en-US" sz="1400" b="1">
                <a:solidFill>
                  <a:schemeClr val="tx1">
                    <a:lumMod val="85000"/>
                    <a:lumOff val="15000"/>
                  </a:schemeClr>
                </a:solidFill>
              </a:rPr>
              <a:t>出力：</a:t>
            </a:r>
            <a:r>
              <a:rPr kumimoji="1" lang="ja-JP" altLang="en-US" sz="1400">
                <a:solidFill>
                  <a:schemeClr val="tx1">
                    <a:lumMod val="85000"/>
                    <a:lumOff val="15000"/>
                  </a:schemeClr>
                </a:solidFill>
              </a:rPr>
              <a:t>広告クリック確率</a:t>
            </a:r>
            <a:r>
              <a:rPr kumimoji="1" lang="en-US" altLang="ja-JP" sz="1400" dirty="0">
                <a:solidFill>
                  <a:schemeClr val="tx1">
                    <a:lumMod val="85000"/>
                    <a:lumOff val="15000"/>
                  </a:schemeClr>
                </a:solidFill>
              </a:rPr>
              <a:t> (0.0〜1.0)</a:t>
            </a:r>
          </a:p>
        </p:txBody>
      </p:sp>
      <p:sp>
        <p:nvSpPr>
          <p:cNvPr id="38" name="TextBox 3">
            <a:extLst>
              <a:ext uri="{FF2B5EF4-FFF2-40B4-BE49-F238E27FC236}">
                <a16:creationId xmlns:a16="http://schemas.microsoft.com/office/drawing/2014/main" id="{9F367ACC-99BE-7033-EC4B-C68C9FB9070F}"/>
              </a:ext>
            </a:extLst>
          </p:cNvPr>
          <p:cNvSpPr txBox="1"/>
          <p:nvPr/>
        </p:nvSpPr>
        <p:spPr>
          <a:xfrm>
            <a:off x="6309887" y="4154673"/>
            <a:ext cx="2525434" cy="646331"/>
          </a:xfrm>
          <a:prstGeom prst="rect">
            <a:avLst/>
          </a:prstGeom>
          <a:noFill/>
        </p:spPr>
        <p:txBody>
          <a:bodyPr wrap="square" rtlCol="0">
            <a:spAutoFit/>
          </a:bodyPr>
          <a:lstStyle/>
          <a:p>
            <a:pPr>
              <a:spcAft>
                <a:spcPts val="600"/>
              </a:spcAft>
            </a:pPr>
            <a:r>
              <a:rPr kumimoji="1" lang="ja-JP" altLang="en-US" sz="1200" b="1">
                <a:solidFill>
                  <a:schemeClr val="tx1">
                    <a:lumMod val="85000"/>
                    <a:lumOff val="15000"/>
                  </a:schemeClr>
                </a:solidFill>
              </a:rPr>
              <a:t>古典機械学習の回帰モデルを利用</a:t>
            </a:r>
            <a:br>
              <a:rPr kumimoji="1" lang="en-US" altLang="ja-JP" sz="1200" b="1" dirty="0">
                <a:solidFill>
                  <a:schemeClr val="tx1">
                    <a:lumMod val="85000"/>
                    <a:lumOff val="15000"/>
                  </a:schemeClr>
                </a:solidFill>
              </a:rPr>
            </a:br>
            <a:r>
              <a:rPr kumimoji="1" lang="ja-JP" altLang="en-US" sz="1200">
                <a:solidFill>
                  <a:schemeClr val="tx1">
                    <a:lumMod val="85000"/>
                    <a:lumOff val="15000"/>
                  </a:schemeClr>
                </a:solidFill>
              </a:rPr>
              <a:t>最新の決定木モデルである「</a:t>
            </a:r>
            <a:r>
              <a:rPr kumimoji="1" lang="en-US" altLang="ja-JP" sz="1200" u="sng" dirty="0" err="1">
                <a:solidFill>
                  <a:schemeClr val="tx1">
                    <a:lumMod val="85000"/>
                    <a:lumOff val="15000"/>
                  </a:schemeClr>
                </a:solidFill>
              </a:rPr>
              <a:t>LightGBM</a:t>
            </a:r>
            <a:r>
              <a:rPr kumimoji="1" lang="ja-JP" altLang="en-US" sz="1200">
                <a:solidFill>
                  <a:schemeClr val="tx1">
                    <a:lumMod val="85000"/>
                    <a:lumOff val="15000"/>
                  </a:schemeClr>
                </a:solidFill>
              </a:rPr>
              <a:t>」を利用</a:t>
            </a:r>
            <a:endParaRPr kumimoji="1" lang="en-US" altLang="ja-JP" sz="1200" dirty="0">
              <a:solidFill>
                <a:schemeClr val="tx1">
                  <a:lumMod val="85000"/>
                  <a:lumOff val="15000"/>
                </a:schemeClr>
              </a:solidFill>
            </a:endParaRPr>
          </a:p>
        </p:txBody>
      </p:sp>
      <p:sp>
        <p:nvSpPr>
          <p:cNvPr id="39" name="右矢印 38">
            <a:extLst>
              <a:ext uri="{FF2B5EF4-FFF2-40B4-BE49-F238E27FC236}">
                <a16:creationId xmlns:a16="http://schemas.microsoft.com/office/drawing/2014/main" id="{0B922559-61A8-840B-3B06-95683058279F}"/>
              </a:ext>
            </a:extLst>
          </p:cNvPr>
          <p:cNvSpPr/>
          <p:nvPr/>
        </p:nvSpPr>
        <p:spPr>
          <a:xfrm rot="5400000">
            <a:off x="7172585" y="2825320"/>
            <a:ext cx="230381" cy="492993"/>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40" name="右矢印 39">
            <a:extLst>
              <a:ext uri="{FF2B5EF4-FFF2-40B4-BE49-F238E27FC236}">
                <a16:creationId xmlns:a16="http://schemas.microsoft.com/office/drawing/2014/main" id="{64814123-CE7E-7ED9-1B67-98E2B1A89822}"/>
              </a:ext>
            </a:extLst>
          </p:cNvPr>
          <p:cNvSpPr/>
          <p:nvPr/>
        </p:nvSpPr>
        <p:spPr>
          <a:xfrm rot="5400000">
            <a:off x="7173070" y="4717900"/>
            <a:ext cx="230381" cy="492993"/>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41" name="TextBox 3">
            <a:extLst>
              <a:ext uri="{FF2B5EF4-FFF2-40B4-BE49-F238E27FC236}">
                <a16:creationId xmlns:a16="http://schemas.microsoft.com/office/drawing/2014/main" id="{7592FA2C-CE55-F535-0D1E-ACE7169C0CFE}"/>
              </a:ext>
            </a:extLst>
          </p:cNvPr>
          <p:cNvSpPr txBox="1"/>
          <p:nvPr/>
        </p:nvSpPr>
        <p:spPr>
          <a:xfrm>
            <a:off x="3806445" y="2156982"/>
            <a:ext cx="998197" cy="307777"/>
          </a:xfrm>
          <a:prstGeom prst="rect">
            <a:avLst/>
          </a:prstGeom>
          <a:noFill/>
        </p:spPr>
        <p:txBody>
          <a:bodyPr wrap="square" rtlCol="0">
            <a:spAutoFit/>
          </a:bodyPr>
          <a:lstStyle/>
          <a:p>
            <a:pPr>
              <a:spcAft>
                <a:spcPts val="600"/>
              </a:spcAft>
            </a:pPr>
            <a:r>
              <a:rPr kumimoji="1" lang="ja-JP" altLang="en-US" sz="1400" b="1">
                <a:solidFill>
                  <a:schemeClr val="accent1"/>
                </a:solidFill>
              </a:rPr>
              <a:t>顧客属性</a:t>
            </a:r>
            <a:endParaRPr kumimoji="1" lang="en-US" altLang="ja-JP" sz="1200" dirty="0">
              <a:solidFill>
                <a:schemeClr val="accent1"/>
              </a:solidFill>
            </a:endParaRPr>
          </a:p>
        </p:txBody>
      </p:sp>
      <p:sp>
        <p:nvSpPr>
          <p:cNvPr id="42" name="TextBox 3">
            <a:extLst>
              <a:ext uri="{FF2B5EF4-FFF2-40B4-BE49-F238E27FC236}">
                <a16:creationId xmlns:a16="http://schemas.microsoft.com/office/drawing/2014/main" id="{A9FB926E-96B7-8514-D3FE-0AA691BB1B7E}"/>
              </a:ext>
            </a:extLst>
          </p:cNvPr>
          <p:cNvSpPr txBox="1"/>
          <p:nvPr/>
        </p:nvSpPr>
        <p:spPr>
          <a:xfrm>
            <a:off x="4792991" y="2166488"/>
            <a:ext cx="986888" cy="276999"/>
          </a:xfrm>
          <a:prstGeom prst="rect">
            <a:avLst/>
          </a:prstGeom>
          <a:noFill/>
        </p:spPr>
        <p:txBody>
          <a:bodyPr wrap="square" rtlCol="0">
            <a:spAutoFit/>
          </a:bodyPr>
          <a:lstStyle/>
          <a:p>
            <a:pPr>
              <a:spcAft>
                <a:spcPts val="600"/>
              </a:spcAft>
            </a:pPr>
            <a:r>
              <a:rPr kumimoji="1" lang="ja-JP" altLang="en-US" sz="1200" b="1">
                <a:solidFill>
                  <a:schemeClr val="accent6">
                    <a:lumMod val="75000"/>
                  </a:schemeClr>
                </a:solidFill>
              </a:rPr>
              <a:t>クリック数</a:t>
            </a:r>
            <a:endParaRPr kumimoji="1" lang="en-US" altLang="ja-JP" sz="1200" dirty="0">
              <a:solidFill>
                <a:schemeClr val="accent6">
                  <a:lumMod val="75000"/>
                </a:schemeClr>
              </a:solidFill>
            </a:endParaRPr>
          </a:p>
        </p:txBody>
      </p:sp>
      <p:sp>
        <p:nvSpPr>
          <p:cNvPr id="43" name="TextBox 3">
            <a:extLst>
              <a:ext uri="{FF2B5EF4-FFF2-40B4-BE49-F238E27FC236}">
                <a16:creationId xmlns:a16="http://schemas.microsoft.com/office/drawing/2014/main" id="{D9AAA2E1-DA2D-1C3A-CE18-8EB6420D244E}"/>
              </a:ext>
            </a:extLst>
          </p:cNvPr>
          <p:cNvSpPr txBox="1"/>
          <p:nvPr/>
        </p:nvSpPr>
        <p:spPr>
          <a:xfrm>
            <a:off x="8817848" y="2363228"/>
            <a:ext cx="3130181" cy="2077492"/>
          </a:xfrm>
          <a:prstGeom prst="rect">
            <a:avLst/>
          </a:prstGeom>
          <a:noFill/>
        </p:spPr>
        <p:txBody>
          <a:bodyPr wrap="square" rtlCol="0">
            <a:spAutoFit/>
          </a:bodyPr>
          <a:lstStyle/>
          <a:p>
            <a:pPr>
              <a:spcAft>
                <a:spcPts val="600"/>
              </a:spcAft>
            </a:pPr>
            <a:r>
              <a:rPr kumimoji="1" lang="ja-JP" altLang="en-US" sz="1400" b="1">
                <a:solidFill>
                  <a:schemeClr val="tx1">
                    <a:lumMod val="85000"/>
                    <a:lumOff val="15000"/>
                  </a:schemeClr>
                </a:solidFill>
              </a:rPr>
              <a:t>各広告キャンペーンごとに、</a:t>
            </a:r>
            <a:br>
              <a:rPr kumimoji="1" lang="en-US" altLang="ja-JP" sz="1400" b="1" dirty="0">
                <a:solidFill>
                  <a:schemeClr val="tx1">
                    <a:lumMod val="85000"/>
                    <a:lumOff val="15000"/>
                  </a:schemeClr>
                </a:solidFill>
              </a:rPr>
            </a:br>
            <a:r>
              <a:rPr kumimoji="1" lang="ja-JP" altLang="en-US" sz="1400" b="1">
                <a:solidFill>
                  <a:schemeClr val="tx1">
                    <a:lumMod val="85000"/>
                    <a:lumOff val="15000"/>
                  </a:schemeClr>
                </a:solidFill>
              </a:rPr>
              <a:t>クリック有無を予測するモデル間での定量的な比較：</a:t>
            </a:r>
            <a:endParaRPr kumimoji="1" lang="en-US" altLang="ja-JP" sz="1400" b="1" dirty="0">
              <a:solidFill>
                <a:schemeClr val="tx1">
                  <a:lumMod val="85000"/>
                  <a:lumOff val="15000"/>
                </a:schemeClr>
              </a:solidFill>
            </a:endParaRPr>
          </a:p>
          <a:p>
            <a:pPr marL="179388" indent="-179388">
              <a:spcAft>
                <a:spcPts val="600"/>
              </a:spcAft>
              <a:buFont typeface="Arial" panose="020B0604020202020204" pitchFamily="34" charset="0"/>
              <a:buChar char="•"/>
            </a:pPr>
            <a:r>
              <a:rPr kumimoji="1" lang="ja-JP" altLang="en-US" sz="1200">
                <a:solidFill>
                  <a:schemeClr val="tx1">
                    <a:lumMod val="85000"/>
                    <a:lumOff val="15000"/>
                  </a:schemeClr>
                </a:solidFill>
              </a:rPr>
              <a:t>全特徴をそのまま利用</a:t>
            </a:r>
            <a:r>
              <a:rPr kumimoji="1" lang="en-US" altLang="ja-JP" sz="1200" dirty="0">
                <a:solidFill>
                  <a:schemeClr val="tx1">
                    <a:lumMod val="85000"/>
                    <a:lumOff val="15000"/>
                  </a:schemeClr>
                </a:solidFill>
              </a:rPr>
              <a:t>(39</a:t>
            </a:r>
            <a:r>
              <a:rPr kumimoji="1" lang="ja-JP" altLang="en-US" sz="1200">
                <a:solidFill>
                  <a:schemeClr val="tx1">
                    <a:lumMod val="85000"/>
                    <a:lumOff val="15000"/>
                  </a:schemeClr>
                </a:solidFill>
              </a:rPr>
              <a:t>個</a:t>
            </a:r>
            <a:r>
              <a:rPr kumimoji="1" lang="en-US" altLang="ja-JP" sz="1200" dirty="0">
                <a:solidFill>
                  <a:schemeClr val="tx1">
                    <a:lumMod val="85000"/>
                    <a:lumOff val="15000"/>
                  </a:schemeClr>
                </a:solidFill>
              </a:rPr>
              <a:t>)</a:t>
            </a:r>
          </a:p>
          <a:p>
            <a:pPr marL="179388" indent="-179388">
              <a:spcAft>
                <a:spcPts val="600"/>
              </a:spcAft>
              <a:buFont typeface="Arial" panose="020B0604020202020204" pitchFamily="34" charset="0"/>
              <a:buChar char="•"/>
            </a:pPr>
            <a:r>
              <a:rPr kumimoji="1" lang="en-US" altLang="ja-JP" sz="1200" dirty="0">
                <a:solidFill>
                  <a:schemeClr val="tx1">
                    <a:lumMod val="85000"/>
                    <a:lumOff val="15000"/>
                  </a:schemeClr>
                </a:solidFill>
              </a:rPr>
              <a:t>QFS</a:t>
            </a:r>
            <a:r>
              <a:rPr kumimoji="1" lang="ja-JP" altLang="en-US" sz="1200">
                <a:solidFill>
                  <a:schemeClr val="tx1">
                    <a:lumMod val="85000"/>
                    <a:lumOff val="15000"/>
                  </a:schemeClr>
                </a:solidFill>
              </a:rPr>
              <a:t>法による選択特徴</a:t>
            </a:r>
            <a:r>
              <a:rPr kumimoji="1" lang="en-US" altLang="ja-JP" sz="1200" dirty="0">
                <a:solidFill>
                  <a:schemeClr val="tx1">
                    <a:lumMod val="85000"/>
                    <a:lumOff val="15000"/>
                  </a:schemeClr>
                </a:solidFill>
              </a:rPr>
              <a:t> (5, 10, 20…</a:t>
            </a:r>
            <a:r>
              <a:rPr kumimoji="1" lang="ja-JP" altLang="en-US" sz="1200">
                <a:solidFill>
                  <a:schemeClr val="tx1">
                    <a:lumMod val="85000"/>
                    <a:lumOff val="15000"/>
                  </a:schemeClr>
                </a:solidFill>
              </a:rPr>
              <a:t>個等</a:t>
            </a:r>
            <a:r>
              <a:rPr kumimoji="1" lang="en-US" altLang="ja-JP" sz="1200" dirty="0">
                <a:solidFill>
                  <a:schemeClr val="tx1">
                    <a:lumMod val="85000"/>
                    <a:lumOff val="15000"/>
                  </a:schemeClr>
                </a:solidFill>
              </a:rPr>
              <a:t>)</a:t>
            </a:r>
          </a:p>
          <a:p>
            <a:pPr>
              <a:spcAft>
                <a:spcPts val="600"/>
              </a:spcAft>
            </a:pPr>
            <a:r>
              <a:rPr kumimoji="1" lang="ja-JP" altLang="en-US" sz="1400" b="1">
                <a:solidFill>
                  <a:schemeClr val="tx1">
                    <a:lumMod val="85000"/>
                    <a:lumOff val="15000"/>
                  </a:schemeClr>
                </a:solidFill>
              </a:rPr>
              <a:t>評価方法・評価指標</a:t>
            </a:r>
            <a:r>
              <a:rPr kumimoji="1" lang="en-US" altLang="ja-JP" sz="1400" b="1" dirty="0">
                <a:solidFill>
                  <a:schemeClr val="tx1">
                    <a:lumMod val="85000"/>
                    <a:lumOff val="15000"/>
                  </a:schemeClr>
                </a:solidFill>
              </a:rPr>
              <a:t> (</a:t>
            </a:r>
            <a:r>
              <a:rPr kumimoji="1" lang="ja-JP" altLang="en-US" sz="1400" b="1">
                <a:solidFill>
                  <a:schemeClr val="tx1">
                    <a:lumMod val="85000"/>
                    <a:lumOff val="15000"/>
                  </a:schemeClr>
                </a:solidFill>
              </a:rPr>
              <a:t>例</a:t>
            </a:r>
            <a:r>
              <a:rPr kumimoji="1" lang="en-US" altLang="ja-JP" sz="1400" b="1" dirty="0">
                <a:solidFill>
                  <a:schemeClr val="tx1">
                    <a:lumMod val="85000"/>
                    <a:lumOff val="15000"/>
                  </a:schemeClr>
                </a:solidFill>
              </a:rPr>
              <a:t>)</a:t>
            </a:r>
            <a:r>
              <a:rPr kumimoji="1" lang="ja-JP" altLang="en-US" sz="1400" b="1">
                <a:solidFill>
                  <a:schemeClr val="tx1">
                    <a:lumMod val="85000"/>
                    <a:lumOff val="15000"/>
                  </a:schemeClr>
                </a:solidFill>
              </a:rPr>
              <a:t>：</a:t>
            </a:r>
            <a:endParaRPr kumimoji="1" lang="en-US" altLang="ja-JP" sz="1400" b="1" dirty="0">
              <a:solidFill>
                <a:schemeClr val="tx1">
                  <a:lumMod val="85000"/>
                  <a:lumOff val="15000"/>
                </a:schemeClr>
              </a:solidFill>
            </a:endParaRPr>
          </a:p>
          <a:p>
            <a:pPr marL="179388" indent="-179388">
              <a:spcAft>
                <a:spcPts val="600"/>
              </a:spcAft>
              <a:buFont typeface="Arial" panose="020B0604020202020204" pitchFamily="34" charset="0"/>
              <a:buChar char="•"/>
            </a:pPr>
            <a:r>
              <a:rPr kumimoji="1" lang="en-US" altLang="ja-JP" sz="1200" dirty="0">
                <a:solidFill>
                  <a:schemeClr val="tx1">
                    <a:lumMod val="85000"/>
                    <a:lumOff val="15000"/>
                  </a:schemeClr>
                </a:solidFill>
              </a:rPr>
              <a:t>ROC-AUC</a:t>
            </a:r>
            <a:r>
              <a:rPr kumimoji="1" lang="ja-JP" altLang="en-US" sz="1200">
                <a:solidFill>
                  <a:schemeClr val="tx1">
                    <a:lumMod val="85000"/>
                    <a:lumOff val="15000"/>
                  </a:schemeClr>
                </a:solidFill>
              </a:rPr>
              <a:t>、</a:t>
            </a:r>
            <a:r>
              <a:rPr kumimoji="1" lang="en-US" altLang="ja-JP" sz="1200" dirty="0">
                <a:solidFill>
                  <a:schemeClr val="tx1">
                    <a:lumMod val="85000"/>
                    <a:lumOff val="15000"/>
                  </a:schemeClr>
                </a:solidFill>
              </a:rPr>
              <a:t>PR-AUC</a:t>
            </a:r>
            <a:r>
              <a:rPr kumimoji="1" lang="ja-JP" altLang="en-US" sz="1200">
                <a:solidFill>
                  <a:schemeClr val="tx1">
                    <a:lumMod val="85000"/>
                    <a:lumOff val="15000"/>
                  </a:schemeClr>
                </a:solidFill>
              </a:rPr>
              <a:t>、精度</a:t>
            </a:r>
            <a:endParaRPr kumimoji="1" lang="en-US" altLang="ja-JP" sz="1200" dirty="0">
              <a:solidFill>
                <a:schemeClr val="tx1">
                  <a:lumMod val="85000"/>
                  <a:lumOff val="15000"/>
                </a:schemeClr>
              </a:solidFill>
            </a:endParaRPr>
          </a:p>
          <a:p>
            <a:pPr marL="179388" indent="-179388">
              <a:spcAft>
                <a:spcPts val="600"/>
              </a:spcAft>
              <a:buFont typeface="Arial" panose="020B0604020202020204" pitchFamily="34" charset="0"/>
              <a:buChar char="•"/>
            </a:pPr>
            <a:r>
              <a:rPr kumimoji="1" lang="ja-JP" altLang="en-US" sz="1200">
                <a:solidFill>
                  <a:schemeClr val="tx1">
                    <a:lumMod val="85000"/>
                    <a:lumOff val="15000"/>
                  </a:schemeClr>
                </a:solidFill>
              </a:rPr>
              <a:t>選択された特徴の影響度可視化</a:t>
            </a:r>
            <a:endParaRPr kumimoji="1" lang="en-US" altLang="ja-JP" sz="1200" dirty="0">
              <a:solidFill>
                <a:schemeClr val="tx1">
                  <a:lumMod val="85000"/>
                  <a:lumOff val="15000"/>
                </a:schemeClr>
              </a:solidFill>
            </a:endParaRPr>
          </a:p>
        </p:txBody>
      </p:sp>
      <p:sp>
        <p:nvSpPr>
          <p:cNvPr id="44" name="加算記号 43">
            <a:extLst>
              <a:ext uri="{FF2B5EF4-FFF2-40B4-BE49-F238E27FC236}">
                <a16:creationId xmlns:a16="http://schemas.microsoft.com/office/drawing/2014/main" id="{49B0B072-56C7-686E-1549-A17E98BA517A}"/>
              </a:ext>
            </a:extLst>
          </p:cNvPr>
          <p:cNvSpPr/>
          <p:nvPr/>
        </p:nvSpPr>
        <p:spPr>
          <a:xfrm>
            <a:off x="9735844" y="4553626"/>
            <a:ext cx="446681" cy="440317"/>
          </a:xfrm>
          <a:prstGeom prst="mathPlus">
            <a:avLst>
              <a:gd name="adj1" fmla="val 18065"/>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5" name="TextBox 3">
            <a:extLst>
              <a:ext uri="{FF2B5EF4-FFF2-40B4-BE49-F238E27FC236}">
                <a16:creationId xmlns:a16="http://schemas.microsoft.com/office/drawing/2014/main" id="{F9EC3875-3E8B-70B0-EF2D-0AFDF5E81802}"/>
              </a:ext>
            </a:extLst>
          </p:cNvPr>
          <p:cNvSpPr txBox="1"/>
          <p:nvPr/>
        </p:nvSpPr>
        <p:spPr>
          <a:xfrm>
            <a:off x="8811539" y="5151072"/>
            <a:ext cx="2990888" cy="1200329"/>
          </a:xfrm>
          <a:prstGeom prst="rect">
            <a:avLst/>
          </a:prstGeom>
          <a:noFill/>
        </p:spPr>
        <p:txBody>
          <a:bodyPr wrap="square" rtlCol="0">
            <a:spAutoFit/>
          </a:bodyPr>
          <a:lstStyle/>
          <a:p>
            <a:pPr>
              <a:spcAft>
                <a:spcPts val="600"/>
              </a:spcAft>
            </a:pPr>
            <a:r>
              <a:rPr kumimoji="1" lang="ja-JP" altLang="en-US" sz="1200" b="1">
                <a:solidFill>
                  <a:schemeClr val="tx1">
                    <a:lumMod val="85000"/>
                    <a:lumOff val="15000"/>
                  </a:schemeClr>
                </a:solidFill>
              </a:rPr>
              <a:t>得られた特徴選択・示唆にもとづく</a:t>
            </a:r>
            <a:br>
              <a:rPr kumimoji="1" lang="en-US" altLang="ja-JP" sz="1200" b="1" dirty="0">
                <a:solidFill>
                  <a:schemeClr val="tx1">
                    <a:lumMod val="85000"/>
                    <a:lumOff val="15000"/>
                  </a:schemeClr>
                </a:solidFill>
              </a:rPr>
            </a:br>
            <a:r>
              <a:rPr kumimoji="1" lang="ja-JP" altLang="en-US" sz="1200" b="1">
                <a:solidFill>
                  <a:schemeClr val="tx1">
                    <a:lumMod val="85000"/>
                    <a:lumOff val="15000"/>
                  </a:schemeClr>
                </a:solidFill>
              </a:rPr>
              <a:t>「新しい顧客セグメント」を切り出し、</a:t>
            </a:r>
            <a:br>
              <a:rPr kumimoji="1" lang="en-US" altLang="ja-JP" sz="1200" b="1" dirty="0">
                <a:solidFill>
                  <a:schemeClr val="tx1">
                    <a:lumMod val="85000"/>
                    <a:lumOff val="15000"/>
                  </a:schemeClr>
                </a:solidFill>
              </a:rPr>
            </a:br>
            <a:r>
              <a:rPr kumimoji="1" lang="ja-JP" altLang="en-US" sz="1200" b="1">
                <a:solidFill>
                  <a:schemeClr val="tx1">
                    <a:lumMod val="85000"/>
                    <a:lumOff val="15000"/>
                  </a:schemeClr>
                </a:solidFill>
              </a:rPr>
              <a:t>そこに広告を配信したと仮定したときのクリック率</a:t>
            </a:r>
            <a:r>
              <a:rPr kumimoji="1" lang="en-US" altLang="ja-JP" sz="1200" b="1" dirty="0">
                <a:solidFill>
                  <a:schemeClr val="tx1">
                    <a:lumMod val="85000"/>
                    <a:lumOff val="15000"/>
                  </a:schemeClr>
                </a:solidFill>
              </a:rPr>
              <a:t> (CTR) </a:t>
            </a:r>
            <a:r>
              <a:rPr kumimoji="1" lang="ja-JP" altLang="en-US" sz="1200" b="1">
                <a:solidFill>
                  <a:schemeClr val="tx1">
                    <a:lumMod val="85000"/>
                    <a:lumOff val="15000"/>
                  </a:schemeClr>
                </a:solidFill>
              </a:rPr>
              <a:t>と、元のターゲット顧客セグメントでの実績クリック率</a:t>
            </a:r>
            <a:r>
              <a:rPr kumimoji="1" lang="en-US" altLang="ja-JP" sz="1200" b="1" dirty="0">
                <a:solidFill>
                  <a:schemeClr val="tx1">
                    <a:lumMod val="85000"/>
                    <a:lumOff val="15000"/>
                  </a:schemeClr>
                </a:solidFill>
              </a:rPr>
              <a:t> (CTR) </a:t>
            </a:r>
            <a:r>
              <a:rPr kumimoji="1" lang="ja-JP" altLang="en-US" sz="1200" b="1">
                <a:solidFill>
                  <a:schemeClr val="tx1">
                    <a:lumMod val="85000"/>
                    <a:lumOff val="15000"/>
                  </a:schemeClr>
                </a:solidFill>
              </a:rPr>
              <a:t>を比較</a:t>
            </a:r>
            <a:endParaRPr kumimoji="1" lang="en-US" altLang="ja-JP" sz="1200" dirty="0">
              <a:solidFill>
                <a:schemeClr val="tx1">
                  <a:lumMod val="85000"/>
                  <a:lumOff val="15000"/>
                </a:schemeClr>
              </a:solidFill>
            </a:endParaRPr>
          </a:p>
        </p:txBody>
      </p:sp>
      <p:sp>
        <p:nvSpPr>
          <p:cNvPr id="46" name="TextBox 3">
            <a:extLst>
              <a:ext uri="{FF2B5EF4-FFF2-40B4-BE49-F238E27FC236}">
                <a16:creationId xmlns:a16="http://schemas.microsoft.com/office/drawing/2014/main" id="{322F5F29-8539-B31D-4962-E5BECEB60CFD}"/>
              </a:ext>
            </a:extLst>
          </p:cNvPr>
          <p:cNvSpPr txBox="1"/>
          <p:nvPr/>
        </p:nvSpPr>
        <p:spPr>
          <a:xfrm>
            <a:off x="3471717" y="3591085"/>
            <a:ext cx="2796102" cy="507831"/>
          </a:xfrm>
          <a:prstGeom prst="rect">
            <a:avLst/>
          </a:prstGeom>
          <a:noFill/>
        </p:spPr>
        <p:txBody>
          <a:bodyPr wrap="square" rtlCol="0">
            <a:spAutoFit/>
          </a:bodyPr>
          <a:lstStyle/>
          <a:p>
            <a:pPr>
              <a:spcAft>
                <a:spcPts val="600"/>
              </a:spcAft>
            </a:pPr>
            <a:r>
              <a:rPr kumimoji="1" lang="en-US" altLang="ja-JP" sz="900" dirty="0">
                <a:solidFill>
                  <a:schemeClr val="tx1">
                    <a:lumMod val="85000"/>
                    <a:lumOff val="15000"/>
                  </a:schemeClr>
                </a:solidFill>
              </a:rPr>
              <a:t>※</a:t>
            </a:r>
            <a:r>
              <a:rPr kumimoji="1" lang="ja-JP" altLang="en-US" sz="900">
                <a:solidFill>
                  <a:schemeClr val="tx1">
                    <a:lumMod val="85000"/>
                    <a:lumOff val="15000"/>
                  </a:schemeClr>
                </a:solidFill>
              </a:rPr>
              <a:t>データで提供いただいた</a:t>
            </a:r>
            <a:r>
              <a:rPr kumimoji="1" lang="en-US" altLang="ja-JP" sz="900" dirty="0">
                <a:solidFill>
                  <a:schemeClr val="tx1">
                    <a:lumMod val="85000"/>
                    <a:lumOff val="15000"/>
                  </a:schemeClr>
                </a:solidFill>
              </a:rPr>
              <a:t>41</a:t>
            </a:r>
            <a:r>
              <a:rPr kumimoji="1" lang="ja-JP" altLang="en-US" sz="900">
                <a:solidFill>
                  <a:schemeClr val="tx1">
                    <a:lumMod val="85000"/>
                    <a:lumOff val="15000"/>
                  </a:schemeClr>
                </a:solidFill>
              </a:rPr>
              <a:t>個のお客様属性から、</a:t>
            </a:r>
            <a:br>
              <a:rPr kumimoji="1" lang="en-US" altLang="ja-JP" sz="900" dirty="0">
                <a:solidFill>
                  <a:schemeClr val="tx1">
                    <a:lumMod val="85000"/>
                    <a:lumOff val="15000"/>
                  </a:schemeClr>
                </a:solidFill>
              </a:rPr>
            </a:br>
            <a:r>
              <a:rPr kumimoji="1" lang="ja-JP" altLang="en-US" sz="900">
                <a:solidFill>
                  <a:schemeClr val="tx1">
                    <a:lumMod val="85000"/>
                    <a:lumOff val="15000"/>
                  </a:schemeClr>
                </a:solidFill>
              </a:rPr>
              <a:t>カテゴリ値かつ高カーディナリティである</a:t>
            </a:r>
            <a:br>
              <a:rPr kumimoji="1" lang="en-US" altLang="ja-JP" sz="900" dirty="0">
                <a:solidFill>
                  <a:schemeClr val="tx1">
                    <a:lumMod val="85000"/>
                    <a:lumOff val="15000"/>
                  </a:schemeClr>
                </a:solidFill>
              </a:rPr>
            </a:br>
            <a:r>
              <a:rPr kumimoji="1" lang="ja-JP" altLang="en-US" sz="900">
                <a:solidFill>
                  <a:schemeClr val="tx1">
                    <a:lumMod val="85000"/>
                    <a:lumOff val="15000"/>
                  </a:schemeClr>
                </a:solidFill>
              </a:rPr>
              <a:t>「住所</a:t>
            </a:r>
            <a:r>
              <a:rPr kumimoji="1" lang="en-US" altLang="ja-JP" sz="900" dirty="0">
                <a:solidFill>
                  <a:schemeClr val="tx1">
                    <a:lumMod val="85000"/>
                    <a:lumOff val="15000"/>
                  </a:schemeClr>
                </a:solidFill>
              </a:rPr>
              <a:t>(</a:t>
            </a:r>
            <a:r>
              <a:rPr kumimoji="1" lang="ja-JP" altLang="en-US" sz="900">
                <a:solidFill>
                  <a:schemeClr val="tx1">
                    <a:lumMod val="85000"/>
                    <a:lumOff val="15000"/>
                  </a:schemeClr>
                </a:solidFill>
              </a:rPr>
              <a:t>市区町村</a:t>
            </a:r>
            <a:r>
              <a:rPr kumimoji="1" lang="en-US" altLang="ja-JP" sz="900" dirty="0">
                <a:solidFill>
                  <a:schemeClr val="tx1">
                    <a:lumMod val="85000"/>
                    <a:lumOff val="15000"/>
                  </a:schemeClr>
                </a:solidFill>
              </a:rPr>
              <a:t>)</a:t>
            </a:r>
            <a:r>
              <a:rPr kumimoji="1" lang="ja-JP" altLang="en-US" sz="900">
                <a:solidFill>
                  <a:schemeClr val="tx1">
                    <a:lumMod val="85000"/>
                    <a:lumOff val="15000"/>
                  </a:schemeClr>
                </a:solidFill>
              </a:rPr>
              <a:t>」と「住所</a:t>
            </a:r>
            <a:r>
              <a:rPr kumimoji="1" lang="en-US" altLang="ja-JP" sz="900" dirty="0">
                <a:solidFill>
                  <a:schemeClr val="tx1">
                    <a:lumMod val="85000"/>
                    <a:lumOff val="15000"/>
                  </a:schemeClr>
                </a:solidFill>
              </a:rPr>
              <a:t>(</a:t>
            </a:r>
            <a:r>
              <a:rPr kumimoji="1" lang="ja-JP" altLang="en-US" sz="900">
                <a:solidFill>
                  <a:schemeClr val="tx1">
                    <a:lumMod val="85000"/>
                    <a:lumOff val="15000"/>
                  </a:schemeClr>
                </a:solidFill>
              </a:rPr>
              <a:t>字</a:t>
            </a:r>
            <a:r>
              <a:rPr kumimoji="1" lang="en-US" altLang="ja-JP" sz="900" dirty="0">
                <a:solidFill>
                  <a:schemeClr val="tx1">
                    <a:lumMod val="85000"/>
                    <a:lumOff val="15000"/>
                  </a:schemeClr>
                </a:solidFill>
              </a:rPr>
              <a:t>)</a:t>
            </a:r>
            <a:r>
              <a:rPr kumimoji="1" lang="ja-JP" altLang="en-US" sz="900">
                <a:solidFill>
                  <a:schemeClr val="tx1">
                    <a:lumMod val="85000"/>
                    <a:lumOff val="15000"/>
                  </a:schemeClr>
                </a:solidFill>
              </a:rPr>
              <a:t>」を除いたもの</a:t>
            </a:r>
            <a:endParaRPr kumimoji="1" lang="en-US" altLang="ja-JP" sz="900" dirty="0">
              <a:solidFill>
                <a:schemeClr val="tx1">
                  <a:lumMod val="85000"/>
                  <a:lumOff val="15000"/>
                </a:schemeClr>
              </a:solidFill>
            </a:endParaRPr>
          </a:p>
        </p:txBody>
      </p:sp>
    </p:spTree>
    <p:extLst>
      <p:ext uri="{BB962C8B-B14F-4D97-AF65-F5344CB8AC3E}">
        <p14:creationId xmlns:p14="http://schemas.microsoft.com/office/powerpoint/2010/main" val="2976237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4914-D647-B013-05D5-D0C99A92DDFE}"/>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190A21E3-7D0C-E96B-2CAD-57408B2C2E3B}"/>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190A21E3-7D0C-E96B-2CAD-57408B2C2E3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8EA1CDCB-03AF-AAC4-F1E5-3EF60300443F}"/>
              </a:ext>
            </a:extLst>
          </p:cNvPr>
          <p:cNvSpPr>
            <a:spLocks noGrp="1"/>
          </p:cNvSpPr>
          <p:nvPr>
            <p:ph type="body" sz="quarter" idx="10"/>
          </p:nvPr>
        </p:nvSpPr>
        <p:spPr/>
        <p:txBody>
          <a:bodyPr/>
          <a:lstStyle/>
          <a:p>
            <a:r>
              <a:rPr lang="ja-JP" altLang="en-US"/>
              <a:t>量子特徴量選択</a:t>
            </a:r>
            <a:r>
              <a:rPr lang="en-US" altLang="ja-JP" dirty="0"/>
              <a:t> (QFS</a:t>
            </a:r>
            <a:r>
              <a:rPr lang="ja-JP" altLang="en-US"/>
              <a:t>手法</a:t>
            </a:r>
            <a:r>
              <a:rPr lang="en-US" altLang="ja-JP" dirty="0"/>
              <a:t>*) </a:t>
            </a:r>
            <a:r>
              <a:rPr lang="ja-JP" altLang="en-US"/>
              <a:t>を用いる効果と目的</a:t>
            </a:r>
          </a:p>
        </p:txBody>
      </p:sp>
      <p:sp>
        <p:nvSpPr>
          <p:cNvPr id="3" name="Slide Number Placeholder 2">
            <a:extLst>
              <a:ext uri="{FF2B5EF4-FFF2-40B4-BE49-F238E27FC236}">
                <a16:creationId xmlns:a16="http://schemas.microsoft.com/office/drawing/2014/main" id="{0BDAB694-5D33-2479-02E5-2492A4ED621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mc:AlternateContent xmlns:mc="http://schemas.openxmlformats.org/markup-compatibility/2006" xmlns:a14="http://schemas.microsoft.com/office/drawing/2010/main">
        <mc:Choice Requires="a14">
          <p:sp>
            <p:nvSpPr>
              <p:cNvPr id="2" name="TextBox 3">
                <a:extLst>
                  <a:ext uri="{FF2B5EF4-FFF2-40B4-BE49-F238E27FC236}">
                    <a16:creationId xmlns:a16="http://schemas.microsoft.com/office/drawing/2014/main" id="{FC6B74DF-0826-3D82-731C-76D5DB3303C2}"/>
                  </a:ext>
                </a:extLst>
              </p:cNvPr>
              <p:cNvSpPr txBox="1"/>
              <p:nvPr/>
            </p:nvSpPr>
            <p:spPr>
              <a:xfrm>
                <a:off x="540850" y="1064709"/>
                <a:ext cx="11393591" cy="5211042"/>
              </a:xfrm>
              <a:prstGeom prst="rect">
                <a:avLst/>
              </a:prstGeom>
              <a:noFill/>
            </p:spPr>
            <p:txBody>
              <a:bodyPr wrap="square" rtlCol="0">
                <a:spAutoFit/>
              </a:bodyPr>
              <a:lstStyle/>
              <a:p>
                <a:pPr>
                  <a:spcAft>
                    <a:spcPts val="600"/>
                  </a:spcAft>
                </a:pPr>
                <a:r>
                  <a:rPr kumimoji="1" lang="en-US" altLang="ja-JP" sz="2000" b="1" dirty="0"/>
                  <a:t>1. </a:t>
                </a:r>
                <a:r>
                  <a:rPr kumimoji="1" lang="ja-JP" altLang="en-US" sz="2000" b="1"/>
                  <a:t>特徴量選択の効果と目的</a:t>
                </a:r>
              </a:p>
              <a:p>
                <a:pPr marL="742950" lvl="1" indent="-285750">
                  <a:spcAft>
                    <a:spcPts val="600"/>
                  </a:spcAft>
                  <a:buFont typeface="Arial" panose="020B0604020202020204" pitchFamily="34" charset="0"/>
                  <a:buChar char="•"/>
                </a:pPr>
                <a:r>
                  <a:rPr kumimoji="1" lang="ja-JP" altLang="en-US"/>
                  <a:t>不要な特徴を削除することで、</a:t>
                </a:r>
              </a:p>
              <a:p>
                <a:pPr marL="1200150" lvl="2" indent="-285750">
                  <a:spcAft>
                    <a:spcPts val="600"/>
                  </a:spcAft>
                  <a:buFont typeface="Wingdings" pitchFamily="2" charset="2"/>
                  <a:buChar char="ü"/>
                </a:pPr>
                <a:r>
                  <a:rPr kumimoji="1" lang="ja-JP" altLang="en-US"/>
                  <a:t>学習および推論時間が速くなる</a:t>
                </a:r>
                <a:r>
                  <a:rPr kumimoji="1" lang="en-US" altLang="ja-JP" dirty="0"/>
                  <a:t>	</a:t>
                </a:r>
                <a:r>
                  <a:rPr kumimoji="1" lang="ja-JP" altLang="en-US"/>
                  <a:t>（</a:t>
                </a:r>
                <a:r>
                  <a:rPr kumimoji="1" lang="en-US" altLang="ja-JP" dirty="0"/>
                  <a:t>ML</a:t>
                </a:r>
                <a:r>
                  <a:rPr kumimoji="1" lang="ja-JP" altLang="en-US"/>
                  <a:t>モデルの軽量化）</a:t>
                </a:r>
                <a:endParaRPr kumimoji="1" lang="en-US" altLang="ja-JP" dirty="0"/>
              </a:p>
              <a:p>
                <a:pPr marL="1200150" lvl="2" indent="-285750">
                  <a:spcAft>
                    <a:spcPts val="600"/>
                  </a:spcAft>
                  <a:buFont typeface="Wingdings" pitchFamily="2" charset="2"/>
                  <a:buChar char="ü"/>
                </a:pPr>
                <a:r>
                  <a:rPr kumimoji="1" lang="ja-JP" altLang="en-US"/>
                  <a:t>過学習を抑える</a:t>
                </a:r>
                <a:r>
                  <a:rPr kumimoji="1" lang="en-US" altLang="ja-JP" dirty="0"/>
                  <a:t>		</a:t>
                </a:r>
                <a:r>
                  <a:rPr kumimoji="1" lang="ja-JP" altLang="en-US"/>
                  <a:t>（精度と汎化性向上）</a:t>
                </a:r>
                <a:endParaRPr kumimoji="1" lang="en-US" altLang="ja-JP" dirty="0"/>
              </a:p>
              <a:p>
                <a:pPr marL="1200150" lvl="2" indent="-285750">
                  <a:spcAft>
                    <a:spcPts val="600"/>
                  </a:spcAft>
                  <a:buFont typeface="Wingdings" pitchFamily="2" charset="2"/>
                  <a:buChar char="ü"/>
                </a:pPr>
                <a:r>
                  <a:rPr kumimoji="1" lang="ja-JP" altLang="en-US"/>
                  <a:t>解釈性が高まる</a:t>
                </a:r>
                <a:r>
                  <a:rPr kumimoji="1" lang="en-US" altLang="ja-JP" dirty="0"/>
                  <a:t>		</a:t>
                </a:r>
                <a:r>
                  <a:rPr kumimoji="1" lang="ja-JP" altLang="en-US"/>
                  <a:t>（どの特徴が効いているか明確にわかりやすくする）</a:t>
                </a:r>
                <a:endParaRPr kumimoji="1" lang="en-US" altLang="ja-JP" dirty="0"/>
              </a:p>
              <a:p>
                <a:pPr>
                  <a:spcAft>
                    <a:spcPts val="600"/>
                  </a:spcAft>
                </a:pPr>
                <a:r>
                  <a:rPr kumimoji="1" lang="en-US" altLang="ja-JP" sz="2000" b="1" dirty="0"/>
                  <a:t>2. </a:t>
                </a:r>
                <a:r>
                  <a:rPr kumimoji="1" lang="ja-JP" altLang="en-US" sz="2000" b="1"/>
                  <a:t>量子特徴量選択手法：</a:t>
                </a:r>
                <a:r>
                  <a:rPr kumimoji="1" lang="en-US" altLang="ja-JP" sz="2000" b="1" dirty="0"/>
                  <a:t>QFS (QUBO Feature Selection)*</a:t>
                </a:r>
                <a:endParaRPr kumimoji="1" lang="ja-JP" altLang="en-US" sz="2000" b="1"/>
              </a:p>
              <a:p>
                <a:pPr marL="742950" lvl="1" indent="-285750">
                  <a:spcAft>
                    <a:spcPts val="600"/>
                  </a:spcAft>
                  <a:buFont typeface="Arial" panose="020B0604020202020204" pitchFamily="34" charset="0"/>
                  <a:buChar char="•"/>
                </a:pPr>
                <a:r>
                  <a:rPr kumimoji="1" lang="ja-JP" altLang="en-US"/>
                  <a:t>アプローチ：量子計算で特徴量の重要度と冗長性を同時に最適化し、ベストな特徴集合を一括選択</a:t>
                </a:r>
                <a:endParaRPr kumimoji="1" lang="en-US" altLang="ja-JP" dirty="0"/>
              </a:p>
              <a:p>
                <a:pPr marL="742950" lvl="1" indent="-285750">
                  <a:spcAft>
                    <a:spcPts val="600"/>
                  </a:spcAft>
                  <a:buFont typeface="Arial" panose="020B0604020202020204" pitchFamily="34" charset="0"/>
                  <a:buChar char="•"/>
                </a:pPr>
                <a:r>
                  <a:rPr kumimoji="1" lang="ja-JP" altLang="en-US"/>
                  <a:t>特徴量選択法のうち「フィルタ法</a:t>
                </a:r>
                <a:r>
                  <a:rPr kumimoji="1" lang="en-US" altLang="ja-JP" baseline="30000" dirty="0"/>
                  <a:t>※1</a:t>
                </a:r>
                <a:r>
                  <a:rPr kumimoji="1" lang="ja-JP" altLang="en-US"/>
                  <a:t>」に該当、</a:t>
                </a:r>
                <a:r>
                  <a:rPr kumimoji="1" lang="en-US" altLang="ja-JP" sz="1200" dirty="0"/>
                  <a:t>※1: ML</a:t>
                </a:r>
                <a:r>
                  <a:rPr kumimoji="1" lang="ja-JP" altLang="en-US" sz="1200"/>
                  <a:t>に依存せず、与えられたデータセットのみから選択する方法</a:t>
                </a:r>
                <a:endParaRPr kumimoji="1" lang="ja-JP" altLang="en-US"/>
              </a:p>
              <a:p>
                <a:pPr marL="1200150" lvl="2" indent="-285750">
                  <a:spcAft>
                    <a:spcPts val="600"/>
                  </a:spcAft>
                  <a:buFont typeface="Arial" panose="020B0604020202020204" pitchFamily="34" charset="0"/>
                  <a:buChar char="•"/>
                </a:pPr>
                <a:r>
                  <a:rPr kumimoji="1" lang="ja-JP" altLang="en-US"/>
                  <a:t>最適化する</a:t>
                </a:r>
                <a:r>
                  <a:rPr kumimoji="1" lang="en-US" altLang="ja-JP" dirty="0"/>
                  <a:t>QUBO</a:t>
                </a:r>
                <a:r>
                  <a:rPr kumimoji="1" lang="ja-JP" altLang="en-US"/>
                  <a:t>式：</a:t>
                </a:r>
                <a:endParaRPr kumimoji="1" lang="en-US" altLang="ja-JP" dirty="0"/>
              </a:p>
              <a:p>
                <a:pPr lvl="2">
                  <a:spcAft>
                    <a:spcPts val="600"/>
                  </a:spcAft>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𝑄</m:t>
                      </m:r>
                      <m:d>
                        <m:dPr>
                          <m:ctrlPr>
                            <a:rPr kumimoji="1" lang="en-US" altLang="ja-JP" b="0" i="1" smtClean="0">
                              <a:latin typeface="Cambria Math" panose="02040503050406030204" pitchFamily="18" charset="0"/>
                            </a:rPr>
                          </m:ctrlPr>
                        </m:dPr>
                        <m:e>
                          <m:r>
                            <a:rPr kumimoji="1" lang="en-US" altLang="ja-JP" b="1" i="1" smtClean="0">
                              <a:latin typeface="Cambria Math" panose="02040503050406030204" pitchFamily="18" charset="0"/>
                            </a:rPr>
                            <m:t>𝒙</m:t>
                          </m:r>
                        </m:e>
                      </m:d>
                      <m:r>
                        <a:rPr kumimoji="1" lang="en-US" altLang="ja-JP" b="0" i="1" smtClean="0">
                          <a:latin typeface="Cambria Math" panose="02040503050406030204" pitchFamily="18" charset="0"/>
                        </a:rPr>
                        <m:t>=−</m:t>
                      </m:r>
                      <m:r>
                        <a:rPr kumimoji="1" lang="en-US" altLang="ja-JP" i="1">
                          <a:latin typeface="Cambria Math" panose="02040503050406030204" pitchFamily="18" charset="0"/>
                          <a:ea typeface="Cambria Math" panose="02040503050406030204" pitchFamily="18" charset="0"/>
                        </a:rPr>
                        <m:t>𝛼</m:t>
                      </m:r>
                      <m:nary>
                        <m:naryPr>
                          <m:chr m:val="∑"/>
                          <m:ctrlPr>
                            <a:rPr kumimoji="1" lang="en-US" altLang="ja-JP" i="1" smtClean="0">
                              <a:latin typeface="Cambria Math" panose="02040503050406030204" pitchFamily="18" charset="0"/>
                              <a:ea typeface="Cambria Math" panose="02040503050406030204" pitchFamily="18" charset="0"/>
                            </a:rPr>
                          </m:ctrlPr>
                        </m:naryPr>
                        <m:sub>
                          <m:r>
                            <m:rPr>
                              <m:brk m:alnAt="23"/>
                            </m:rPr>
                            <a:rPr kumimoji="1" lang="en-US" altLang="ja-JP" b="0" i="1" smtClean="0">
                              <a:latin typeface="Cambria Math" panose="02040503050406030204" pitchFamily="18" charset="0"/>
                              <a:ea typeface="Cambria Math" panose="02040503050406030204" pitchFamily="18" charset="0"/>
                            </a:rPr>
                            <m:t>𝑖</m:t>
                          </m:r>
                          <m:r>
                            <a:rPr kumimoji="1" lang="en-US" altLang="ja-JP" b="0" i="1" smtClean="0">
                              <a:latin typeface="Cambria Math" panose="02040503050406030204" pitchFamily="18" charset="0"/>
                              <a:ea typeface="Cambria Math" panose="02040503050406030204" pitchFamily="18" charset="0"/>
                            </a:rPr>
                            <m:t>=1</m:t>
                          </m:r>
                        </m:sub>
                        <m:sup>
                          <m:r>
                            <a:rPr kumimoji="1" lang="en-US" altLang="ja-JP" b="0" i="1" smtClean="0">
                              <a:latin typeface="Cambria Math" panose="02040503050406030204" pitchFamily="18" charset="0"/>
                              <a:ea typeface="Cambria Math" panose="02040503050406030204" pitchFamily="18" charset="0"/>
                            </a:rPr>
                            <m:t>𝑛</m:t>
                          </m:r>
                        </m:sup>
                        <m:e>
                          <m:sSub>
                            <m:sSubPr>
                              <m:ctrlPr>
                                <a:rPr kumimoji="1" lang="en-US" altLang="ja-JP"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𝐼</m:t>
                              </m:r>
                            </m:e>
                            <m:sub>
                              <m:r>
                                <a:rPr kumimoji="1" lang="en-US" altLang="ja-JP" b="0" i="1" smtClean="0">
                                  <a:latin typeface="Cambria Math" panose="02040503050406030204" pitchFamily="18" charset="0"/>
                                  <a:ea typeface="Cambria Math" panose="02040503050406030204" pitchFamily="18" charset="0"/>
                                </a:rPr>
                                <m:t>𝑖</m:t>
                              </m:r>
                            </m:sub>
                          </m:sSub>
                          <m:sSub>
                            <m:sSubPr>
                              <m:ctrlPr>
                                <a:rPr kumimoji="1" lang="en-US" altLang="ja-JP"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𝑥</m:t>
                              </m:r>
                            </m:e>
                            <m:sub>
                              <m:r>
                                <a:rPr kumimoji="1" lang="en-US" altLang="ja-JP" b="0" i="1" smtClean="0">
                                  <a:latin typeface="Cambria Math" panose="02040503050406030204" pitchFamily="18" charset="0"/>
                                  <a:ea typeface="Cambria Math" panose="02040503050406030204" pitchFamily="18" charset="0"/>
                                </a:rPr>
                                <m:t>𝑖</m:t>
                              </m:r>
                            </m:sub>
                          </m:sSub>
                        </m:e>
                      </m:nary>
                      <m:r>
                        <a:rPr kumimoji="1" lang="en-US" altLang="ja-JP" i="1">
                          <a:latin typeface="Cambria Math" panose="02040503050406030204" pitchFamily="18" charset="0"/>
                          <a:ea typeface="Cambria Math" panose="02040503050406030204" pitchFamily="18" charset="0"/>
                        </a:rPr>
                        <m:t>+</m:t>
                      </m:r>
                      <m:d>
                        <m:dPr>
                          <m:ctrlPr>
                            <a:rPr kumimoji="1" lang="en-US" altLang="ja-JP" i="1">
                              <a:latin typeface="Cambria Math" panose="02040503050406030204" pitchFamily="18" charset="0"/>
                              <a:ea typeface="Cambria Math" panose="02040503050406030204" pitchFamily="18" charset="0"/>
                            </a:rPr>
                          </m:ctrlPr>
                        </m:dPr>
                        <m:e>
                          <m:r>
                            <a:rPr kumimoji="1" lang="en-US" altLang="ja-JP" i="1">
                              <a:latin typeface="Cambria Math" panose="02040503050406030204" pitchFamily="18" charset="0"/>
                              <a:ea typeface="Cambria Math" panose="02040503050406030204" pitchFamily="18" charset="0"/>
                            </a:rPr>
                            <m:t>1−</m:t>
                          </m:r>
                          <m:r>
                            <a:rPr kumimoji="1" lang="en-US" altLang="ja-JP" i="1">
                              <a:latin typeface="Cambria Math" panose="02040503050406030204" pitchFamily="18" charset="0"/>
                              <a:ea typeface="Cambria Math" panose="02040503050406030204" pitchFamily="18" charset="0"/>
                            </a:rPr>
                            <m:t>𝛼</m:t>
                          </m:r>
                        </m:e>
                      </m:d>
                      <m:nary>
                        <m:naryPr>
                          <m:chr m:val="∑"/>
                          <m:ctrlPr>
                            <a:rPr kumimoji="1" lang="en-US" altLang="ja-JP" i="1" smtClean="0">
                              <a:latin typeface="Cambria Math" panose="02040503050406030204" pitchFamily="18" charset="0"/>
                              <a:ea typeface="Cambria Math" panose="02040503050406030204" pitchFamily="18" charset="0"/>
                            </a:rPr>
                          </m:ctrlPr>
                        </m:naryPr>
                        <m:sub>
                          <m:r>
                            <m:rPr>
                              <m:brk m:alnAt="23"/>
                            </m:rPr>
                            <a:rPr kumimoji="1" lang="en-US" altLang="ja-JP" b="0" i="1" smtClean="0">
                              <a:latin typeface="Cambria Math" panose="02040503050406030204" pitchFamily="18" charset="0"/>
                              <a:ea typeface="Cambria Math" panose="02040503050406030204" pitchFamily="18" charset="0"/>
                            </a:rPr>
                            <m:t>𝑖</m:t>
                          </m:r>
                          <m:r>
                            <a:rPr kumimoji="1" lang="en-US" altLang="ja-JP" b="0"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𝑗</m:t>
                          </m:r>
                          <m:r>
                            <a:rPr kumimoji="1" lang="en-US" altLang="ja-JP" b="0" i="1" smtClean="0">
                              <a:latin typeface="Cambria Math" panose="02040503050406030204" pitchFamily="18" charset="0"/>
                              <a:ea typeface="Cambria Math" panose="02040503050406030204" pitchFamily="18" charset="0"/>
                            </a:rPr>
                            <m:t>=1</m:t>
                          </m:r>
                        </m:sub>
                        <m:sup>
                          <m:r>
                            <a:rPr kumimoji="1" lang="en-US" altLang="ja-JP" b="0" i="1" smtClean="0">
                              <a:latin typeface="Cambria Math" panose="02040503050406030204" pitchFamily="18" charset="0"/>
                              <a:ea typeface="Cambria Math" panose="02040503050406030204" pitchFamily="18" charset="0"/>
                            </a:rPr>
                            <m:t>𝑛</m:t>
                          </m:r>
                        </m:sup>
                        <m:e>
                          <m:sSub>
                            <m:sSubPr>
                              <m:ctrlPr>
                                <a:rPr kumimoji="1" lang="en-US" altLang="ja-JP"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𝑅</m:t>
                              </m:r>
                            </m:e>
                            <m:sub>
                              <m:r>
                                <a:rPr kumimoji="1" lang="en-US" altLang="ja-JP" b="0" i="1" smtClean="0">
                                  <a:latin typeface="Cambria Math" panose="02040503050406030204" pitchFamily="18" charset="0"/>
                                  <a:ea typeface="Cambria Math" panose="02040503050406030204" pitchFamily="18" charset="0"/>
                                </a:rPr>
                                <m:t>𝑖𝑗</m:t>
                              </m:r>
                            </m:sub>
                          </m:sSub>
                          <m:sSub>
                            <m:sSubPr>
                              <m:ctrlPr>
                                <a:rPr kumimoji="1" lang="en-US" altLang="ja-JP"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𝑥</m:t>
                              </m:r>
                            </m:e>
                            <m:sub>
                              <m:r>
                                <a:rPr kumimoji="1" lang="en-US" altLang="ja-JP" b="0" i="1" smtClean="0">
                                  <a:latin typeface="Cambria Math" panose="02040503050406030204" pitchFamily="18" charset="0"/>
                                  <a:ea typeface="Cambria Math" panose="02040503050406030204" pitchFamily="18" charset="0"/>
                                </a:rPr>
                                <m:t>𝑖</m:t>
                              </m:r>
                            </m:sub>
                          </m:sSub>
                          <m:sSub>
                            <m:sSubPr>
                              <m:ctrlPr>
                                <a:rPr kumimoji="1" lang="en-US" altLang="ja-JP"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𝑥</m:t>
                              </m:r>
                            </m:e>
                            <m:sub>
                              <m:r>
                                <a:rPr kumimoji="1" lang="en-US" altLang="ja-JP" b="0" i="1" smtClean="0">
                                  <a:latin typeface="Cambria Math" panose="02040503050406030204" pitchFamily="18" charset="0"/>
                                  <a:ea typeface="Cambria Math" panose="02040503050406030204" pitchFamily="18" charset="0"/>
                                </a:rPr>
                                <m:t>𝑗</m:t>
                              </m:r>
                            </m:sub>
                          </m:sSub>
                        </m:e>
                      </m:nary>
                    </m:oMath>
                  </m:oMathPara>
                </a14:m>
                <a:endParaRPr kumimoji="1" lang="en-US" altLang="ja-JP" dirty="0"/>
              </a:p>
              <a:p>
                <a:pPr marL="1200150" lvl="2" indent="-285750">
                  <a:spcAft>
                    <a:spcPts val="600"/>
                  </a:spcAft>
                  <a:buFont typeface="Arial" panose="020B0604020202020204" pitchFamily="34" charset="0"/>
                  <a:buChar char="•"/>
                </a:pPr>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𝐼</m:t>
                        </m:r>
                      </m:e>
                      <m:sub>
                        <m:r>
                          <a:rPr kumimoji="1" lang="en-US" altLang="ja-JP" b="0" i="1" smtClean="0">
                            <a:latin typeface="Cambria Math" panose="02040503050406030204" pitchFamily="18" charset="0"/>
                          </a:rPr>
                          <m:t>𝑖</m:t>
                        </m:r>
                      </m:sub>
                    </m:sSub>
                  </m:oMath>
                </a14:m>
                <a:r>
                  <a:rPr kumimoji="1" lang="en-US" altLang="ja-JP" dirty="0"/>
                  <a:t> : </a:t>
                </a:r>
                <a:r>
                  <a:rPr kumimoji="1" lang="ja-JP" altLang="en-US"/>
                  <a:t>特徴</a:t>
                </a:r>
                <a:r>
                  <a:rPr kumimoji="1" lang="en-US" altLang="ja-JP" dirty="0"/>
                  <a:t> </a:t>
                </a:r>
                <a14:m>
                  <m:oMath xmlns:m="http://schemas.openxmlformats.org/officeDocument/2006/math">
                    <m:r>
                      <a:rPr kumimoji="1" lang="en-US" altLang="ja-JP" b="0" i="1" smtClean="0">
                        <a:latin typeface="Cambria Math" panose="02040503050406030204" pitchFamily="18" charset="0"/>
                      </a:rPr>
                      <m:t>𝑖</m:t>
                    </m:r>
                  </m:oMath>
                </a14:m>
                <a:r>
                  <a:rPr kumimoji="1" lang="en-US" altLang="ja-JP" dirty="0"/>
                  <a:t> </a:t>
                </a:r>
                <a:r>
                  <a:rPr kumimoji="1" lang="ja-JP" altLang="en-US"/>
                  <a:t>とクリックとの相互情報量（</a:t>
                </a:r>
                <a:r>
                  <a:rPr kumimoji="1" lang="en-US" altLang="ja-JP" dirty="0"/>
                  <a:t>=</a:t>
                </a:r>
                <a:r>
                  <a:rPr kumimoji="1" lang="ja-JP" altLang="en-US"/>
                  <a:t>重要度）</a:t>
                </a:r>
                <a:r>
                  <a:rPr kumimoji="1" lang="en-US" altLang="ja-JP" dirty="0"/>
                  <a:t>	</a:t>
                </a:r>
                <a:r>
                  <a:rPr kumimoji="1" lang="ja-JP" altLang="en-US"/>
                  <a:t>→</a:t>
                </a:r>
                <a:r>
                  <a:rPr kumimoji="1" lang="en-US" altLang="ja-JP" dirty="0"/>
                  <a:t> </a:t>
                </a:r>
                <a:r>
                  <a:rPr kumimoji="1" lang="ja-JP" altLang="en-US" b="1">
                    <a:solidFill>
                      <a:srgbClr val="C00000"/>
                    </a:solidFill>
                  </a:rPr>
                  <a:t>これを最大化する</a:t>
                </a:r>
                <a:endParaRPr kumimoji="1" lang="en-US" altLang="ja-JP" b="1" dirty="0">
                  <a:solidFill>
                    <a:srgbClr val="C00000"/>
                  </a:solidFill>
                </a:endParaRPr>
              </a:p>
              <a:p>
                <a:pPr marL="1200150" lvl="2" indent="-285750">
                  <a:spcAft>
                    <a:spcPts val="600"/>
                  </a:spcAft>
                  <a:buFont typeface="Arial" panose="020B0604020202020204" pitchFamily="34" charset="0"/>
                  <a:buChar char="•"/>
                </a:pPr>
                <a14:m>
                  <m:oMath xmlns:m="http://schemas.openxmlformats.org/officeDocument/2006/math">
                    <m:sSub>
                      <m:sSubPr>
                        <m:ctrlPr>
                          <a:rPr kumimoji="1" lang="en-US" altLang="ja-JP" i="1">
                            <a:latin typeface="Cambria Math" panose="02040503050406030204" pitchFamily="18" charset="0"/>
                          </a:rPr>
                        </m:ctrlPr>
                      </m:sSubPr>
                      <m:e>
                        <m:r>
                          <a:rPr kumimoji="1" lang="en-US" altLang="ja-JP" b="0" i="1" smtClean="0">
                            <a:latin typeface="Cambria Math" panose="02040503050406030204" pitchFamily="18" charset="0"/>
                          </a:rPr>
                          <m:t>𝑅</m:t>
                        </m:r>
                      </m:e>
                      <m:sub>
                        <m:r>
                          <a:rPr kumimoji="1" lang="en-US" altLang="ja-JP" i="1">
                            <a:latin typeface="Cambria Math" panose="02040503050406030204" pitchFamily="18" charset="0"/>
                          </a:rPr>
                          <m:t>𝑖</m:t>
                        </m:r>
                        <m:r>
                          <a:rPr kumimoji="1" lang="en-US" altLang="ja-JP" b="0" i="1" smtClean="0">
                            <a:latin typeface="Cambria Math" panose="02040503050406030204" pitchFamily="18" charset="0"/>
                          </a:rPr>
                          <m:t>𝑗</m:t>
                        </m:r>
                      </m:sub>
                    </m:sSub>
                  </m:oMath>
                </a14:m>
                <a:r>
                  <a:rPr kumimoji="1" lang="en-US" altLang="ja-JP" dirty="0"/>
                  <a:t> : </a:t>
                </a:r>
                <a:r>
                  <a:rPr kumimoji="1" lang="ja-JP" altLang="en-US"/>
                  <a:t>特徴</a:t>
                </a:r>
                <a:r>
                  <a:rPr kumimoji="1" lang="en-US" altLang="ja-JP" dirty="0"/>
                  <a:t> </a:t>
                </a:r>
                <a14:m>
                  <m:oMath xmlns:m="http://schemas.openxmlformats.org/officeDocument/2006/math">
                    <m:r>
                      <a:rPr kumimoji="1" lang="en-US" altLang="ja-JP" i="1">
                        <a:latin typeface="Cambria Math" panose="02040503050406030204" pitchFamily="18" charset="0"/>
                      </a:rPr>
                      <m:t>𝑖</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𝑗</m:t>
                    </m:r>
                  </m:oMath>
                </a14:m>
                <a:r>
                  <a:rPr kumimoji="1" lang="en-US" altLang="ja-JP" dirty="0"/>
                  <a:t> </a:t>
                </a:r>
                <a:r>
                  <a:rPr kumimoji="1" lang="ja-JP" altLang="en-US"/>
                  <a:t>間の相互情報量（</a:t>
                </a:r>
                <a:r>
                  <a:rPr kumimoji="1" lang="en-US" altLang="ja-JP" dirty="0"/>
                  <a:t>=</a:t>
                </a:r>
                <a:r>
                  <a:rPr kumimoji="1" lang="ja-JP" altLang="en-US"/>
                  <a:t>冗長度）</a:t>
                </a:r>
                <a:r>
                  <a:rPr kumimoji="1" lang="en-US" altLang="ja-JP" dirty="0"/>
                  <a:t>		</a:t>
                </a:r>
                <a:r>
                  <a:rPr kumimoji="1" lang="ja-JP" altLang="en-US"/>
                  <a:t>→</a:t>
                </a:r>
                <a:r>
                  <a:rPr kumimoji="1" lang="en-US" altLang="ja-JP" dirty="0"/>
                  <a:t> </a:t>
                </a:r>
                <a:r>
                  <a:rPr kumimoji="1" lang="ja-JP" altLang="en-US" b="1">
                    <a:solidFill>
                      <a:srgbClr val="C00000"/>
                    </a:solidFill>
                  </a:rPr>
                  <a:t>これを最小化する</a:t>
                </a:r>
                <a:endParaRPr kumimoji="1" lang="en-US" altLang="ja-JP" b="1" dirty="0">
                  <a:solidFill>
                    <a:srgbClr val="C00000"/>
                  </a:solidFill>
                </a:endParaRPr>
              </a:p>
              <a:p>
                <a:pPr marL="1200150" lvl="2" indent="-285750">
                  <a:spcAft>
                    <a:spcPts val="600"/>
                  </a:spcAft>
                  <a:buFont typeface="Arial" panose="020B0604020202020204" pitchFamily="34" charset="0"/>
                  <a:buChar char="•"/>
                </a:pPr>
                <a14:m>
                  <m:oMath xmlns:m="http://schemas.openxmlformats.org/officeDocument/2006/math">
                    <m:sSub>
                      <m:sSubPr>
                        <m:ctrlPr>
                          <a:rPr kumimoji="1" lang="en-US" altLang="ja-JP" i="1">
                            <a:latin typeface="Cambria Math" panose="02040503050406030204" pitchFamily="18" charset="0"/>
                          </a:rPr>
                        </m:ctrlPr>
                      </m:sSubPr>
                      <m:e>
                        <m:r>
                          <a:rPr kumimoji="1" lang="en-US" altLang="ja-JP" b="0" i="1" smtClean="0">
                            <a:latin typeface="Cambria Math" panose="02040503050406030204" pitchFamily="18" charset="0"/>
                          </a:rPr>
                          <m:t>𝑥</m:t>
                        </m:r>
                      </m:e>
                      <m:sub>
                        <m:r>
                          <a:rPr kumimoji="1" lang="en-US" altLang="ja-JP" i="1">
                            <a:latin typeface="Cambria Math" panose="02040503050406030204" pitchFamily="18" charset="0"/>
                          </a:rPr>
                          <m:t>𝑖</m:t>
                        </m:r>
                      </m:sub>
                    </m:sSub>
                  </m:oMath>
                </a14:m>
                <a:r>
                  <a:rPr kumimoji="1" lang="en-US" altLang="ja-JP" dirty="0"/>
                  <a:t> : </a:t>
                </a:r>
                <a:r>
                  <a:rPr kumimoji="1" lang="ja-JP" altLang="en-US"/>
                  <a:t>特徴</a:t>
                </a:r>
                <a:r>
                  <a:rPr kumimoji="1" lang="en-US" altLang="ja-JP" dirty="0"/>
                  <a:t> </a:t>
                </a:r>
                <a14:m>
                  <m:oMath xmlns:m="http://schemas.openxmlformats.org/officeDocument/2006/math">
                    <m:r>
                      <a:rPr kumimoji="1" lang="en-US" altLang="ja-JP" i="1">
                        <a:latin typeface="Cambria Math" panose="02040503050406030204" pitchFamily="18" charset="0"/>
                      </a:rPr>
                      <m:t>𝑖</m:t>
                    </m:r>
                  </m:oMath>
                </a14:m>
                <a:r>
                  <a:rPr kumimoji="1" lang="en-US" altLang="ja-JP" dirty="0"/>
                  <a:t> </a:t>
                </a:r>
                <a:r>
                  <a:rPr kumimoji="1" lang="ja-JP" altLang="en-US"/>
                  <a:t>が選択されるかどうか</a:t>
                </a:r>
                <a:r>
                  <a:rPr kumimoji="1" lang="en-US" altLang="ja-JP" dirty="0"/>
                  <a:t> (1 or 0)</a:t>
                </a:r>
                <a:r>
                  <a:rPr kumimoji="1" lang="ja-JP" altLang="en-US"/>
                  <a:t>、</a:t>
                </a:r>
                <a:r>
                  <a:rPr kumimoji="1" lang="en-US" altLang="ja-JP" dirty="0"/>
                  <a:t> </a:t>
                </a:r>
                <a14:m>
                  <m:oMath xmlns:m="http://schemas.openxmlformats.org/officeDocument/2006/math">
                    <m:r>
                      <a:rPr kumimoji="1" lang="en-US" altLang="ja-JP" i="1" smtClean="0">
                        <a:latin typeface="Cambria Math" panose="02040503050406030204" pitchFamily="18" charset="0"/>
                        <a:ea typeface="Cambria Math" panose="02040503050406030204" pitchFamily="18" charset="0"/>
                      </a:rPr>
                      <m:t>𝛼</m:t>
                    </m:r>
                  </m:oMath>
                </a14:m>
                <a:r>
                  <a:rPr kumimoji="1" lang="en-US" altLang="ja-JP" dirty="0"/>
                  <a:t> : </a:t>
                </a:r>
                <a:r>
                  <a:rPr kumimoji="1" lang="ja-JP" altLang="en-US"/>
                  <a:t>重み係数</a:t>
                </a:r>
              </a:p>
            </p:txBody>
          </p:sp>
        </mc:Choice>
        <mc:Fallback xmlns="">
          <p:sp>
            <p:nvSpPr>
              <p:cNvPr id="2" name="TextBox 3">
                <a:extLst>
                  <a:ext uri="{FF2B5EF4-FFF2-40B4-BE49-F238E27FC236}">
                    <a16:creationId xmlns:a16="http://schemas.microsoft.com/office/drawing/2014/main" id="{FC6B74DF-0826-3D82-731C-76D5DB3303C2}"/>
                  </a:ext>
                </a:extLst>
              </p:cNvPr>
              <p:cNvSpPr txBox="1">
                <a:spLocks noRot="1" noChangeAspect="1" noMove="1" noResize="1" noEditPoints="1" noAdjustHandles="1" noChangeArrowheads="1" noChangeShapeType="1" noTextEdit="1"/>
              </p:cNvSpPr>
              <p:nvPr/>
            </p:nvSpPr>
            <p:spPr>
              <a:xfrm>
                <a:off x="540850" y="1064709"/>
                <a:ext cx="11393591" cy="5211042"/>
              </a:xfrm>
              <a:prstGeom prst="rect">
                <a:avLst/>
              </a:prstGeom>
              <a:blipFill>
                <a:blip r:embed="rId5"/>
                <a:stretch>
                  <a:fillRect l="-557" t="-732" b="-3415"/>
                </a:stretch>
              </a:blipFill>
            </p:spPr>
            <p:txBody>
              <a:bodyPr/>
              <a:lstStyle/>
              <a:p>
                <a:r>
                  <a:rPr lang="ja-JP" altLang="en-US">
                    <a:noFill/>
                  </a:rPr>
                  <a:t> </a:t>
                </a:r>
              </a:p>
            </p:txBody>
          </p:sp>
        </mc:Fallback>
      </mc:AlternateContent>
      <p:sp>
        <p:nvSpPr>
          <p:cNvPr id="5" name="TextBox 3">
            <a:extLst>
              <a:ext uri="{FF2B5EF4-FFF2-40B4-BE49-F238E27FC236}">
                <a16:creationId xmlns:a16="http://schemas.microsoft.com/office/drawing/2014/main" id="{92C8E134-2682-F20F-75FC-89963C6521D1}"/>
              </a:ext>
            </a:extLst>
          </p:cNvPr>
          <p:cNvSpPr txBox="1"/>
          <p:nvPr/>
        </p:nvSpPr>
        <p:spPr>
          <a:xfrm>
            <a:off x="540850" y="6474715"/>
            <a:ext cx="11393591" cy="307777"/>
          </a:xfrm>
          <a:prstGeom prst="rect">
            <a:avLst/>
          </a:prstGeom>
          <a:noFill/>
        </p:spPr>
        <p:txBody>
          <a:bodyPr wrap="square" rtlCol="0">
            <a:spAutoFit/>
          </a:bodyPr>
          <a:lstStyle/>
          <a:p>
            <a:pPr>
              <a:spcAft>
                <a:spcPts val="600"/>
              </a:spcAft>
            </a:pPr>
            <a:r>
              <a:rPr kumimoji="1" lang="en-US" altLang="ja-JP" sz="1400" dirty="0"/>
              <a:t>*S. Mücke et al., “Feature selection on quantum computers,” Quantum Machine Intelligence, 2023.</a:t>
            </a:r>
          </a:p>
        </p:txBody>
      </p:sp>
      <p:sp>
        <p:nvSpPr>
          <p:cNvPr id="6" name="角丸四角形 5">
            <a:extLst>
              <a:ext uri="{FF2B5EF4-FFF2-40B4-BE49-F238E27FC236}">
                <a16:creationId xmlns:a16="http://schemas.microsoft.com/office/drawing/2014/main" id="{DC526137-87DC-1253-74A2-A7CBDA6EABB4}"/>
              </a:ext>
            </a:extLst>
          </p:cNvPr>
          <p:cNvSpPr/>
          <p:nvPr/>
        </p:nvSpPr>
        <p:spPr>
          <a:xfrm>
            <a:off x="1421107" y="3908041"/>
            <a:ext cx="7845201" cy="2434517"/>
          </a:xfrm>
          <a:prstGeom prst="roundRect">
            <a:avLst>
              <a:gd name="adj" fmla="val 5712"/>
            </a:avLst>
          </a:prstGeom>
          <a:noFill/>
          <a:ln w="4445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8" name="TextBox 3">
            <a:extLst>
              <a:ext uri="{FF2B5EF4-FFF2-40B4-BE49-F238E27FC236}">
                <a16:creationId xmlns:a16="http://schemas.microsoft.com/office/drawing/2014/main" id="{0D8B1A05-9FD7-EEB9-7FCC-13DD2EF313B0}"/>
              </a:ext>
            </a:extLst>
          </p:cNvPr>
          <p:cNvSpPr txBox="1"/>
          <p:nvPr/>
        </p:nvSpPr>
        <p:spPr>
          <a:xfrm>
            <a:off x="9266308" y="5395037"/>
            <a:ext cx="2714078" cy="954107"/>
          </a:xfrm>
          <a:prstGeom prst="rect">
            <a:avLst/>
          </a:prstGeom>
          <a:noFill/>
        </p:spPr>
        <p:txBody>
          <a:bodyPr wrap="square" rtlCol="0">
            <a:spAutoFit/>
          </a:bodyPr>
          <a:lstStyle/>
          <a:p>
            <a:pPr>
              <a:spcAft>
                <a:spcPts val="600"/>
              </a:spcAft>
            </a:pPr>
            <a:r>
              <a:rPr kumimoji="1" lang="en-US" altLang="ja-JP" sz="1400" b="1" dirty="0">
                <a:solidFill>
                  <a:schemeClr val="accent2"/>
                </a:solidFill>
              </a:rPr>
              <a:t>QUBO</a:t>
            </a:r>
            <a:r>
              <a:rPr kumimoji="1" lang="ja-JP" altLang="en-US" sz="1400" b="1">
                <a:solidFill>
                  <a:schemeClr val="accent2"/>
                </a:solidFill>
              </a:rPr>
              <a:t>式に定式化することで</a:t>
            </a:r>
            <a:br>
              <a:rPr kumimoji="1" lang="en-US" altLang="ja-JP" sz="1400" b="1" dirty="0">
                <a:solidFill>
                  <a:schemeClr val="accent2"/>
                </a:solidFill>
              </a:rPr>
            </a:br>
            <a:r>
              <a:rPr kumimoji="1" lang="ja-JP" altLang="en-US" sz="1400" b="1">
                <a:solidFill>
                  <a:schemeClr val="accent2"/>
                </a:solidFill>
              </a:rPr>
              <a:t>量子計算（量子アニーリング）によって効率的に解くことが</a:t>
            </a:r>
            <a:br>
              <a:rPr kumimoji="1" lang="en-US" altLang="ja-JP" sz="1400" b="1" dirty="0">
                <a:solidFill>
                  <a:schemeClr val="accent2"/>
                </a:solidFill>
              </a:rPr>
            </a:br>
            <a:r>
              <a:rPr kumimoji="1" lang="ja-JP" altLang="en-US" sz="1400" b="1">
                <a:solidFill>
                  <a:schemeClr val="accent2"/>
                </a:solidFill>
              </a:rPr>
              <a:t>できる問題になる</a:t>
            </a:r>
            <a:endParaRPr kumimoji="1" lang="en-US" altLang="ja-JP" sz="1400" dirty="0">
              <a:solidFill>
                <a:schemeClr val="accent2"/>
              </a:solidFill>
            </a:endParaRPr>
          </a:p>
        </p:txBody>
      </p:sp>
    </p:spTree>
    <p:extLst>
      <p:ext uri="{BB962C8B-B14F-4D97-AF65-F5344CB8AC3E}">
        <p14:creationId xmlns:p14="http://schemas.microsoft.com/office/powerpoint/2010/main" val="2781115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2DB3B-878C-6A03-6844-1E778246B45D}"/>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BB9D47DC-3152-2EC9-EAF4-4BEAD1AA4FFB}"/>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BB9D47DC-3152-2EC9-EAF4-4BEAD1AA4FF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0A4763E5-039F-0EF7-373C-A3291885CC6F}"/>
              </a:ext>
            </a:extLst>
          </p:cNvPr>
          <p:cNvSpPr>
            <a:spLocks noGrp="1"/>
          </p:cNvSpPr>
          <p:nvPr>
            <p:ph type="body" sz="quarter" idx="10"/>
          </p:nvPr>
        </p:nvSpPr>
        <p:spPr/>
        <p:txBody>
          <a:bodyPr>
            <a:noAutofit/>
          </a:bodyPr>
          <a:lstStyle/>
          <a:p>
            <a:r>
              <a:rPr lang="ja-JP" altLang="en-US"/>
              <a:t>量子特徴量選択により選ばれた特徴量を用いたモデル学習のための全体パイプライン</a:t>
            </a:r>
            <a:endParaRPr lang="ja-JP" altLang="en-US" dirty="0"/>
          </a:p>
        </p:txBody>
      </p:sp>
      <p:sp>
        <p:nvSpPr>
          <p:cNvPr id="3" name="Slide Number Placeholder 2">
            <a:extLst>
              <a:ext uri="{FF2B5EF4-FFF2-40B4-BE49-F238E27FC236}">
                <a16:creationId xmlns:a16="http://schemas.microsoft.com/office/drawing/2014/main" id="{B4F54BE7-F78E-FA9C-B6FA-ED805C2ECA6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pic>
        <p:nvPicPr>
          <p:cNvPr id="8" name="図 7" descr="ダイアグラム&#10;&#10;AI 生成コンテンツは誤りを含む可能性があります。">
            <a:extLst>
              <a:ext uri="{FF2B5EF4-FFF2-40B4-BE49-F238E27FC236}">
                <a16:creationId xmlns:a16="http://schemas.microsoft.com/office/drawing/2014/main" id="{BDDDF664-0CD1-7FF0-8869-6AC6327AC9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88137" y="1140051"/>
            <a:ext cx="10184503" cy="5546399"/>
          </a:xfrm>
          <a:prstGeom prst="rect">
            <a:avLst/>
          </a:prstGeom>
        </p:spPr>
      </p:pic>
      <p:sp>
        <p:nvSpPr>
          <p:cNvPr id="11" name="TextBox 3">
            <a:extLst>
              <a:ext uri="{FF2B5EF4-FFF2-40B4-BE49-F238E27FC236}">
                <a16:creationId xmlns:a16="http://schemas.microsoft.com/office/drawing/2014/main" id="{C5FC6466-89B3-A99D-85EB-8FBFC0DC5C3B}"/>
              </a:ext>
            </a:extLst>
          </p:cNvPr>
          <p:cNvSpPr txBox="1"/>
          <p:nvPr/>
        </p:nvSpPr>
        <p:spPr>
          <a:xfrm>
            <a:off x="1188137" y="2710079"/>
            <a:ext cx="599893" cy="338554"/>
          </a:xfrm>
          <a:prstGeom prst="rect">
            <a:avLst/>
          </a:prstGeom>
          <a:noFill/>
        </p:spPr>
        <p:txBody>
          <a:bodyPr wrap="square" rtlCol="0">
            <a:spAutoFit/>
          </a:bodyPr>
          <a:lstStyle/>
          <a:p>
            <a:pPr>
              <a:spcAft>
                <a:spcPts val="600"/>
              </a:spcAft>
            </a:pPr>
            <a:r>
              <a:rPr kumimoji="1" lang="ja-JP" altLang="en-US" sz="1600" b="1">
                <a:solidFill>
                  <a:srgbClr val="C00000"/>
                </a:solidFill>
              </a:rPr>
              <a:t>入力</a:t>
            </a:r>
            <a:endParaRPr kumimoji="1" lang="en-US" altLang="ja-JP" sz="1600" dirty="0">
              <a:solidFill>
                <a:srgbClr val="C00000"/>
              </a:solidFill>
            </a:endParaRPr>
          </a:p>
        </p:txBody>
      </p:sp>
      <p:sp>
        <p:nvSpPr>
          <p:cNvPr id="12" name="TextBox 3">
            <a:extLst>
              <a:ext uri="{FF2B5EF4-FFF2-40B4-BE49-F238E27FC236}">
                <a16:creationId xmlns:a16="http://schemas.microsoft.com/office/drawing/2014/main" id="{53C43D35-4E5F-CAAE-CE1C-C82AE986EF3D}"/>
              </a:ext>
            </a:extLst>
          </p:cNvPr>
          <p:cNvSpPr txBox="1"/>
          <p:nvPr/>
        </p:nvSpPr>
        <p:spPr>
          <a:xfrm>
            <a:off x="1761822" y="1464905"/>
            <a:ext cx="1138632" cy="830997"/>
          </a:xfrm>
          <a:prstGeom prst="rect">
            <a:avLst/>
          </a:prstGeom>
          <a:noFill/>
        </p:spPr>
        <p:txBody>
          <a:bodyPr wrap="square" rtlCol="0">
            <a:spAutoFit/>
          </a:bodyPr>
          <a:lstStyle/>
          <a:p>
            <a:pPr>
              <a:spcAft>
                <a:spcPts val="600"/>
              </a:spcAft>
            </a:pPr>
            <a:r>
              <a:rPr kumimoji="1" lang="ja-JP" altLang="en-US" sz="1200" b="1">
                <a:solidFill>
                  <a:srgbClr val="C00000"/>
                </a:solidFill>
              </a:rPr>
              <a:t>顧客マスタ・</a:t>
            </a:r>
            <a:br>
              <a:rPr kumimoji="1" lang="en-US" altLang="ja-JP" sz="1200" b="1" dirty="0">
                <a:solidFill>
                  <a:srgbClr val="C00000"/>
                </a:solidFill>
              </a:rPr>
            </a:br>
            <a:r>
              <a:rPr kumimoji="1" lang="ja-JP" altLang="en-US" sz="1200" b="1">
                <a:solidFill>
                  <a:srgbClr val="C00000"/>
                </a:solidFill>
              </a:rPr>
              <a:t>広告マスタ・</a:t>
            </a:r>
            <a:br>
              <a:rPr kumimoji="1" lang="en-US" altLang="ja-JP" sz="1200" b="1" dirty="0">
                <a:solidFill>
                  <a:srgbClr val="C00000"/>
                </a:solidFill>
              </a:rPr>
            </a:br>
            <a:r>
              <a:rPr kumimoji="1" lang="ja-JP" altLang="en-US" sz="1200" b="1">
                <a:solidFill>
                  <a:srgbClr val="C00000"/>
                </a:solidFill>
              </a:rPr>
              <a:t>クリック履歴</a:t>
            </a:r>
            <a:br>
              <a:rPr kumimoji="1" lang="en-US" altLang="ja-JP" sz="1200" b="1" dirty="0">
                <a:solidFill>
                  <a:srgbClr val="C00000"/>
                </a:solidFill>
              </a:rPr>
            </a:br>
            <a:r>
              <a:rPr kumimoji="1" lang="ja-JP" altLang="en-US" sz="1200" b="1">
                <a:solidFill>
                  <a:srgbClr val="C00000"/>
                </a:solidFill>
              </a:rPr>
              <a:t>データ結合</a:t>
            </a:r>
            <a:endParaRPr kumimoji="1" lang="en-US" altLang="ja-JP" sz="1200" dirty="0">
              <a:solidFill>
                <a:srgbClr val="C00000"/>
              </a:solidFill>
            </a:endParaRPr>
          </a:p>
        </p:txBody>
      </p:sp>
      <p:sp>
        <p:nvSpPr>
          <p:cNvPr id="14" name="TextBox 3">
            <a:extLst>
              <a:ext uri="{FF2B5EF4-FFF2-40B4-BE49-F238E27FC236}">
                <a16:creationId xmlns:a16="http://schemas.microsoft.com/office/drawing/2014/main" id="{41D99A77-CB0D-50BF-B247-0B3AFFD1BB4F}"/>
              </a:ext>
            </a:extLst>
          </p:cNvPr>
          <p:cNvSpPr txBox="1"/>
          <p:nvPr/>
        </p:nvSpPr>
        <p:spPr>
          <a:xfrm>
            <a:off x="2972286" y="1604587"/>
            <a:ext cx="1256086" cy="646331"/>
          </a:xfrm>
          <a:prstGeom prst="rect">
            <a:avLst/>
          </a:prstGeom>
          <a:noFill/>
        </p:spPr>
        <p:txBody>
          <a:bodyPr wrap="square" rtlCol="0">
            <a:spAutoFit/>
          </a:bodyPr>
          <a:lstStyle/>
          <a:p>
            <a:pPr>
              <a:spcAft>
                <a:spcPts val="600"/>
              </a:spcAft>
            </a:pPr>
            <a:r>
              <a:rPr kumimoji="1" lang="en-US" altLang="ja-JP" sz="1200" b="1" dirty="0">
                <a:solidFill>
                  <a:srgbClr val="C00000"/>
                </a:solidFill>
              </a:rPr>
              <a:t>QFS</a:t>
            </a:r>
            <a:r>
              <a:rPr kumimoji="1" lang="ja-JP" altLang="en-US" sz="1200" b="1">
                <a:solidFill>
                  <a:srgbClr val="C00000"/>
                </a:solidFill>
              </a:rPr>
              <a:t>法による</a:t>
            </a:r>
            <a:br>
              <a:rPr kumimoji="1" lang="en-US" altLang="ja-JP" sz="1200" b="1" dirty="0">
                <a:solidFill>
                  <a:srgbClr val="C00000"/>
                </a:solidFill>
              </a:rPr>
            </a:br>
            <a:r>
              <a:rPr kumimoji="1" lang="ja-JP" altLang="en-US" sz="1200" b="1">
                <a:solidFill>
                  <a:srgbClr val="C00000"/>
                </a:solidFill>
              </a:rPr>
              <a:t>量子特徴量選択</a:t>
            </a:r>
            <a:br>
              <a:rPr kumimoji="1" lang="en-US" altLang="ja-JP" sz="1200" b="1" dirty="0">
                <a:solidFill>
                  <a:srgbClr val="C00000"/>
                </a:solidFill>
              </a:rPr>
            </a:br>
            <a:r>
              <a:rPr kumimoji="1" lang="en-US" altLang="ja-JP" sz="1200" b="1" dirty="0">
                <a:solidFill>
                  <a:srgbClr val="C00000"/>
                </a:solidFill>
              </a:rPr>
              <a:t>(</a:t>
            </a:r>
            <a:r>
              <a:rPr kumimoji="1" lang="ja-JP" altLang="en-US" sz="1200" b="1">
                <a:solidFill>
                  <a:srgbClr val="C00000"/>
                </a:solidFill>
              </a:rPr>
              <a:t>参照</a:t>
            </a:r>
            <a:r>
              <a:rPr kumimoji="1" lang="en-US" altLang="ja-JP" sz="1200" b="1" dirty="0">
                <a:solidFill>
                  <a:srgbClr val="C00000"/>
                </a:solidFill>
              </a:rPr>
              <a:t>: P7)</a:t>
            </a:r>
            <a:endParaRPr kumimoji="1" lang="en-US" altLang="ja-JP" sz="1200" dirty="0">
              <a:solidFill>
                <a:srgbClr val="C00000"/>
              </a:solidFill>
            </a:endParaRPr>
          </a:p>
        </p:txBody>
      </p:sp>
      <p:sp>
        <p:nvSpPr>
          <p:cNvPr id="15" name="TextBox 3">
            <a:extLst>
              <a:ext uri="{FF2B5EF4-FFF2-40B4-BE49-F238E27FC236}">
                <a16:creationId xmlns:a16="http://schemas.microsoft.com/office/drawing/2014/main" id="{C842850C-6D00-406F-D7F6-11876A3FC0ED}"/>
              </a:ext>
            </a:extLst>
          </p:cNvPr>
          <p:cNvSpPr txBox="1"/>
          <p:nvPr/>
        </p:nvSpPr>
        <p:spPr>
          <a:xfrm>
            <a:off x="4190516" y="1815226"/>
            <a:ext cx="1645338" cy="461665"/>
          </a:xfrm>
          <a:prstGeom prst="rect">
            <a:avLst/>
          </a:prstGeom>
          <a:noFill/>
        </p:spPr>
        <p:txBody>
          <a:bodyPr wrap="square" rtlCol="0">
            <a:spAutoFit/>
          </a:bodyPr>
          <a:lstStyle/>
          <a:p>
            <a:pPr>
              <a:spcAft>
                <a:spcPts val="600"/>
              </a:spcAft>
            </a:pPr>
            <a:r>
              <a:rPr kumimoji="1" lang="ja-JP" altLang="en-US" sz="1200" b="1">
                <a:solidFill>
                  <a:srgbClr val="C00000"/>
                </a:solidFill>
              </a:rPr>
              <a:t>ダウンサンプリングとデータ分割</a:t>
            </a:r>
            <a:endParaRPr kumimoji="1" lang="en-US" altLang="ja-JP" sz="1200" dirty="0">
              <a:solidFill>
                <a:srgbClr val="C00000"/>
              </a:solidFill>
            </a:endParaRPr>
          </a:p>
        </p:txBody>
      </p:sp>
      <p:sp>
        <p:nvSpPr>
          <p:cNvPr id="16" name="TextBox 3">
            <a:extLst>
              <a:ext uri="{FF2B5EF4-FFF2-40B4-BE49-F238E27FC236}">
                <a16:creationId xmlns:a16="http://schemas.microsoft.com/office/drawing/2014/main" id="{4ED685AF-1308-5B5E-BB86-C72A262A6A49}"/>
              </a:ext>
            </a:extLst>
          </p:cNvPr>
          <p:cNvSpPr txBox="1"/>
          <p:nvPr/>
        </p:nvSpPr>
        <p:spPr>
          <a:xfrm>
            <a:off x="7671447" y="5939269"/>
            <a:ext cx="1082332" cy="338554"/>
          </a:xfrm>
          <a:prstGeom prst="rect">
            <a:avLst/>
          </a:prstGeom>
          <a:noFill/>
        </p:spPr>
        <p:txBody>
          <a:bodyPr wrap="square" rtlCol="0">
            <a:spAutoFit/>
          </a:bodyPr>
          <a:lstStyle/>
          <a:p>
            <a:pPr>
              <a:spcAft>
                <a:spcPts val="600"/>
              </a:spcAft>
            </a:pPr>
            <a:r>
              <a:rPr kumimoji="1" lang="ja-JP" altLang="en-US" sz="1600" b="1">
                <a:solidFill>
                  <a:srgbClr val="C00000"/>
                </a:solidFill>
              </a:rPr>
              <a:t>結果分析</a:t>
            </a:r>
            <a:endParaRPr kumimoji="1" lang="en-US" altLang="ja-JP" sz="1600" dirty="0">
              <a:solidFill>
                <a:srgbClr val="C00000"/>
              </a:solidFill>
            </a:endParaRPr>
          </a:p>
        </p:txBody>
      </p:sp>
      <p:sp>
        <p:nvSpPr>
          <p:cNvPr id="17" name="TextBox 3">
            <a:extLst>
              <a:ext uri="{FF2B5EF4-FFF2-40B4-BE49-F238E27FC236}">
                <a16:creationId xmlns:a16="http://schemas.microsoft.com/office/drawing/2014/main" id="{5F5B604B-240E-E548-7FF1-1164CC1A49E2}"/>
              </a:ext>
            </a:extLst>
          </p:cNvPr>
          <p:cNvSpPr txBox="1"/>
          <p:nvPr/>
        </p:nvSpPr>
        <p:spPr>
          <a:xfrm>
            <a:off x="6158125" y="1808431"/>
            <a:ext cx="638719" cy="338554"/>
          </a:xfrm>
          <a:prstGeom prst="rect">
            <a:avLst/>
          </a:prstGeom>
          <a:noFill/>
        </p:spPr>
        <p:txBody>
          <a:bodyPr wrap="square" rtlCol="0">
            <a:spAutoFit/>
          </a:bodyPr>
          <a:lstStyle/>
          <a:p>
            <a:pPr>
              <a:spcAft>
                <a:spcPts val="600"/>
              </a:spcAft>
            </a:pPr>
            <a:r>
              <a:rPr kumimoji="1" lang="ja-JP" altLang="en-US" sz="1600" b="1">
                <a:solidFill>
                  <a:srgbClr val="C00000"/>
                </a:solidFill>
              </a:rPr>
              <a:t>学習</a:t>
            </a:r>
            <a:endParaRPr kumimoji="1" lang="en-US" altLang="ja-JP" sz="1600" dirty="0">
              <a:solidFill>
                <a:srgbClr val="C00000"/>
              </a:solidFill>
            </a:endParaRPr>
          </a:p>
        </p:txBody>
      </p:sp>
      <p:sp>
        <p:nvSpPr>
          <p:cNvPr id="18" name="TextBox 3">
            <a:extLst>
              <a:ext uri="{FF2B5EF4-FFF2-40B4-BE49-F238E27FC236}">
                <a16:creationId xmlns:a16="http://schemas.microsoft.com/office/drawing/2014/main" id="{200FE404-2C1C-4D88-FB4B-C0A54742B5F4}"/>
              </a:ext>
            </a:extLst>
          </p:cNvPr>
          <p:cNvSpPr txBox="1"/>
          <p:nvPr/>
        </p:nvSpPr>
        <p:spPr>
          <a:xfrm>
            <a:off x="7694743" y="1808431"/>
            <a:ext cx="638719" cy="338554"/>
          </a:xfrm>
          <a:prstGeom prst="rect">
            <a:avLst/>
          </a:prstGeom>
          <a:noFill/>
        </p:spPr>
        <p:txBody>
          <a:bodyPr wrap="square" rtlCol="0">
            <a:spAutoFit/>
          </a:bodyPr>
          <a:lstStyle/>
          <a:p>
            <a:pPr>
              <a:spcAft>
                <a:spcPts val="600"/>
              </a:spcAft>
            </a:pPr>
            <a:r>
              <a:rPr kumimoji="1" lang="ja-JP" altLang="en-US" sz="1600" b="1">
                <a:solidFill>
                  <a:srgbClr val="C00000"/>
                </a:solidFill>
              </a:rPr>
              <a:t>評価</a:t>
            </a:r>
            <a:endParaRPr kumimoji="1" lang="en-US" altLang="ja-JP" sz="1600" dirty="0">
              <a:solidFill>
                <a:srgbClr val="C00000"/>
              </a:solidFill>
            </a:endParaRPr>
          </a:p>
        </p:txBody>
      </p:sp>
      <p:sp>
        <p:nvSpPr>
          <p:cNvPr id="19" name="TextBox 3">
            <a:extLst>
              <a:ext uri="{FF2B5EF4-FFF2-40B4-BE49-F238E27FC236}">
                <a16:creationId xmlns:a16="http://schemas.microsoft.com/office/drawing/2014/main" id="{0A78FD04-1B65-7206-084F-5BBB44D9055D}"/>
              </a:ext>
            </a:extLst>
          </p:cNvPr>
          <p:cNvSpPr txBox="1"/>
          <p:nvPr/>
        </p:nvSpPr>
        <p:spPr>
          <a:xfrm>
            <a:off x="9128468" y="1808431"/>
            <a:ext cx="1040592" cy="338554"/>
          </a:xfrm>
          <a:prstGeom prst="rect">
            <a:avLst/>
          </a:prstGeom>
          <a:noFill/>
        </p:spPr>
        <p:txBody>
          <a:bodyPr wrap="square" rtlCol="0">
            <a:spAutoFit/>
          </a:bodyPr>
          <a:lstStyle/>
          <a:p>
            <a:pPr>
              <a:spcAft>
                <a:spcPts val="600"/>
              </a:spcAft>
            </a:pPr>
            <a:r>
              <a:rPr kumimoji="1" lang="ja-JP" altLang="en-US" sz="1600" b="1">
                <a:solidFill>
                  <a:srgbClr val="C00000"/>
                </a:solidFill>
              </a:rPr>
              <a:t>予測分析</a:t>
            </a:r>
            <a:endParaRPr kumimoji="1" lang="en-US" altLang="ja-JP" sz="1600" dirty="0">
              <a:solidFill>
                <a:srgbClr val="C00000"/>
              </a:solidFill>
            </a:endParaRPr>
          </a:p>
        </p:txBody>
      </p:sp>
      <p:sp>
        <p:nvSpPr>
          <p:cNvPr id="21" name="四角形吹き出し 20">
            <a:extLst>
              <a:ext uri="{FF2B5EF4-FFF2-40B4-BE49-F238E27FC236}">
                <a16:creationId xmlns:a16="http://schemas.microsoft.com/office/drawing/2014/main" id="{7D114C55-EA7B-D0F6-8B90-D4212F4C069E}"/>
              </a:ext>
            </a:extLst>
          </p:cNvPr>
          <p:cNvSpPr/>
          <p:nvPr/>
        </p:nvSpPr>
        <p:spPr>
          <a:xfrm>
            <a:off x="864733" y="3932291"/>
            <a:ext cx="4971121" cy="2345532"/>
          </a:xfrm>
          <a:prstGeom prst="wedgeRectCallout">
            <a:avLst>
              <a:gd name="adj1" fmla="val 30069"/>
              <a:gd name="adj2" fmla="val -70624"/>
            </a:avLst>
          </a:prstGeom>
          <a:ln w="25400"/>
        </p:spPr>
        <p:style>
          <a:lnRef idx="2">
            <a:schemeClr val="accent2"/>
          </a:lnRef>
          <a:fillRef idx="1">
            <a:schemeClr val="lt1"/>
          </a:fillRef>
          <a:effectRef idx="0">
            <a:schemeClr val="accent2"/>
          </a:effectRef>
          <a:fontRef idx="minor">
            <a:schemeClr val="dk1"/>
          </a:fontRef>
        </p:style>
        <p:txBody>
          <a:bodyPr rtlCol="0" anchor="ctr"/>
          <a:lstStyle/>
          <a:p>
            <a:r>
              <a:rPr kumimoji="1" lang="ja-JP" altLang="en-US" sz="1200" b="1"/>
              <a:t>課題・解決策</a:t>
            </a:r>
            <a:r>
              <a:rPr kumimoji="1" lang="en-US" altLang="ja-JP" sz="1200" b="1" dirty="0"/>
              <a:t>: </a:t>
            </a:r>
            <a:r>
              <a:rPr kumimoji="1" lang="ja-JP" altLang="en-US" sz="1200"/>
              <a:t>クリック履歴のデータセットは、クリック数</a:t>
            </a:r>
            <a:r>
              <a:rPr kumimoji="1" lang="en-US" altLang="ja-JP" sz="1200" dirty="0"/>
              <a:t>:</a:t>
            </a:r>
            <a:r>
              <a:rPr kumimoji="1" lang="ja-JP" altLang="en-US" sz="1200"/>
              <a:t>非クリック数</a:t>
            </a:r>
            <a:r>
              <a:rPr kumimoji="1" lang="en-US" altLang="ja-JP" sz="1200" dirty="0"/>
              <a:t>=1:48 </a:t>
            </a:r>
            <a:r>
              <a:rPr kumimoji="1" lang="ja-JP" altLang="en-US" sz="1200"/>
              <a:t>のように偏りがある不均衡なデータである。不均衡データでは少数派のクラスを適切に学習・予測できない問題がある。「ダウンサンプリング手法」を適用して、均衡に近いデータ分布にする。</a:t>
            </a:r>
            <a:br>
              <a:rPr kumimoji="1" lang="en-US" altLang="ja-JP" sz="1200" dirty="0"/>
            </a:br>
            <a:endParaRPr kumimoji="1" lang="en-US" altLang="ja-JP" sz="1200" dirty="0"/>
          </a:p>
          <a:p>
            <a:endParaRPr kumimoji="1" lang="en-US" altLang="ja-JP" sz="1200" dirty="0"/>
          </a:p>
          <a:p>
            <a:endParaRPr kumimoji="1" lang="en-US" altLang="ja-JP" sz="1200" dirty="0"/>
          </a:p>
          <a:p>
            <a:endParaRPr kumimoji="1" lang="en-US" altLang="ja-JP" sz="1200" dirty="0"/>
          </a:p>
          <a:p>
            <a:endParaRPr kumimoji="1" lang="en-US" altLang="ja-JP" sz="1200" dirty="0"/>
          </a:p>
          <a:p>
            <a:endParaRPr kumimoji="1" lang="en-US" altLang="ja-JP" sz="1200" dirty="0"/>
          </a:p>
          <a:p>
            <a:endParaRPr kumimoji="1" lang="en-US" altLang="ja-JP" sz="1200" dirty="0"/>
          </a:p>
          <a:p>
            <a:r>
              <a:rPr kumimoji="1" lang="ja-JP" altLang="en-US" sz="1200"/>
              <a:t>また、データセットを</a:t>
            </a:r>
            <a:r>
              <a:rPr kumimoji="1" lang="en-US" altLang="ja-JP" sz="1200" dirty="0"/>
              <a:t> </a:t>
            </a:r>
            <a:r>
              <a:rPr kumimoji="1" lang="ja-JP" altLang="en-US" sz="1200"/>
              <a:t>学習用</a:t>
            </a:r>
            <a:r>
              <a:rPr kumimoji="1" lang="en-US" altLang="ja-JP" sz="1200" dirty="0"/>
              <a:t>:</a:t>
            </a:r>
            <a:r>
              <a:rPr kumimoji="1" lang="ja-JP" altLang="en-US" sz="1200"/>
              <a:t>評価用</a:t>
            </a:r>
            <a:r>
              <a:rPr kumimoji="1" lang="en-US" altLang="ja-JP" sz="1200" dirty="0"/>
              <a:t> = 80:20 </a:t>
            </a:r>
            <a:r>
              <a:rPr kumimoji="1" lang="ja-JP" altLang="en-US" sz="1200"/>
              <a:t>となるように分割する</a:t>
            </a:r>
            <a:endParaRPr kumimoji="1" lang="en-US" altLang="ja-JP" sz="1200" dirty="0"/>
          </a:p>
        </p:txBody>
      </p:sp>
      <p:pic>
        <p:nvPicPr>
          <p:cNvPr id="10" name="図 9" descr="テーブル が含まれている画像&#10;&#10;AI 生成コンテンツは誤りを含む可能性があります。">
            <a:extLst>
              <a:ext uri="{FF2B5EF4-FFF2-40B4-BE49-F238E27FC236}">
                <a16:creationId xmlns:a16="http://schemas.microsoft.com/office/drawing/2014/main" id="{045A3C74-ABFC-2AC3-E382-A75041EAADD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54047" y="4768098"/>
            <a:ext cx="4368153" cy="1081096"/>
          </a:xfrm>
          <a:prstGeom prst="rect">
            <a:avLst/>
          </a:prstGeom>
        </p:spPr>
      </p:pic>
    </p:spTree>
    <p:extLst>
      <p:ext uri="{BB962C8B-B14F-4D97-AF65-F5344CB8AC3E}">
        <p14:creationId xmlns:p14="http://schemas.microsoft.com/office/powerpoint/2010/main" val="3117183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E1B9B06-1D72-0D49-987A-71A463372B6A}"/>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3" name="テキスト プレースホルダー 2">
            <a:extLst>
              <a:ext uri="{FF2B5EF4-FFF2-40B4-BE49-F238E27FC236}">
                <a16:creationId xmlns:a16="http://schemas.microsoft.com/office/drawing/2014/main" id="{97A21995-CED0-6E83-EF05-4DA9BE26BA18}"/>
              </a:ext>
            </a:extLst>
          </p:cNvPr>
          <p:cNvSpPr>
            <a:spLocks noGrp="1"/>
          </p:cNvSpPr>
          <p:nvPr>
            <p:ph type="body" sz="quarter" idx="10"/>
          </p:nvPr>
        </p:nvSpPr>
        <p:spPr/>
        <p:txBody>
          <a:bodyPr/>
          <a:lstStyle/>
          <a:p>
            <a:r>
              <a:rPr kumimoji="1" lang="ja-JP" altLang="en-US"/>
              <a:t>本アルゴリズムにおけるデータフロー例</a:t>
            </a:r>
          </a:p>
        </p:txBody>
      </p:sp>
      <p:sp>
        <p:nvSpPr>
          <p:cNvPr id="4" name="Rectangle 11">
            <a:extLst>
              <a:ext uri="{FF2B5EF4-FFF2-40B4-BE49-F238E27FC236}">
                <a16:creationId xmlns:a16="http://schemas.microsoft.com/office/drawing/2014/main" id="{FCA13E8E-1021-64FD-F801-1281A627B3B7}"/>
              </a:ext>
            </a:extLst>
          </p:cNvPr>
          <p:cNvSpPr/>
          <p:nvPr/>
        </p:nvSpPr>
        <p:spPr>
          <a:xfrm>
            <a:off x="438892" y="1313398"/>
            <a:ext cx="3000428" cy="417056"/>
          </a:xfrm>
          <a:prstGeom prst="rect">
            <a:avLst/>
          </a:prstGeom>
          <a:solidFill>
            <a:srgbClr val="C4F2F3">
              <a:alpha val="60000"/>
            </a:srgbClr>
          </a:solidFill>
          <a:ln>
            <a:solidFill>
              <a:srgbClr val="52D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①</a:t>
            </a:r>
            <a:r>
              <a:rPr kumimoji="1" lang="ja-JP" altLang="en-US" b="1">
                <a:solidFill>
                  <a:schemeClr val="tx1"/>
                </a:solidFill>
              </a:rPr>
              <a:t>生データ</a:t>
            </a:r>
          </a:p>
        </p:txBody>
      </p:sp>
      <p:sp>
        <p:nvSpPr>
          <p:cNvPr id="7" name="Rectangle 15">
            <a:extLst>
              <a:ext uri="{FF2B5EF4-FFF2-40B4-BE49-F238E27FC236}">
                <a16:creationId xmlns:a16="http://schemas.microsoft.com/office/drawing/2014/main" id="{BFB18411-A5A0-E49D-B114-71E65B859D19}"/>
              </a:ext>
            </a:extLst>
          </p:cNvPr>
          <p:cNvSpPr/>
          <p:nvPr/>
        </p:nvSpPr>
        <p:spPr>
          <a:xfrm>
            <a:off x="438892" y="1726180"/>
            <a:ext cx="3000428" cy="3822422"/>
          </a:xfrm>
          <a:prstGeom prst="rect">
            <a:avLst/>
          </a:prstGeom>
          <a:noFill/>
          <a:ln>
            <a:solidFill>
              <a:srgbClr val="52D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Rectangle 11">
            <a:extLst>
              <a:ext uri="{FF2B5EF4-FFF2-40B4-BE49-F238E27FC236}">
                <a16:creationId xmlns:a16="http://schemas.microsoft.com/office/drawing/2014/main" id="{205F4354-978F-5001-AFC4-0DFFE81AF184}"/>
              </a:ext>
            </a:extLst>
          </p:cNvPr>
          <p:cNvSpPr/>
          <p:nvPr/>
        </p:nvSpPr>
        <p:spPr>
          <a:xfrm>
            <a:off x="4552988" y="1313399"/>
            <a:ext cx="3000428" cy="417056"/>
          </a:xfrm>
          <a:prstGeom prst="rect">
            <a:avLst/>
          </a:prstGeom>
          <a:solidFill>
            <a:srgbClr val="C4F2F3">
              <a:alpha val="60000"/>
            </a:srgbClr>
          </a:solidFill>
          <a:ln>
            <a:solidFill>
              <a:srgbClr val="52D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②</a:t>
            </a:r>
            <a:r>
              <a:rPr kumimoji="1" lang="ja-JP" altLang="en-US" b="1">
                <a:solidFill>
                  <a:schemeClr val="tx1"/>
                </a:solidFill>
              </a:rPr>
              <a:t>中間データ</a:t>
            </a:r>
          </a:p>
        </p:txBody>
      </p:sp>
      <p:sp>
        <p:nvSpPr>
          <p:cNvPr id="19" name="Rectangle 15">
            <a:extLst>
              <a:ext uri="{FF2B5EF4-FFF2-40B4-BE49-F238E27FC236}">
                <a16:creationId xmlns:a16="http://schemas.microsoft.com/office/drawing/2014/main" id="{9DF2CB67-49D1-15CA-D35E-89646356DC52}"/>
              </a:ext>
            </a:extLst>
          </p:cNvPr>
          <p:cNvSpPr/>
          <p:nvPr/>
        </p:nvSpPr>
        <p:spPr>
          <a:xfrm>
            <a:off x="4552988" y="1726180"/>
            <a:ext cx="3000428" cy="3822423"/>
          </a:xfrm>
          <a:prstGeom prst="rect">
            <a:avLst/>
          </a:prstGeom>
          <a:noFill/>
          <a:ln>
            <a:solidFill>
              <a:srgbClr val="52D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8440999C-EB3E-CDDC-94D7-20128B9CC9A6}"/>
              </a:ext>
            </a:extLst>
          </p:cNvPr>
          <p:cNvSpPr txBox="1"/>
          <p:nvPr/>
        </p:nvSpPr>
        <p:spPr>
          <a:xfrm>
            <a:off x="645438" y="1920201"/>
            <a:ext cx="2509866" cy="1111843"/>
          </a:xfrm>
          <a:prstGeom prst="rect">
            <a:avLst/>
          </a:prstGeom>
          <a:noFill/>
        </p:spPr>
        <p:txBody>
          <a:bodyPr wrap="square" rtlCol="0">
            <a:spAutoFit/>
          </a:bodyPr>
          <a:lstStyle/>
          <a:p>
            <a:pPr marL="185738" indent="-185738">
              <a:lnSpc>
                <a:spcPct val="120000"/>
              </a:lnSpc>
              <a:buFont typeface="Arial" panose="020B0604020202020204" pitchFamily="34" charset="0"/>
              <a:buChar char="•"/>
            </a:pPr>
            <a:r>
              <a:rPr kumimoji="1" lang="ja-JP" altLang="en-US" sz="1400"/>
              <a:t>検証に利用する生データ</a:t>
            </a:r>
            <a:endParaRPr kumimoji="1" lang="en-US" altLang="ja-JP" sz="1400" dirty="0"/>
          </a:p>
          <a:p>
            <a:pPr marL="185738" indent="-185738">
              <a:lnSpc>
                <a:spcPct val="120000"/>
              </a:lnSpc>
              <a:buFont typeface="Arial" panose="020B0604020202020204" pitchFamily="34" charset="0"/>
              <a:buChar char="•"/>
            </a:pPr>
            <a:r>
              <a:rPr kumimoji="1" lang="ja-JP" altLang="en-US" sz="1400"/>
              <a:t>顧客マスタや広告マスタ、トランザクションデータ等</a:t>
            </a:r>
            <a:endParaRPr kumimoji="1" lang="en-US" altLang="ja-JP" sz="1400" dirty="0"/>
          </a:p>
          <a:p>
            <a:pPr marL="185738" indent="-185738">
              <a:lnSpc>
                <a:spcPct val="120000"/>
              </a:lnSpc>
              <a:buFont typeface="Arial" panose="020B0604020202020204" pitchFamily="34" charset="0"/>
              <a:buChar char="•"/>
            </a:pPr>
            <a:r>
              <a:rPr kumimoji="1" lang="ja-JP" altLang="en-US" sz="1400" b="1"/>
              <a:t>個人情報に該当する</a:t>
            </a:r>
          </a:p>
        </p:txBody>
      </p:sp>
      <p:graphicFrame>
        <p:nvGraphicFramePr>
          <p:cNvPr id="23" name="表 22">
            <a:extLst>
              <a:ext uri="{FF2B5EF4-FFF2-40B4-BE49-F238E27FC236}">
                <a16:creationId xmlns:a16="http://schemas.microsoft.com/office/drawing/2014/main" id="{78FEC90D-B0CC-6B83-B66D-0D00FB961BD9}"/>
              </a:ext>
            </a:extLst>
          </p:cNvPr>
          <p:cNvGraphicFramePr>
            <a:graphicFrameLocks noGrp="1"/>
          </p:cNvGraphicFramePr>
          <p:nvPr>
            <p:extLst>
              <p:ext uri="{D42A27DB-BD31-4B8C-83A1-F6EECF244321}">
                <p14:modId xmlns:p14="http://schemas.microsoft.com/office/powerpoint/2010/main" val="2502743782"/>
              </p:ext>
            </p:extLst>
          </p:nvPr>
        </p:nvGraphicFramePr>
        <p:xfrm>
          <a:off x="645438" y="3496921"/>
          <a:ext cx="2587336" cy="1640904"/>
        </p:xfrm>
        <a:graphic>
          <a:graphicData uri="http://schemas.openxmlformats.org/drawingml/2006/table">
            <a:tbl>
              <a:tblPr firstRow="1" bandRow="1">
                <a:tableStyleId>{5C22544A-7EE6-4342-B048-85BDC9FD1C3A}</a:tableStyleId>
              </a:tblPr>
              <a:tblGrid>
                <a:gridCol w="305519">
                  <a:extLst>
                    <a:ext uri="{9D8B030D-6E8A-4147-A177-3AD203B41FA5}">
                      <a16:colId xmlns:a16="http://schemas.microsoft.com/office/drawing/2014/main" val="4282174556"/>
                    </a:ext>
                  </a:extLst>
                </a:gridCol>
                <a:gridCol w="428415">
                  <a:extLst>
                    <a:ext uri="{9D8B030D-6E8A-4147-A177-3AD203B41FA5}">
                      <a16:colId xmlns:a16="http://schemas.microsoft.com/office/drawing/2014/main" val="2052832972"/>
                    </a:ext>
                  </a:extLst>
                </a:gridCol>
                <a:gridCol w="405245">
                  <a:extLst>
                    <a:ext uri="{9D8B030D-6E8A-4147-A177-3AD203B41FA5}">
                      <a16:colId xmlns:a16="http://schemas.microsoft.com/office/drawing/2014/main" val="1346247216"/>
                    </a:ext>
                  </a:extLst>
                </a:gridCol>
                <a:gridCol w="633846">
                  <a:extLst>
                    <a:ext uri="{9D8B030D-6E8A-4147-A177-3AD203B41FA5}">
                      <a16:colId xmlns:a16="http://schemas.microsoft.com/office/drawing/2014/main" val="2531619798"/>
                    </a:ext>
                  </a:extLst>
                </a:gridCol>
                <a:gridCol w="814311">
                  <a:extLst>
                    <a:ext uri="{9D8B030D-6E8A-4147-A177-3AD203B41FA5}">
                      <a16:colId xmlns:a16="http://schemas.microsoft.com/office/drawing/2014/main" val="1983369690"/>
                    </a:ext>
                  </a:extLst>
                </a:gridCol>
              </a:tblGrid>
              <a:tr h="273484">
                <a:tc>
                  <a:txBody>
                    <a:bodyPr/>
                    <a:lstStyle/>
                    <a:p>
                      <a:pPr algn="ctr"/>
                      <a:r>
                        <a:rPr kumimoji="1" lang="en-US" altLang="ja-JP" sz="700" dirty="0"/>
                        <a:t>ID</a:t>
                      </a:r>
                      <a:endParaRPr kumimoji="1" lang="ja-JP" altLang="en-US" sz="70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700"/>
                        <a:t>性別</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700"/>
                        <a:t>年齢</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700"/>
                        <a:t>居住地</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700"/>
                        <a:t>職業</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04947547"/>
                  </a:ext>
                </a:extLst>
              </a:tr>
              <a:tr h="273484">
                <a:tc>
                  <a:txBody>
                    <a:bodyPr/>
                    <a:lstStyle/>
                    <a:p>
                      <a:pPr algn="ctr"/>
                      <a:r>
                        <a:rPr kumimoji="1" lang="en-US" altLang="ja-JP" sz="800" b="1" dirty="0"/>
                        <a:t>1</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男性</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36</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東京都</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会社員</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26088394"/>
                  </a:ext>
                </a:extLst>
              </a:tr>
              <a:tr h="273484">
                <a:tc>
                  <a:txBody>
                    <a:bodyPr/>
                    <a:lstStyle/>
                    <a:p>
                      <a:pPr algn="ctr"/>
                      <a:r>
                        <a:rPr kumimoji="1" lang="en-US" altLang="ja-JP" sz="800" b="1" dirty="0"/>
                        <a:t>2</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女性</a:t>
                      </a:r>
                      <a:endParaRPr kumimoji="1" lang="en-US" altLang="ja-JP" sz="800" b="1" dirty="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28</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大阪府</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医療関係者</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03015320"/>
                  </a:ext>
                </a:extLst>
              </a:tr>
              <a:tr h="273484">
                <a:tc>
                  <a:txBody>
                    <a:bodyPr/>
                    <a:lstStyle/>
                    <a:p>
                      <a:pPr algn="ctr"/>
                      <a:r>
                        <a:rPr kumimoji="1" lang="en-US" altLang="ja-JP" sz="800" b="1" dirty="0"/>
                        <a:t>3</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男性</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51</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神奈川県</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士業</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81675202"/>
                  </a:ext>
                </a:extLst>
              </a:tr>
              <a:tr h="273484">
                <a:tc>
                  <a:txBody>
                    <a:bodyPr/>
                    <a:lstStyle/>
                    <a:p>
                      <a:pPr algn="ctr"/>
                      <a:r>
                        <a:rPr kumimoji="1" lang="en-US" altLang="ja-JP" sz="800" b="1" dirty="0"/>
                        <a:t>4</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男性</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70</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北海道</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自営業</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95104407"/>
                  </a:ext>
                </a:extLst>
              </a:tr>
              <a:tr h="273484">
                <a:tc>
                  <a:txBody>
                    <a:bodyPr/>
                    <a:lstStyle/>
                    <a:p>
                      <a:pPr algn="ctr"/>
                      <a:r>
                        <a:rPr kumimoji="1" lang="en-US" altLang="ja-JP" sz="800" b="1" dirty="0"/>
                        <a:t>5</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女性</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46</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福岡県</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800" b="1"/>
                        <a:t>会社員</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7857526"/>
                  </a:ext>
                </a:extLst>
              </a:tr>
            </a:tbl>
          </a:graphicData>
        </a:graphic>
      </p:graphicFrame>
      <p:sp>
        <p:nvSpPr>
          <p:cNvPr id="25" name="テキスト ボックス 24">
            <a:extLst>
              <a:ext uri="{FF2B5EF4-FFF2-40B4-BE49-F238E27FC236}">
                <a16:creationId xmlns:a16="http://schemas.microsoft.com/office/drawing/2014/main" id="{813C73E1-DC66-FA9C-4BDB-B1FCCCBF7018}"/>
              </a:ext>
            </a:extLst>
          </p:cNvPr>
          <p:cNvSpPr txBox="1"/>
          <p:nvPr/>
        </p:nvSpPr>
        <p:spPr>
          <a:xfrm>
            <a:off x="1359197" y="5221058"/>
            <a:ext cx="1082348" cy="246221"/>
          </a:xfrm>
          <a:prstGeom prst="rect">
            <a:avLst/>
          </a:prstGeom>
          <a:noFill/>
        </p:spPr>
        <p:txBody>
          <a:bodyPr wrap="none" rtlCol="0">
            <a:spAutoFit/>
          </a:bodyPr>
          <a:lstStyle/>
          <a:p>
            <a:r>
              <a:rPr kumimoji="1" lang="ja-JP" altLang="en-US" sz="1000" b="1"/>
              <a:t>例：顧客マスタ</a:t>
            </a:r>
          </a:p>
        </p:txBody>
      </p:sp>
      <p:sp>
        <p:nvSpPr>
          <p:cNvPr id="26" name="テキスト ボックス 25">
            <a:extLst>
              <a:ext uri="{FF2B5EF4-FFF2-40B4-BE49-F238E27FC236}">
                <a16:creationId xmlns:a16="http://schemas.microsoft.com/office/drawing/2014/main" id="{83990809-FF0E-B641-DFBA-09976580B188}"/>
              </a:ext>
            </a:extLst>
          </p:cNvPr>
          <p:cNvSpPr txBox="1"/>
          <p:nvPr/>
        </p:nvSpPr>
        <p:spPr>
          <a:xfrm>
            <a:off x="4675627" y="1920201"/>
            <a:ext cx="2755147" cy="1370375"/>
          </a:xfrm>
          <a:prstGeom prst="rect">
            <a:avLst/>
          </a:prstGeom>
          <a:noFill/>
        </p:spPr>
        <p:txBody>
          <a:bodyPr wrap="square" rtlCol="0">
            <a:spAutoFit/>
          </a:bodyPr>
          <a:lstStyle/>
          <a:p>
            <a:pPr marL="185738" indent="-185738">
              <a:lnSpc>
                <a:spcPct val="120000"/>
              </a:lnSpc>
              <a:buFont typeface="Arial" panose="020B0604020202020204" pitchFamily="34" charset="0"/>
              <a:buChar char="•"/>
            </a:pPr>
            <a:r>
              <a:rPr lang="ja-JP" altLang="en-US" sz="1400" b="0" i="0" u="none" strike="noStrike">
                <a:solidFill>
                  <a:srgbClr val="212121"/>
                </a:solidFill>
                <a:effectLst/>
                <a:latin typeface="游ゴシック" panose="020B0400000000000000" pitchFamily="34" charset="-128"/>
                <a:ea typeface="游ゴシック" panose="020B0400000000000000" pitchFamily="34" charset="-128"/>
              </a:rPr>
              <a:t>計算上扱いやすくするために</a:t>
            </a:r>
            <a:r>
              <a:rPr lang="en-US" altLang="ja-JP" sz="1400" b="0" i="0" u="none" strike="noStrike" dirty="0">
                <a:solidFill>
                  <a:srgbClr val="212121"/>
                </a:solidFill>
                <a:effectLst/>
                <a:latin typeface="游ゴシック" panose="020B0400000000000000" pitchFamily="34" charset="-128"/>
                <a:ea typeface="游ゴシック" panose="020B0400000000000000" pitchFamily="34" charset="-128"/>
              </a:rPr>
              <a:t>①</a:t>
            </a:r>
            <a:r>
              <a:rPr lang="ja-JP" altLang="en-US" sz="1400" b="0" i="0" u="none" strike="noStrike">
                <a:solidFill>
                  <a:srgbClr val="212121"/>
                </a:solidFill>
                <a:effectLst/>
                <a:latin typeface="游ゴシック" panose="020B0400000000000000" pitchFamily="34" charset="-128"/>
                <a:ea typeface="游ゴシック" panose="020B0400000000000000" pitchFamily="34" charset="-128"/>
              </a:rPr>
              <a:t>を加工したデータ</a:t>
            </a:r>
            <a:endParaRPr kumimoji="1" lang="en-US" altLang="ja-JP" sz="1400" dirty="0"/>
          </a:p>
          <a:p>
            <a:pPr marL="185738" indent="-185738">
              <a:lnSpc>
                <a:spcPct val="120000"/>
              </a:lnSpc>
              <a:buFont typeface="Arial" panose="020B0604020202020204" pitchFamily="34" charset="0"/>
              <a:buChar char="•"/>
            </a:pPr>
            <a:r>
              <a:rPr kumimoji="1" lang="ja-JP" altLang="en-US" sz="1400"/>
              <a:t>データの正規化や相関分析の結果を利用する</a:t>
            </a:r>
            <a:endParaRPr kumimoji="1" lang="en-US" altLang="ja-JP" sz="1400" dirty="0"/>
          </a:p>
          <a:p>
            <a:pPr marL="185738" indent="-185738">
              <a:lnSpc>
                <a:spcPct val="120000"/>
              </a:lnSpc>
              <a:buFont typeface="Arial" panose="020B0604020202020204" pitchFamily="34" charset="0"/>
              <a:buChar char="•"/>
            </a:pPr>
            <a:r>
              <a:rPr kumimoji="1" lang="ja-JP" altLang="en-US" sz="1400" b="1"/>
              <a:t>個人情報に変換</a:t>
            </a:r>
            <a:r>
              <a:rPr kumimoji="1" lang="en-US" altLang="ja-JP" sz="1400" b="1" dirty="0"/>
              <a:t>(</a:t>
            </a:r>
            <a:r>
              <a:rPr kumimoji="1" lang="ja-JP" altLang="en-US" sz="1400" b="1"/>
              <a:t>類推</a:t>
            </a:r>
            <a:r>
              <a:rPr kumimoji="1" lang="en-US" altLang="ja-JP" sz="1400" b="1" dirty="0"/>
              <a:t>)</a:t>
            </a:r>
            <a:r>
              <a:rPr kumimoji="1" lang="ja-JP" altLang="en-US" sz="1400" b="1"/>
              <a:t>可能</a:t>
            </a:r>
            <a:endParaRPr kumimoji="1" lang="en-US" altLang="ja-JP" sz="1400" b="1" dirty="0"/>
          </a:p>
        </p:txBody>
      </p:sp>
      <p:graphicFrame>
        <p:nvGraphicFramePr>
          <p:cNvPr id="27" name="表 26">
            <a:extLst>
              <a:ext uri="{FF2B5EF4-FFF2-40B4-BE49-F238E27FC236}">
                <a16:creationId xmlns:a16="http://schemas.microsoft.com/office/drawing/2014/main" id="{4C50AABC-5BE9-0ED7-E711-ACE3A9C16EE7}"/>
              </a:ext>
            </a:extLst>
          </p:cNvPr>
          <p:cNvGraphicFramePr>
            <a:graphicFrameLocks noGrp="1"/>
          </p:cNvGraphicFramePr>
          <p:nvPr>
            <p:extLst>
              <p:ext uri="{D42A27DB-BD31-4B8C-83A1-F6EECF244321}">
                <p14:modId xmlns:p14="http://schemas.microsoft.com/office/powerpoint/2010/main" val="1501287541"/>
              </p:ext>
            </p:extLst>
          </p:nvPr>
        </p:nvGraphicFramePr>
        <p:xfrm>
          <a:off x="4759534" y="3496921"/>
          <a:ext cx="2587336" cy="1640903"/>
        </p:xfrm>
        <a:graphic>
          <a:graphicData uri="http://schemas.openxmlformats.org/drawingml/2006/table">
            <a:tbl>
              <a:tblPr firstRow="1" bandRow="1">
                <a:tableStyleId>{5C22544A-7EE6-4342-B048-85BDC9FD1C3A}</a:tableStyleId>
              </a:tblPr>
              <a:tblGrid>
                <a:gridCol w="305519">
                  <a:extLst>
                    <a:ext uri="{9D8B030D-6E8A-4147-A177-3AD203B41FA5}">
                      <a16:colId xmlns:a16="http://schemas.microsoft.com/office/drawing/2014/main" val="4282174556"/>
                    </a:ext>
                  </a:extLst>
                </a:gridCol>
                <a:gridCol w="428415">
                  <a:extLst>
                    <a:ext uri="{9D8B030D-6E8A-4147-A177-3AD203B41FA5}">
                      <a16:colId xmlns:a16="http://schemas.microsoft.com/office/drawing/2014/main" val="2052832972"/>
                    </a:ext>
                  </a:extLst>
                </a:gridCol>
                <a:gridCol w="405245">
                  <a:extLst>
                    <a:ext uri="{9D8B030D-6E8A-4147-A177-3AD203B41FA5}">
                      <a16:colId xmlns:a16="http://schemas.microsoft.com/office/drawing/2014/main" val="1346247216"/>
                    </a:ext>
                  </a:extLst>
                </a:gridCol>
                <a:gridCol w="633846">
                  <a:extLst>
                    <a:ext uri="{9D8B030D-6E8A-4147-A177-3AD203B41FA5}">
                      <a16:colId xmlns:a16="http://schemas.microsoft.com/office/drawing/2014/main" val="2531619798"/>
                    </a:ext>
                  </a:extLst>
                </a:gridCol>
                <a:gridCol w="814311">
                  <a:extLst>
                    <a:ext uri="{9D8B030D-6E8A-4147-A177-3AD203B41FA5}">
                      <a16:colId xmlns:a16="http://schemas.microsoft.com/office/drawing/2014/main" val="1983369690"/>
                    </a:ext>
                  </a:extLst>
                </a:gridCol>
              </a:tblGrid>
              <a:tr h="257008">
                <a:tc>
                  <a:txBody>
                    <a:bodyPr/>
                    <a:lstStyle/>
                    <a:p>
                      <a:pPr algn="ctr"/>
                      <a:r>
                        <a:rPr kumimoji="1" lang="en-US" altLang="ja-JP" sz="700" dirty="0"/>
                        <a:t>ID</a:t>
                      </a:r>
                      <a:endParaRPr kumimoji="1" lang="ja-JP" altLang="en-US" sz="70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700"/>
                        <a:t>性別</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700"/>
                        <a:t>年齢</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700"/>
                        <a:t>居住地</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700"/>
                        <a:t>職業</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04947547"/>
                  </a:ext>
                </a:extLst>
              </a:tr>
              <a:tr h="276779">
                <a:tc>
                  <a:txBody>
                    <a:bodyPr/>
                    <a:lstStyle/>
                    <a:p>
                      <a:pPr algn="ctr"/>
                      <a:r>
                        <a:rPr kumimoji="1" lang="en-US" altLang="ja-JP" sz="800" b="1" dirty="0"/>
                        <a:t>1</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1</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3</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13</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26088394"/>
                  </a:ext>
                </a:extLst>
              </a:tr>
              <a:tr h="276779">
                <a:tc>
                  <a:txBody>
                    <a:bodyPr/>
                    <a:lstStyle/>
                    <a:p>
                      <a:pPr algn="ctr"/>
                      <a:r>
                        <a:rPr kumimoji="1" lang="en-US" altLang="ja-JP" sz="800" b="1" dirty="0"/>
                        <a:t>2</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27</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7</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03015320"/>
                  </a:ext>
                </a:extLst>
              </a:tr>
              <a:tr h="276779">
                <a:tc>
                  <a:txBody>
                    <a:bodyPr/>
                    <a:lstStyle/>
                    <a:p>
                      <a:pPr algn="ctr"/>
                      <a:r>
                        <a:rPr kumimoji="1" lang="en-US" altLang="ja-JP" sz="800" b="1" dirty="0"/>
                        <a:t>3</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1</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5</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14</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12</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81675202"/>
                  </a:ext>
                </a:extLst>
              </a:tr>
              <a:tr h="276779">
                <a:tc>
                  <a:txBody>
                    <a:bodyPr/>
                    <a:lstStyle/>
                    <a:p>
                      <a:pPr algn="ctr"/>
                      <a:r>
                        <a:rPr kumimoji="1" lang="en-US" altLang="ja-JP" sz="800" b="1" dirty="0"/>
                        <a:t>4</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1</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6</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1</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8</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95104407"/>
                  </a:ext>
                </a:extLst>
              </a:tr>
              <a:tr h="276779">
                <a:tc>
                  <a:txBody>
                    <a:bodyPr/>
                    <a:lstStyle/>
                    <a:p>
                      <a:pPr algn="ctr"/>
                      <a:r>
                        <a:rPr kumimoji="1" lang="en-US" altLang="ja-JP" sz="800" b="1" dirty="0"/>
                        <a:t>5</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4</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40</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7857526"/>
                  </a:ext>
                </a:extLst>
              </a:tr>
            </a:tbl>
          </a:graphicData>
        </a:graphic>
      </p:graphicFrame>
      <p:sp>
        <p:nvSpPr>
          <p:cNvPr id="28" name="テキスト ボックス 27">
            <a:extLst>
              <a:ext uri="{FF2B5EF4-FFF2-40B4-BE49-F238E27FC236}">
                <a16:creationId xmlns:a16="http://schemas.microsoft.com/office/drawing/2014/main" id="{901E80D9-DE86-D9BF-7786-127141DE238B}"/>
              </a:ext>
            </a:extLst>
          </p:cNvPr>
          <p:cNvSpPr txBox="1"/>
          <p:nvPr/>
        </p:nvSpPr>
        <p:spPr>
          <a:xfrm>
            <a:off x="5255545" y="5221058"/>
            <a:ext cx="1595309" cy="246221"/>
          </a:xfrm>
          <a:prstGeom prst="rect">
            <a:avLst/>
          </a:prstGeom>
          <a:noFill/>
        </p:spPr>
        <p:txBody>
          <a:bodyPr wrap="none" rtlCol="0">
            <a:spAutoFit/>
          </a:bodyPr>
          <a:lstStyle/>
          <a:p>
            <a:r>
              <a:rPr kumimoji="1" lang="ja-JP" altLang="en-US" sz="1000" b="1"/>
              <a:t>例：変換後の顧客マスタ</a:t>
            </a:r>
          </a:p>
        </p:txBody>
      </p:sp>
      <p:sp>
        <p:nvSpPr>
          <p:cNvPr id="31" name="Rectangle 11">
            <a:extLst>
              <a:ext uri="{FF2B5EF4-FFF2-40B4-BE49-F238E27FC236}">
                <a16:creationId xmlns:a16="http://schemas.microsoft.com/office/drawing/2014/main" id="{3425A630-6FFF-7FA4-5189-925F06B37B36}"/>
              </a:ext>
            </a:extLst>
          </p:cNvPr>
          <p:cNvSpPr/>
          <p:nvPr/>
        </p:nvSpPr>
        <p:spPr>
          <a:xfrm>
            <a:off x="8667084" y="1313398"/>
            <a:ext cx="3000428" cy="417056"/>
          </a:xfrm>
          <a:prstGeom prst="rect">
            <a:avLst/>
          </a:prstGeom>
          <a:solidFill>
            <a:srgbClr val="C4F2F3">
              <a:alpha val="60000"/>
            </a:srgbClr>
          </a:solidFill>
          <a:ln>
            <a:solidFill>
              <a:srgbClr val="52D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③</a:t>
            </a:r>
            <a:r>
              <a:rPr kumimoji="1" lang="ja-JP" altLang="en-US" b="1">
                <a:solidFill>
                  <a:schemeClr val="tx1"/>
                </a:solidFill>
              </a:rPr>
              <a:t>数理モデルデータ</a:t>
            </a:r>
          </a:p>
        </p:txBody>
      </p:sp>
      <p:sp>
        <p:nvSpPr>
          <p:cNvPr id="32" name="Rectangle 15">
            <a:extLst>
              <a:ext uri="{FF2B5EF4-FFF2-40B4-BE49-F238E27FC236}">
                <a16:creationId xmlns:a16="http://schemas.microsoft.com/office/drawing/2014/main" id="{98293648-8AA7-0514-AF58-80886CD4D2DD}"/>
              </a:ext>
            </a:extLst>
          </p:cNvPr>
          <p:cNvSpPr/>
          <p:nvPr/>
        </p:nvSpPr>
        <p:spPr>
          <a:xfrm>
            <a:off x="8667084" y="1726179"/>
            <a:ext cx="3000428" cy="3822423"/>
          </a:xfrm>
          <a:prstGeom prst="rect">
            <a:avLst/>
          </a:prstGeom>
          <a:noFill/>
          <a:ln>
            <a:solidFill>
              <a:srgbClr val="52D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D14F86C3-A280-B34F-CE9D-C9F75CE60035}"/>
              </a:ext>
            </a:extLst>
          </p:cNvPr>
          <p:cNvSpPr txBox="1"/>
          <p:nvPr/>
        </p:nvSpPr>
        <p:spPr>
          <a:xfrm>
            <a:off x="8777488" y="1920201"/>
            <a:ext cx="2779617" cy="1111843"/>
          </a:xfrm>
          <a:prstGeom prst="rect">
            <a:avLst/>
          </a:prstGeom>
          <a:noFill/>
        </p:spPr>
        <p:txBody>
          <a:bodyPr wrap="square" rtlCol="0">
            <a:spAutoFit/>
          </a:bodyPr>
          <a:lstStyle/>
          <a:p>
            <a:pPr marL="185738" indent="-185738">
              <a:lnSpc>
                <a:spcPct val="120000"/>
              </a:lnSpc>
              <a:buFont typeface="Arial" panose="020B0604020202020204" pitchFamily="34" charset="0"/>
              <a:buChar char="•"/>
            </a:pPr>
            <a:r>
              <a:rPr kumimoji="1" lang="ja-JP" altLang="en-US" sz="1400">
                <a:solidFill>
                  <a:srgbClr val="212121"/>
                </a:solidFill>
                <a:latin typeface="游ゴシック" panose="020B0400000000000000" pitchFamily="34" charset="-128"/>
                <a:ea typeface="游ゴシック" panose="020B0400000000000000" pitchFamily="34" charset="-128"/>
              </a:rPr>
              <a:t>量子計算機に入力するデータ</a:t>
            </a:r>
            <a:endParaRPr kumimoji="1" lang="en-US" altLang="ja-JP" sz="1400" dirty="0">
              <a:solidFill>
                <a:srgbClr val="212121"/>
              </a:solidFill>
              <a:latin typeface="游ゴシック" panose="020B0400000000000000" pitchFamily="34" charset="-128"/>
              <a:ea typeface="游ゴシック" panose="020B0400000000000000" pitchFamily="34" charset="-128"/>
            </a:endParaRPr>
          </a:p>
          <a:p>
            <a:pPr marL="185738" indent="-185738">
              <a:lnSpc>
                <a:spcPct val="120000"/>
              </a:lnSpc>
              <a:buFont typeface="Arial" panose="020B0604020202020204" pitchFamily="34" charset="0"/>
              <a:buChar char="•"/>
            </a:pPr>
            <a:r>
              <a:rPr kumimoji="1" lang="ja-JP" altLang="en-US" sz="1400">
                <a:solidFill>
                  <a:srgbClr val="212121"/>
                </a:solidFill>
                <a:latin typeface="游ゴシック" panose="020B0400000000000000" pitchFamily="34" charset="-128"/>
                <a:ea typeface="游ゴシック" panose="020B0400000000000000" pitchFamily="34" charset="-128"/>
              </a:rPr>
              <a:t>定式化したモデルに</a:t>
            </a:r>
            <a:r>
              <a:rPr kumimoji="1" lang="en-US" altLang="ja-JP" sz="1400" dirty="0">
                <a:solidFill>
                  <a:srgbClr val="212121"/>
                </a:solidFill>
                <a:latin typeface="游ゴシック" panose="020B0400000000000000" pitchFamily="34" charset="-128"/>
                <a:ea typeface="游ゴシック" panose="020B0400000000000000" pitchFamily="34" charset="-128"/>
              </a:rPr>
              <a:t>②</a:t>
            </a:r>
            <a:r>
              <a:rPr kumimoji="1" lang="ja-JP" altLang="en-US" sz="1400">
                <a:solidFill>
                  <a:srgbClr val="212121"/>
                </a:solidFill>
                <a:latin typeface="游ゴシック" panose="020B0400000000000000" pitchFamily="34" charset="-128"/>
                <a:ea typeface="游ゴシック" panose="020B0400000000000000" pitchFamily="34" charset="-128"/>
              </a:rPr>
              <a:t>を当てはめて計算した係数行列</a:t>
            </a:r>
            <a:endParaRPr kumimoji="1" lang="en-US" altLang="ja-JP" sz="1400" dirty="0">
              <a:solidFill>
                <a:srgbClr val="212121"/>
              </a:solidFill>
              <a:latin typeface="游ゴシック" panose="020B0400000000000000" pitchFamily="34" charset="-128"/>
              <a:ea typeface="游ゴシック" panose="020B0400000000000000" pitchFamily="34" charset="-128"/>
            </a:endParaRPr>
          </a:p>
          <a:p>
            <a:pPr marL="185738" indent="-185738">
              <a:lnSpc>
                <a:spcPct val="120000"/>
              </a:lnSpc>
              <a:buFont typeface="Arial" panose="020B0604020202020204" pitchFamily="34" charset="0"/>
              <a:buChar char="•"/>
            </a:pPr>
            <a:r>
              <a:rPr kumimoji="1" lang="ja-JP" altLang="en-US" sz="1400" b="1"/>
              <a:t>個人情報に変換不可能</a:t>
            </a:r>
            <a:endParaRPr kumimoji="1" lang="en-US" altLang="ja-JP" sz="1400" b="1" dirty="0"/>
          </a:p>
        </p:txBody>
      </p:sp>
      <p:graphicFrame>
        <p:nvGraphicFramePr>
          <p:cNvPr id="34" name="表 33">
            <a:extLst>
              <a:ext uri="{FF2B5EF4-FFF2-40B4-BE49-F238E27FC236}">
                <a16:creationId xmlns:a16="http://schemas.microsoft.com/office/drawing/2014/main" id="{20AE3997-FCB1-27FC-BC6B-321E3BDE667D}"/>
              </a:ext>
            </a:extLst>
          </p:cNvPr>
          <p:cNvGraphicFramePr>
            <a:graphicFrameLocks noGrp="1"/>
          </p:cNvGraphicFramePr>
          <p:nvPr>
            <p:extLst>
              <p:ext uri="{D42A27DB-BD31-4B8C-83A1-F6EECF244321}">
                <p14:modId xmlns:p14="http://schemas.microsoft.com/office/powerpoint/2010/main" val="2235836305"/>
              </p:ext>
            </p:extLst>
          </p:nvPr>
        </p:nvGraphicFramePr>
        <p:xfrm>
          <a:off x="8907746" y="3496921"/>
          <a:ext cx="1332894" cy="1640906"/>
        </p:xfrm>
        <a:graphic>
          <a:graphicData uri="http://schemas.openxmlformats.org/drawingml/2006/table">
            <a:tbl>
              <a:tblPr firstRow="1" bandRow="1">
                <a:tableStyleId>{5C22544A-7EE6-4342-B048-85BDC9FD1C3A}</a:tableStyleId>
              </a:tblPr>
              <a:tblGrid>
                <a:gridCol w="419114">
                  <a:extLst>
                    <a:ext uri="{9D8B030D-6E8A-4147-A177-3AD203B41FA5}">
                      <a16:colId xmlns:a16="http://schemas.microsoft.com/office/drawing/2014/main" val="4282174556"/>
                    </a:ext>
                  </a:extLst>
                </a:gridCol>
                <a:gridCol w="480209">
                  <a:extLst>
                    <a:ext uri="{9D8B030D-6E8A-4147-A177-3AD203B41FA5}">
                      <a16:colId xmlns:a16="http://schemas.microsoft.com/office/drawing/2014/main" val="2052832972"/>
                    </a:ext>
                  </a:extLst>
                </a:gridCol>
                <a:gridCol w="433571">
                  <a:extLst>
                    <a:ext uri="{9D8B030D-6E8A-4147-A177-3AD203B41FA5}">
                      <a16:colId xmlns:a16="http://schemas.microsoft.com/office/drawing/2014/main" val="1346247216"/>
                    </a:ext>
                  </a:extLst>
                </a:gridCol>
              </a:tblGrid>
              <a:tr h="219914">
                <a:tc>
                  <a:txBody>
                    <a:bodyPr/>
                    <a:lstStyle/>
                    <a:p>
                      <a:pPr algn="ctr"/>
                      <a:r>
                        <a:rPr kumimoji="1" lang="ja-JP" altLang="en-US" sz="700"/>
                        <a:t>変数</a:t>
                      </a:r>
                      <a:r>
                        <a:rPr kumimoji="1" lang="en-US" altLang="ja-JP" sz="700" dirty="0"/>
                        <a:t>1</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700"/>
                        <a:t>変数</a:t>
                      </a:r>
                      <a:r>
                        <a:rPr kumimoji="1" lang="en-US" altLang="ja-JP" sz="700" dirty="0"/>
                        <a:t>2</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700"/>
                        <a:t>係数</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04947547"/>
                  </a:ext>
                </a:extLst>
              </a:tr>
              <a:tr h="236832">
                <a:tc>
                  <a:txBody>
                    <a:bodyPr/>
                    <a:lstStyle/>
                    <a:p>
                      <a:pPr algn="ctr"/>
                      <a:r>
                        <a:rPr kumimoji="1" lang="en-US" altLang="ja-JP" sz="800" b="1" dirty="0"/>
                        <a:t>1</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-20</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26088394"/>
                  </a:ext>
                </a:extLst>
              </a:tr>
              <a:tr h="236832">
                <a:tc>
                  <a:txBody>
                    <a:bodyPr/>
                    <a:lstStyle/>
                    <a:p>
                      <a:pPr algn="ctr"/>
                      <a:r>
                        <a:rPr kumimoji="1" lang="en-US" altLang="ja-JP" sz="800" b="1" dirty="0"/>
                        <a:t>1</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3</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20</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03015320"/>
                  </a:ext>
                </a:extLst>
              </a:tr>
              <a:tr h="236832">
                <a:tc>
                  <a:txBody>
                    <a:bodyPr/>
                    <a:lstStyle/>
                    <a:p>
                      <a:pPr algn="ctr"/>
                      <a:r>
                        <a:rPr kumimoji="1" lang="en-US" altLang="ja-JP" sz="800" b="1" dirty="0"/>
                        <a:t>2</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3</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20</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81675202"/>
                  </a:ext>
                </a:extLst>
              </a:tr>
              <a:tr h="236832">
                <a:tc>
                  <a:txBody>
                    <a:bodyPr/>
                    <a:lstStyle/>
                    <a:p>
                      <a:pPr algn="ctr"/>
                      <a:r>
                        <a:rPr kumimoji="1" lang="en-US" altLang="ja-JP" sz="800" b="1" dirty="0"/>
                        <a:t>2</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4</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20</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95104407"/>
                  </a:ext>
                </a:extLst>
              </a:tr>
              <a:tr h="236832">
                <a:tc>
                  <a:txBody>
                    <a:bodyPr/>
                    <a:lstStyle/>
                    <a:p>
                      <a:pPr algn="ctr"/>
                      <a:r>
                        <a:rPr kumimoji="1" lang="en-US" altLang="ja-JP" sz="800" b="1" dirty="0"/>
                        <a:t>⋮</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7857526"/>
                  </a:ext>
                </a:extLst>
              </a:tr>
              <a:tr h="236832">
                <a:tc>
                  <a:txBody>
                    <a:bodyPr/>
                    <a:lstStyle/>
                    <a:p>
                      <a:pPr algn="ctr"/>
                      <a:r>
                        <a:rPr kumimoji="1" lang="en-US" altLang="ja-JP" sz="800" b="1" dirty="0"/>
                        <a:t>41</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42</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44</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94708488"/>
                  </a:ext>
                </a:extLst>
              </a:tr>
            </a:tbl>
          </a:graphicData>
        </a:graphic>
      </p:graphicFrame>
      <p:sp>
        <p:nvSpPr>
          <p:cNvPr id="35" name="テキスト ボックス 34">
            <a:extLst>
              <a:ext uri="{FF2B5EF4-FFF2-40B4-BE49-F238E27FC236}">
                <a16:creationId xmlns:a16="http://schemas.microsoft.com/office/drawing/2014/main" id="{977CFB05-3A9E-BAD7-9B32-0AD181A2FFA6}"/>
              </a:ext>
            </a:extLst>
          </p:cNvPr>
          <p:cNvSpPr txBox="1"/>
          <p:nvPr/>
        </p:nvSpPr>
        <p:spPr>
          <a:xfrm>
            <a:off x="9060270" y="5221058"/>
            <a:ext cx="1027845" cy="246221"/>
          </a:xfrm>
          <a:prstGeom prst="rect">
            <a:avLst/>
          </a:prstGeom>
          <a:noFill/>
        </p:spPr>
        <p:txBody>
          <a:bodyPr wrap="none" rtlCol="0">
            <a:spAutoFit/>
          </a:bodyPr>
          <a:lstStyle/>
          <a:p>
            <a:r>
              <a:rPr kumimoji="1" lang="ja-JP" altLang="en-US" sz="1000" b="1"/>
              <a:t>例：</a:t>
            </a:r>
            <a:r>
              <a:rPr kumimoji="1" lang="en-US" altLang="ja-JP" sz="1000" b="1" dirty="0"/>
              <a:t>2</a:t>
            </a:r>
            <a:r>
              <a:rPr kumimoji="1" lang="ja-JP" altLang="en-US" sz="1000" b="1"/>
              <a:t>次項係数</a:t>
            </a:r>
          </a:p>
        </p:txBody>
      </p:sp>
      <p:graphicFrame>
        <p:nvGraphicFramePr>
          <p:cNvPr id="36" name="表 35">
            <a:extLst>
              <a:ext uri="{FF2B5EF4-FFF2-40B4-BE49-F238E27FC236}">
                <a16:creationId xmlns:a16="http://schemas.microsoft.com/office/drawing/2014/main" id="{4BF40A51-49E9-CE75-C963-9D00DCE670E3}"/>
              </a:ext>
            </a:extLst>
          </p:cNvPr>
          <p:cNvGraphicFramePr>
            <a:graphicFrameLocks noGrp="1"/>
          </p:cNvGraphicFramePr>
          <p:nvPr>
            <p:extLst>
              <p:ext uri="{D42A27DB-BD31-4B8C-83A1-F6EECF244321}">
                <p14:modId xmlns:p14="http://schemas.microsoft.com/office/powerpoint/2010/main" val="2610775424"/>
              </p:ext>
            </p:extLst>
          </p:nvPr>
        </p:nvGraphicFramePr>
        <p:xfrm>
          <a:off x="10659320" y="3495897"/>
          <a:ext cx="852685" cy="1640906"/>
        </p:xfrm>
        <a:graphic>
          <a:graphicData uri="http://schemas.openxmlformats.org/drawingml/2006/table">
            <a:tbl>
              <a:tblPr firstRow="1" bandRow="1">
                <a:tableStyleId>{5C22544A-7EE6-4342-B048-85BDC9FD1C3A}</a:tableStyleId>
              </a:tblPr>
              <a:tblGrid>
                <a:gridCol w="419114">
                  <a:extLst>
                    <a:ext uri="{9D8B030D-6E8A-4147-A177-3AD203B41FA5}">
                      <a16:colId xmlns:a16="http://schemas.microsoft.com/office/drawing/2014/main" val="4282174556"/>
                    </a:ext>
                  </a:extLst>
                </a:gridCol>
                <a:gridCol w="433571">
                  <a:extLst>
                    <a:ext uri="{9D8B030D-6E8A-4147-A177-3AD203B41FA5}">
                      <a16:colId xmlns:a16="http://schemas.microsoft.com/office/drawing/2014/main" val="1346247216"/>
                    </a:ext>
                  </a:extLst>
                </a:gridCol>
              </a:tblGrid>
              <a:tr h="219914">
                <a:tc>
                  <a:txBody>
                    <a:bodyPr/>
                    <a:lstStyle/>
                    <a:p>
                      <a:pPr algn="ctr"/>
                      <a:r>
                        <a:rPr kumimoji="1" lang="ja-JP" altLang="en-US" sz="700"/>
                        <a:t>変数</a:t>
                      </a:r>
                      <a:endParaRPr kumimoji="1" lang="en-US" altLang="ja-JP" sz="700" dirty="0"/>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700"/>
                        <a:t>係数</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04947547"/>
                  </a:ext>
                </a:extLst>
              </a:tr>
              <a:tr h="236832">
                <a:tc>
                  <a:txBody>
                    <a:bodyPr/>
                    <a:lstStyle/>
                    <a:p>
                      <a:pPr algn="ctr"/>
                      <a:r>
                        <a:rPr kumimoji="1" lang="en-US" altLang="ja-JP" sz="800" b="1" dirty="0"/>
                        <a:t>44</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-1</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26088394"/>
                  </a:ext>
                </a:extLst>
              </a:tr>
              <a:tr h="236832">
                <a:tc>
                  <a:txBody>
                    <a:bodyPr/>
                    <a:lstStyle/>
                    <a:p>
                      <a:pPr algn="ctr"/>
                      <a:r>
                        <a:rPr kumimoji="1" lang="en-US" altLang="ja-JP" sz="800" b="1" dirty="0"/>
                        <a:t>45</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-2</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03015320"/>
                  </a:ext>
                </a:extLst>
              </a:tr>
              <a:tr h="236832">
                <a:tc>
                  <a:txBody>
                    <a:bodyPr/>
                    <a:lstStyle/>
                    <a:p>
                      <a:pPr algn="ctr"/>
                      <a:r>
                        <a:rPr kumimoji="1" lang="en-US" altLang="ja-JP" sz="800" b="1" dirty="0"/>
                        <a:t>46</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-3</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81675202"/>
                  </a:ext>
                </a:extLst>
              </a:tr>
              <a:tr h="236832">
                <a:tc>
                  <a:txBody>
                    <a:bodyPr/>
                    <a:lstStyle/>
                    <a:p>
                      <a:pPr algn="ctr"/>
                      <a:r>
                        <a:rPr kumimoji="1" lang="en-US" altLang="ja-JP" sz="800" b="1" dirty="0"/>
                        <a:t>47</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-4</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95104407"/>
                  </a:ext>
                </a:extLst>
              </a:tr>
              <a:tr h="236832">
                <a:tc>
                  <a:txBody>
                    <a:bodyPr/>
                    <a:lstStyle/>
                    <a:p>
                      <a:pPr algn="ctr"/>
                      <a:r>
                        <a:rPr kumimoji="1" lang="en-US" altLang="ja-JP" sz="800" b="1" dirty="0"/>
                        <a:t>48</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-5</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7857526"/>
                  </a:ext>
                </a:extLst>
              </a:tr>
              <a:tr h="236832">
                <a:tc>
                  <a:txBody>
                    <a:bodyPr/>
                    <a:lstStyle/>
                    <a:p>
                      <a:pPr algn="ctr"/>
                      <a:r>
                        <a:rPr kumimoji="1" lang="en-US" altLang="ja-JP" sz="800" b="1" dirty="0"/>
                        <a:t>49</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800" b="1" dirty="0"/>
                        <a:t>-6</a:t>
                      </a:r>
                      <a:endParaRPr kumimoji="1" lang="ja-JP" altLang="en-US" sz="800" b="1"/>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94708488"/>
                  </a:ext>
                </a:extLst>
              </a:tr>
            </a:tbl>
          </a:graphicData>
        </a:graphic>
      </p:graphicFrame>
      <p:sp>
        <p:nvSpPr>
          <p:cNvPr id="37" name="テキスト ボックス 36">
            <a:extLst>
              <a:ext uri="{FF2B5EF4-FFF2-40B4-BE49-F238E27FC236}">
                <a16:creationId xmlns:a16="http://schemas.microsoft.com/office/drawing/2014/main" id="{3DEF9F78-EDF9-85B7-DA9B-C81FFF2EB327}"/>
              </a:ext>
            </a:extLst>
          </p:cNvPr>
          <p:cNvSpPr txBox="1"/>
          <p:nvPr/>
        </p:nvSpPr>
        <p:spPr>
          <a:xfrm>
            <a:off x="10529260" y="5221931"/>
            <a:ext cx="1027845" cy="246221"/>
          </a:xfrm>
          <a:prstGeom prst="rect">
            <a:avLst/>
          </a:prstGeom>
          <a:noFill/>
        </p:spPr>
        <p:txBody>
          <a:bodyPr wrap="none" rtlCol="0">
            <a:spAutoFit/>
          </a:bodyPr>
          <a:lstStyle/>
          <a:p>
            <a:r>
              <a:rPr kumimoji="1" lang="ja-JP" altLang="en-US" sz="1000" b="1"/>
              <a:t>例：</a:t>
            </a:r>
            <a:r>
              <a:rPr kumimoji="1" lang="en-US" altLang="ja-JP" sz="1000" b="1" dirty="0"/>
              <a:t>1</a:t>
            </a:r>
            <a:r>
              <a:rPr kumimoji="1" lang="ja-JP" altLang="en-US" sz="1000" b="1"/>
              <a:t>次項係数</a:t>
            </a:r>
          </a:p>
        </p:txBody>
      </p:sp>
      <p:sp>
        <p:nvSpPr>
          <p:cNvPr id="38" name="山形 37">
            <a:extLst>
              <a:ext uri="{FF2B5EF4-FFF2-40B4-BE49-F238E27FC236}">
                <a16:creationId xmlns:a16="http://schemas.microsoft.com/office/drawing/2014/main" id="{3430C358-D6CC-C984-BDED-73B153BA424E}"/>
              </a:ext>
            </a:extLst>
          </p:cNvPr>
          <p:cNvSpPr/>
          <p:nvPr/>
        </p:nvSpPr>
        <p:spPr>
          <a:xfrm>
            <a:off x="3785370" y="3063642"/>
            <a:ext cx="421568" cy="633678"/>
          </a:xfrm>
          <a:prstGeom prst="chevron">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9" name="山形 38">
            <a:extLst>
              <a:ext uri="{FF2B5EF4-FFF2-40B4-BE49-F238E27FC236}">
                <a16:creationId xmlns:a16="http://schemas.microsoft.com/office/drawing/2014/main" id="{942548DB-BEFA-C163-AEEB-1580889E91F1}"/>
              </a:ext>
            </a:extLst>
          </p:cNvPr>
          <p:cNvSpPr/>
          <p:nvPr/>
        </p:nvSpPr>
        <p:spPr>
          <a:xfrm>
            <a:off x="7931460" y="3063642"/>
            <a:ext cx="421568" cy="633678"/>
          </a:xfrm>
          <a:prstGeom prst="chevron">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1" name="ホームベース 40">
            <a:extLst>
              <a:ext uri="{FF2B5EF4-FFF2-40B4-BE49-F238E27FC236}">
                <a16:creationId xmlns:a16="http://schemas.microsoft.com/office/drawing/2014/main" id="{7D7EDF07-913C-D7C6-808D-DB267CE4670C}"/>
              </a:ext>
            </a:extLst>
          </p:cNvPr>
          <p:cNvSpPr/>
          <p:nvPr/>
        </p:nvSpPr>
        <p:spPr>
          <a:xfrm>
            <a:off x="438892" y="5768587"/>
            <a:ext cx="7114524" cy="545329"/>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a:solidFill>
                  <a:sysClr val="windowText" lastClr="000000"/>
                </a:solidFill>
              </a:rPr>
              <a:t>計算の前処理で使用するデータ</a:t>
            </a:r>
            <a:endParaRPr kumimoji="1" lang="en-US" altLang="ja-JP" sz="1400" b="1" dirty="0">
              <a:solidFill>
                <a:sysClr val="windowText" lastClr="000000"/>
              </a:solidFill>
            </a:endParaRPr>
          </a:p>
          <a:p>
            <a:pPr algn="ctr"/>
            <a:r>
              <a:rPr kumimoji="1" lang="ja-JP" altLang="en-US" sz="1400" b="1">
                <a:solidFill>
                  <a:sysClr val="windowText" lastClr="000000"/>
                </a:solidFill>
              </a:rPr>
              <a:t>（ローカル環境に保持され、外部には送信されない）</a:t>
            </a:r>
          </a:p>
        </p:txBody>
      </p:sp>
      <p:sp>
        <p:nvSpPr>
          <p:cNvPr id="42" name="ホームベース 41">
            <a:extLst>
              <a:ext uri="{FF2B5EF4-FFF2-40B4-BE49-F238E27FC236}">
                <a16:creationId xmlns:a16="http://schemas.microsoft.com/office/drawing/2014/main" id="{6A913B26-EA60-7033-E975-4EFDB4F665EC}"/>
              </a:ext>
            </a:extLst>
          </p:cNvPr>
          <p:cNvSpPr/>
          <p:nvPr/>
        </p:nvSpPr>
        <p:spPr>
          <a:xfrm>
            <a:off x="8667084" y="5768587"/>
            <a:ext cx="3028960" cy="545329"/>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a:solidFill>
                  <a:sysClr val="windowText" lastClr="000000"/>
                </a:solidFill>
              </a:rPr>
              <a:t>量子計算で使用するデータ</a:t>
            </a:r>
            <a:endParaRPr kumimoji="1" lang="en-US" altLang="ja-JP" sz="1400" b="1" dirty="0">
              <a:solidFill>
                <a:sysClr val="windowText" lastClr="000000"/>
              </a:solidFill>
            </a:endParaRPr>
          </a:p>
          <a:p>
            <a:pPr algn="ctr"/>
            <a:r>
              <a:rPr kumimoji="1" lang="ja-JP" altLang="en-US" sz="1400" b="1">
                <a:solidFill>
                  <a:sysClr val="windowText" lastClr="000000"/>
                </a:solidFill>
              </a:rPr>
              <a:t>（計算環境に送信される）</a:t>
            </a:r>
          </a:p>
        </p:txBody>
      </p:sp>
    </p:spTree>
    <p:extLst>
      <p:ext uri="{BB962C8B-B14F-4D97-AF65-F5344CB8AC3E}">
        <p14:creationId xmlns:p14="http://schemas.microsoft.com/office/powerpoint/2010/main" val="4285666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0A908-BCCD-8A5C-D2BF-19AFBE250CF6}"/>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4C875B5C-8F6D-D4FC-33E6-DAE20A8B7E8D}"/>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4C875B5C-8F6D-D4FC-33E6-DAE20A8B7E8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9E7A52AA-C297-1BED-861D-3B41850C5860}"/>
              </a:ext>
            </a:extLst>
          </p:cNvPr>
          <p:cNvSpPr>
            <a:spLocks noGrp="1"/>
          </p:cNvSpPr>
          <p:nvPr>
            <p:ph type="body" sz="quarter" idx="10"/>
          </p:nvPr>
        </p:nvSpPr>
        <p:spPr/>
        <p:txBody>
          <a:bodyPr>
            <a:normAutofit fontScale="92500" lnSpcReduction="10000"/>
          </a:bodyPr>
          <a:lstStyle/>
          <a:p>
            <a:r>
              <a:rPr lang="ja-JP" altLang="en-US"/>
              <a:t>データセットおよび学習結果を可視化するためのダッシュボードアプリケーションを開発した</a:t>
            </a:r>
            <a:endParaRPr lang="ja-JP" altLang="en-US" dirty="0"/>
          </a:p>
        </p:txBody>
      </p:sp>
      <p:sp>
        <p:nvSpPr>
          <p:cNvPr id="3" name="Slide Number Placeholder 2">
            <a:extLst>
              <a:ext uri="{FF2B5EF4-FFF2-40B4-BE49-F238E27FC236}">
                <a16:creationId xmlns:a16="http://schemas.microsoft.com/office/drawing/2014/main" id="{8516A921-B494-8756-E866-84DDEEE629C7}"/>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4" name="TextBox 3">
            <a:extLst>
              <a:ext uri="{FF2B5EF4-FFF2-40B4-BE49-F238E27FC236}">
                <a16:creationId xmlns:a16="http://schemas.microsoft.com/office/drawing/2014/main" id="{52148DB8-E902-A0FE-D6BF-B6DC50F4CFDD}"/>
              </a:ext>
            </a:extLst>
          </p:cNvPr>
          <p:cNvSpPr txBox="1"/>
          <p:nvPr/>
        </p:nvSpPr>
        <p:spPr>
          <a:xfrm>
            <a:off x="540850" y="1035589"/>
            <a:ext cx="11393591" cy="338554"/>
          </a:xfrm>
          <a:prstGeom prst="rect">
            <a:avLst/>
          </a:prstGeom>
          <a:noFill/>
        </p:spPr>
        <p:txBody>
          <a:bodyPr wrap="square" rtlCol="0">
            <a:spAutoFit/>
          </a:bodyPr>
          <a:lstStyle/>
          <a:p>
            <a:pPr>
              <a:spcAft>
                <a:spcPts val="600"/>
              </a:spcAft>
            </a:pPr>
            <a:r>
              <a:rPr kumimoji="1" lang="ja-JP" altLang="en-US" sz="1600" b="1"/>
              <a:t>ダッシュボードの活用により、評価結果のスピーディーな確認や視認性の高いグラフィカルな可視化が可能となった</a:t>
            </a:r>
            <a:endParaRPr kumimoji="1" lang="ja-JP" altLang="en-US" sz="1400"/>
          </a:p>
        </p:txBody>
      </p:sp>
      <p:pic>
        <p:nvPicPr>
          <p:cNvPr id="9" name="図 8" descr="グラフ&#10;&#10;AI 生成コンテンツは誤りを含む可能性があります。">
            <a:extLst>
              <a:ext uri="{FF2B5EF4-FFF2-40B4-BE49-F238E27FC236}">
                <a16:creationId xmlns:a16="http://schemas.microsoft.com/office/drawing/2014/main" id="{32F49337-45EA-38EF-FA05-B03DBCDB6D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5311" y="1385791"/>
            <a:ext cx="4572000" cy="2573020"/>
          </a:xfrm>
          <a:prstGeom prst="rect">
            <a:avLst/>
          </a:prstGeom>
          <a:ln>
            <a:solidFill>
              <a:schemeClr val="bg2">
                <a:lumMod val="50000"/>
              </a:schemeClr>
            </a:solidFill>
          </a:ln>
        </p:spPr>
      </p:pic>
      <p:pic>
        <p:nvPicPr>
          <p:cNvPr id="11" name="図 10" descr="グラフィカル ユーザー インターフェイス&#10;&#10;AI 生成コンテンツは誤りを含む可能性があります。">
            <a:extLst>
              <a:ext uri="{FF2B5EF4-FFF2-40B4-BE49-F238E27FC236}">
                <a16:creationId xmlns:a16="http://schemas.microsoft.com/office/drawing/2014/main" id="{E9B5811B-92F0-1420-7FD6-DA67F8FC2BA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857911" y="1385791"/>
            <a:ext cx="4572000" cy="2573020"/>
          </a:xfrm>
          <a:prstGeom prst="rect">
            <a:avLst/>
          </a:prstGeom>
          <a:ln>
            <a:solidFill>
              <a:schemeClr val="bg2">
                <a:lumMod val="50000"/>
              </a:schemeClr>
            </a:solidFill>
          </a:ln>
        </p:spPr>
      </p:pic>
      <p:pic>
        <p:nvPicPr>
          <p:cNvPr id="16" name="図 15" descr="グラフィカル ユーザー インターフェイス, アプリケーション&#10;&#10;AI 生成コンテンツは誤りを含む可能性があります。">
            <a:extLst>
              <a:ext uri="{FF2B5EF4-FFF2-40B4-BE49-F238E27FC236}">
                <a16:creationId xmlns:a16="http://schemas.microsoft.com/office/drawing/2014/main" id="{9CD9786C-9C14-1D51-79CF-5C5FF632C89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45311" y="4065742"/>
            <a:ext cx="4572000" cy="2573020"/>
          </a:xfrm>
          <a:prstGeom prst="rect">
            <a:avLst/>
          </a:prstGeom>
          <a:ln>
            <a:solidFill>
              <a:schemeClr val="bg2">
                <a:lumMod val="50000"/>
              </a:schemeClr>
            </a:solidFill>
          </a:ln>
        </p:spPr>
      </p:pic>
      <p:pic>
        <p:nvPicPr>
          <p:cNvPr id="18" name="図 17"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A44A22CA-96D5-6C60-B954-99D7BCFF01D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857911" y="4065742"/>
            <a:ext cx="4572000" cy="2573020"/>
          </a:xfrm>
          <a:prstGeom prst="rect">
            <a:avLst/>
          </a:prstGeom>
          <a:ln>
            <a:solidFill>
              <a:schemeClr val="bg2">
                <a:lumMod val="50000"/>
              </a:schemeClr>
            </a:solidFill>
          </a:ln>
        </p:spPr>
      </p:pic>
    </p:spTree>
    <p:extLst>
      <p:ext uri="{BB962C8B-B14F-4D97-AF65-F5344CB8AC3E}">
        <p14:creationId xmlns:p14="http://schemas.microsoft.com/office/powerpoint/2010/main" val="853873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E7EB8-B6F4-EFC5-AB16-F927EEA2196D}"/>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C901255D-8C3A-7296-5EEC-556D2A8F5C3F}"/>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C901255D-8C3A-7296-5EEC-556D2A8F5C3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B100F93B-EAD3-93E4-AB22-DA6ACFBE032E}"/>
              </a:ext>
            </a:extLst>
          </p:cNvPr>
          <p:cNvSpPr>
            <a:spLocks noGrp="1"/>
          </p:cNvSpPr>
          <p:nvPr>
            <p:ph type="body" sz="quarter" idx="10"/>
          </p:nvPr>
        </p:nvSpPr>
        <p:spPr/>
        <p:txBody>
          <a:bodyPr>
            <a:normAutofit fontScale="92500" lnSpcReduction="10000"/>
          </a:bodyPr>
          <a:lstStyle/>
          <a:p>
            <a:r>
              <a:rPr lang="en-US" altLang="ja-JP" dirty="0"/>
              <a:t>QFS</a:t>
            </a:r>
            <a:r>
              <a:rPr lang="ja-JP" altLang="en-US"/>
              <a:t>法による特徴量選択によって機械学習モデルの精度の観点で、特徴量を絞ることの意義を確認した</a:t>
            </a:r>
          </a:p>
        </p:txBody>
      </p:sp>
      <p:sp>
        <p:nvSpPr>
          <p:cNvPr id="3" name="Slide Number Placeholder 2">
            <a:extLst>
              <a:ext uri="{FF2B5EF4-FFF2-40B4-BE49-F238E27FC236}">
                <a16:creationId xmlns:a16="http://schemas.microsoft.com/office/drawing/2014/main" id="{8B3524C2-61B2-2ACD-9809-1CDB03F46E4D}"/>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2" name="テキスト ボックス 1">
            <a:extLst>
              <a:ext uri="{FF2B5EF4-FFF2-40B4-BE49-F238E27FC236}">
                <a16:creationId xmlns:a16="http://schemas.microsoft.com/office/drawing/2014/main" id="{1A15C984-A353-B823-0D74-A4E7A7A57AA5}"/>
              </a:ext>
            </a:extLst>
          </p:cNvPr>
          <p:cNvSpPr txBox="1"/>
          <p:nvPr/>
        </p:nvSpPr>
        <p:spPr>
          <a:xfrm>
            <a:off x="827639" y="5492980"/>
            <a:ext cx="10726013" cy="1165640"/>
          </a:xfrm>
          <a:prstGeom prst="rect">
            <a:avLst/>
          </a:prstGeom>
          <a:noFill/>
        </p:spPr>
        <p:txBody>
          <a:bodyPr wrap="none" rtlCol="0">
            <a:spAutoFit/>
          </a:bodyPr>
          <a:lstStyle/>
          <a:p>
            <a:pPr>
              <a:lnSpc>
                <a:spcPct val="150000"/>
              </a:lnSpc>
            </a:pPr>
            <a:r>
              <a:rPr kumimoji="1" lang="en-US" altLang="ja-JP" sz="1600" b="1" dirty="0"/>
              <a:t>PR-AUC</a:t>
            </a:r>
            <a:r>
              <a:rPr kumimoji="1" lang="ja-JP" altLang="en-US" sz="1600" b="1"/>
              <a:t>：</a:t>
            </a:r>
            <a:r>
              <a:rPr kumimoji="1" lang="ja-JP" altLang="en-US" sz="1600"/>
              <a:t>二値分類のタスクに対する評価指標で、</a:t>
            </a:r>
            <a:r>
              <a:rPr kumimoji="1" lang="en-US" altLang="ja-JP" sz="1600" dirty="0"/>
              <a:t>1</a:t>
            </a:r>
            <a:r>
              <a:rPr kumimoji="1" lang="ja-JP" altLang="en-US" sz="1600"/>
              <a:t>に近いほど性能が高いことを示す</a:t>
            </a:r>
            <a:endParaRPr kumimoji="1" lang="en-US" altLang="ja-JP" sz="1600" dirty="0"/>
          </a:p>
          <a:p>
            <a:pPr>
              <a:lnSpc>
                <a:spcPct val="150000"/>
              </a:lnSpc>
            </a:pPr>
            <a:r>
              <a:rPr kumimoji="1" lang="en-US" altLang="ja-JP" sz="1600" b="1" dirty="0" err="1"/>
              <a:t>Precision@k</a:t>
            </a:r>
            <a:r>
              <a:rPr kumimoji="1" lang="ja-JP" altLang="en-US" sz="1600" b="1"/>
              <a:t>：</a:t>
            </a:r>
            <a:r>
              <a:rPr kumimoji="1" lang="ja-JP" altLang="en-US" sz="1600"/>
              <a:t>ランキングアルゴリズムの性能を評価する指標、ランキング結果の上位</a:t>
            </a:r>
            <a:r>
              <a:rPr kumimoji="1" lang="en-US" altLang="ja-JP" sz="1600" dirty="0"/>
              <a:t>k</a:t>
            </a:r>
            <a:r>
              <a:rPr kumimoji="1" lang="ja-JP" altLang="en-US" sz="1600"/>
              <a:t>件</a:t>
            </a:r>
            <a:r>
              <a:rPr kumimoji="1" lang="en-US" altLang="ja-JP" sz="1600" dirty="0"/>
              <a:t> or k%</a:t>
            </a:r>
            <a:r>
              <a:rPr kumimoji="1" lang="ja-JP" altLang="en-US" sz="1600"/>
              <a:t>のうち正解の割合</a:t>
            </a:r>
            <a:endParaRPr kumimoji="1" lang="en-US" altLang="ja-JP" sz="1600" dirty="0"/>
          </a:p>
          <a:p>
            <a:pPr>
              <a:lnSpc>
                <a:spcPct val="150000"/>
              </a:lnSpc>
            </a:pPr>
            <a:r>
              <a:rPr kumimoji="1" lang="ja-JP" altLang="en-US" sz="1600"/>
              <a:t>⇒</a:t>
            </a:r>
            <a:r>
              <a:rPr kumimoji="1" lang="en-US" altLang="ja-JP" sz="1600" dirty="0"/>
              <a:t> </a:t>
            </a:r>
            <a:r>
              <a:rPr kumimoji="1" lang="ja-JP" altLang="en-US" sz="1600" b="1"/>
              <a:t>機械学習モデルが予測した「クリック確率が高い顧客」が実際にクリックしたかどうかを図る指標</a:t>
            </a:r>
          </a:p>
        </p:txBody>
      </p:sp>
      <p:sp>
        <p:nvSpPr>
          <p:cNvPr id="5" name="テキスト ボックス 4">
            <a:extLst>
              <a:ext uri="{FF2B5EF4-FFF2-40B4-BE49-F238E27FC236}">
                <a16:creationId xmlns:a16="http://schemas.microsoft.com/office/drawing/2014/main" id="{7805014F-0A99-0495-0FDF-B57AA7CDB923}"/>
              </a:ext>
            </a:extLst>
          </p:cNvPr>
          <p:cNvSpPr txBox="1"/>
          <p:nvPr/>
        </p:nvSpPr>
        <p:spPr>
          <a:xfrm>
            <a:off x="913910" y="1069010"/>
            <a:ext cx="8284640" cy="800219"/>
          </a:xfrm>
          <a:prstGeom prst="rect">
            <a:avLst/>
          </a:prstGeom>
          <a:noFill/>
        </p:spPr>
        <p:txBody>
          <a:bodyPr wrap="none" rtlCol="0">
            <a:spAutoFit/>
          </a:bodyPr>
          <a:lstStyle/>
          <a:p>
            <a:r>
              <a:rPr kumimoji="1" lang="ja-JP" altLang="en-US" b="1"/>
              <a:t>対象キャンペーン：</a:t>
            </a:r>
            <a:r>
              <a:rPr kumimoji="1" lang="en-US" altLang="ja-JP" b="1" dirty="0"/>
              <a:t>VAIO(</a:t>
            </a:r>
            <a:r>
              <a:rPr kumimoji="1" lang="ja-JP" altLang="en-US" b="1"/>
              <a:t>新ハイエンドモデル</a:t>
            </a:r>
            <a:r>
              <a:rPr kumimoji="1" lang="en-US" altLang="ja-JP" b="1" dirty="0"/>
              <a:t>PC</a:t>
            </a:r>
            <a:r>
              <a:rPr kumimoji="1" lang="ja-JP" altLang="en-US" b="1"/>
              <a:t>プロモーション</a:t>
            </a:r>
            <a:r>
              <a:rPr kumimoji="1" lang="en-US" altLang="ja-JP" b="1" dirty="0"/>
              <a:t>)</a:t>
            </a:r>
          </a:p>
          <a:p>
            <a:endParaRPr kumimoji="1" lang="en-US" altLang="ja-JP" sz="1400" b="1" dirty="0"/>
          </a:p>
          <a:p>
            <a:r>
              <a:rPr kumimoji="1" lang="ja-JP" altLang="en-US" sz="1400" b="1"/>
              <a:t>期間</a:t>
            </a:r>
            <a:r>
              <a:rPr kumimoji="1" lang="en-US" altLang="ja-JP" sz="1400" b="1" dirty="0"/>
              <a:t>: 2024</a:t>
            </a:r>
            <a:r>
              <a:rPr kumimoji="1" lang="ja-JP" altLang="en-US" sz="1400" b="1"/>
              <a:t>年</a:t>
            </a:r>
            <a:r>
              <a:rPr kumimoji="1" lang="en-US" altLang="ja-JP" sz="1400" b="1" dirty="0"/>
              <a:t>11</a:t>
            </a:r>
            <a:r>
              <a:rPr kumimoji="1" lang="ja-JP" altLang="en-US" sz="1400" b="1"/>
              <a:t>月の</a:t>
            </a:r>
            <a:r>
              <a:rPr kumimoji="1" lang="en-US" altLang="ja-JP" sz="1400" b="1" dirty="0"/>
              <a:t>1</a:t>
            </a:r>
            <a:r>
              <a:rPr kumimoji="1" lang="ja-JP" altLang="en-US" sz="1400" b="1"/>
              <a:t>ヶ月間　インプレッション数</a:t>
            </a:r>
            <a:r>
              <a:rPr kumimoji="1" lang="en-US" altLang="ja-JP" sz="1400" b="1" dirty="0"/>
              <a:t>: 2,048,367</a:t>
            </a:r>
            <a:r>
              <a:rPr kumimoji="1" lang="ja-JP" altLang="en-US" sz="1400" b="1"/>
              <a:t>　クリック数</a:t>
            </a:r>
            <a:r>
              <a:rPr kumimoji="1" lang="en-US" altLang="ja-JP" sz="1400" b="1" dirty="0"/>
              <a:t>: 24,189</a:t>
            </a:r>
            <a:r>
              <a:rPr kumimoji="1" lang="ja-JP" altLang="en-US" sz="1400" b="1"/>
              <a:t>　</a:t>
            </a:r>
            <a:r>
              <a:rPr kumimoji="1" lang="en-US" altLang="ja-JP" sz="1400" b="1" dirty="0"/>
              <a:t>CTR: 1.18%</a:t>
            </a:r>
          </a:p>
        </p:txBody>
      </p:sp>
      <p:graphicFrame>
        <p:nvGraphicFramePr>
          <p:cNvPr id="6" name="グラフ 5">
            <a:extLst>
              <a:ext uri="{FF2B5EF4-FFF2-40B4-BE49-F238E27FC236}">
                <a16:creationId xmlns:a16="http://schemas.microsoft.com/office/drawing/2014/main" id="{D746F6E3-C868-26AE-ABB1-364B3F27D21A}"/>
              </a:ext>
            </a:extLst>
          </p:cNvPr>
          <p:cNvGraphicFramePr/>
          <p:nvPr/>
        </p:nvGraphicFramePr>
        <p:xfrm>
          <a:off x="300010" y="1915496"/>
          <a:ext cx="5256931" cy="336089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グラフ 7">
            <a:extLst>
              <a:ext uri="{FF2B5EF4-FFF2-40B4-BE49-F238E27FC236}">
                <a16:creationId xmlns:a16="http://schemas.microsoft.com/office/drawing/2014/main" id="{E1417511-6702-8A6E-8E85-FCDF4EA8252E}"/>
              </a:ext>
            </a:extLst>
          </p:cNvPr>
          <p:cNvGraphicFramePr/>
          <p:nvPr/>
        </p:nvGraphicFramePr>
        <p:xfrm>
          <a:off x="5556941" y="1915497"/>
          <a:ext cx="6139103" cy="3486746"/>
        </p:xfrm>
        <a:graphic>
          <a:graphicData uri="http://schemas.openxmlformats.org/drawingml/2006/chart">
            <c:chart xmlns:c="http://schemas.openxmlformats.org/drawingml/2006/chart" xmlns:r="http://schemas.openxmlformats.org/officeDocument/2006/relationships" r:id="rId6"/>
          </a:graphicData>
        </a:graphic>
      </p:graphicFrame>
      <p:sp>
        <p:nvSpPr>
          <p:cNvPr id="9" name="角丸四角形 8">
            <a:extLst>
              <a:ext uri="{FF2B5EF4-FFF2-40B4-BE49-F238E27FC236}">
                <a16:creationId xmlns:a16="http://schemas.microsoft.com/office/drawing/2014/main" id="{A2A522C9-0C0C-32FB-4284-5C826D5BBFCD}"/>
              </a:ext>
            </a:extLst>
          </p:cNvPr>
          <p:cNvSpPr/>
          <p:nvPr/>
        </p:nvSpPr>
        <p:spPr>
          <a:xfrm>
            <a:off x="1403636" y="2754848"/>
            <a:ext cx="2615066" cy="1659900"/>
          </a:xfrm>
          <a:prstGeom prst="roundRect">
            <a:avLst>
              <a:gd name="adj" fmla="val 5712"/>
            </a:avLst>
          </a:prstGeom>
          <a:noFill/>
          <a:ln w="3175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0" name="TextBox 3">
            <a:extLst>
              <a:ext uri="{FF2B5EF4-FFF2-40B4-BE49-F238E27FC236}">
                <a16:creationId xmlns:a16="http://schemas.microsoft.com/office/drawing/2014/main" id="{CD13B413-2D5B-B9A1-AD8F-677AC47A321F}"/>
              </a:ext>
            </a:extLst>
          </p:cNvPr>
          <p:cNvSpPr txBox="1"/>
          <p:nvPr/>
        </p:nvSpPr>
        <p:spPr>
          <a:xfrm>
            <a:off x="2353800" y="2469988"/>
            <a:ext cx="756324" cy="307777"/>
          </a:xfrm>
          <a:prstGeom prst="rect">
            <a:avLst/>
          </a:prstGeom>
          <a:noFill/>
        </p:spPr>
        <p:txBody>
          <a:bodyPr wrap="square" rtlCol="0">
            <a:spAutoFit/>
          </a:bodyPr>
          <a:lstStyle/>
          <a:p>
            <a:pPr>
              <a:spcAft>
                <a:spcPts val="600"/>
              </a:spcAft>
            </a:pPr>
            <a:r>
              <a:rPr kumimoji="1" lang="en-US" altLang="ja-JP" sz="1400" b="1" dirty="0">
                <a:solidFill>
                  <a:schemeClr val="accent2"/>
                </a:solidFill>
              </a:rPr>
              <a:t>QFS</a:t>
            </a:r>
            <a:r>
              <a:rPr kumimoji="1" lang="ja-JP" altLang="en-US" sz="1400" b="1">
                <a:solidFill>
                  <a:schemeClr val="accent2"/>
                </a:solidFill>
              </a:rPr>
              <a:t>法</a:t>
            </a:r>
            <a:endParaRPr kumimoji="1" lang="en-US" altLang="ja-JP" sz="1400" dirty="0">
              <a:solidFill>
                <a:schemeClr val="accent2"/>
              </a:solidFill>
            </a:endParaRPr>
          </a:p>
        </p:txBody>
      </p:sp>
      <p:sp>
        <p:nvSpPr>
          <p:cNvPr id="11" name="角丸四角形 10">
            <a:extLst>
              <a:ext uri="{FF2B5EF4-FFF2-40B4-BE49-F238E27FC236}">
                <a16:creationId xmlns:a16="http://schemas.microsoft.com/office/drawing/2014/main" id="{BF434B72-2E48-83A5-46F3-CC85520E14BF}"/>
              </a:ext>
            </a:extLst>
          </p:cNvPr>
          <p:cNvSpPr/>
          <p:nvPr/>
        </p:nvSpPr>
        <p:spPr>
          <a:xfrm>
            <a:off x="6291113" y="2754848"/>
            <a:ext cx="1029911" cy="1694465"/>
          </a:xfrm>
          <a:prstGeom prst="roundRect">
            <a:avLst>
              <a:gd name="adj" fmla="val 5712"/>
            </a:avLst>
          </a:prstGeom>
          <a:noFill/>
          <a:ln w="3175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2" name="TextBox 3">
            <a:extLst>
              <a:ext uri="{FF2B5EF4-FFF2-40B4-BE49-F238E27FC236}">
                <a16:creationId xmlns:a16="http://schemas.microsoft.com/office/drawing/2014/main" id="{E4FEA6CA-24CE-75E6-7C2B-5550F0A4EC88}"/>
              </a:ext>
            </a:extLst>
          </p:cNvPr>
          <p:cNvSpPr txBox="1"/>
          <p:nvPr/>
        </p:nvSpPr>
        <p:spPr>
          <a:xfrm>
            <a:off x="6465519" y="2469987"/>
            <a:ext cx="756324" cy="307777"/>
          </a:xfrm>
          <a:prstGeom prst="rect">
            <a:avLst/>
          </a:prstGeom>
          <a:noFill/>
        </p:spPr>
        <p:txBody>
          <a:bodyPr wrap="square" rtlCol="0">
            <a:spAutoFit/>
          </a:bodyPr>
          <a:lstStyle/>
          <a:p>
            <a:pPr>
              <a:spcAft>
                <a:spcPts val="600"/>
              </a:spcAft>
            </a:pPr>
            <a:r>
              <a:rPr kumimoji="1" lang="en-US" altLang="ja-JP" sz="1400" b="1" dirty="0">
                <a:solidFill>
                  <a:schemeClr val="accent2"/>
                </a:solidFill>
              </a:rPr>
              <a:t>QFS</a:t>
            </a:r>
            <a:r>
              <a:rPr kumimoji="1" lang="ja-JP" altLang="en-US" sz="1400" b="1">
                <a:solidFill>
                  <a:schemeClr val="accent2"/>
                </a:solidFill>
              </a:rPr>
              <a:t>法</a:t>
            </a:r>
            <a:endParaRPr kumimoji="1" lang="en-US" altLang="ja-JP" sz="1400" dirty="0">
              <a:solidFill>
                <a:schemeClr val="accent2"/>
              </a:solidFill>
            </a:endParaRPr>
          </a:p>
        </p:txBody>
      </p:sp>
      <p:sp>
        <p:nvSpPr>
          <p:cNvPr id="14" name="角丸四角形 13">
            <a:extLst>
              <a:ext uri="{FF2B5EF4-FFF2-40B4-BE49-F238E27FC236}">
                <a16:creationId xmlns:a16="http://schemas.microsoft.com/office/drawing/2014/main" id="{2B9074C8-C5DF-A062-D316-0DAA11B26895}"/>
              </a:ext>
            </a:extLst>
          </p:cNvPr>
          <p:cNvSpPr/>
          <p:nvPr/>
        </p:nvSpPr>
        <p:spPr>
          <a:xfrm>
            <a:off x="8125468" y="2749024"/>
            <a:ext cx="1029911" cy="1694465"/>
          </a:xfrm>
          <a:prstGeom prst="roundRect">
            <a:avLst>
              <a:gd name="adj" fmla="val 5712"/>
            </a:avLst>
          </a:prstGeom>
          <a:noFill/>
          <a:ln w="3175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5" name="TextBox 3">
            <a:extLst>
              <a:ext uri="{FF2B5EF4-FFF2-40B4-BE49-F238E27FC236}">
                <a16:creationId xmlns:a16="http://schemas.microsoft.com/office/drawing/2014/main" id="{7A73260A-9FB5-F858-536A-A446E1A830D4}"/>
              </a:ext>
            </a:extLst>
          </p:cNvPr>
          <p:cNvSpPr txBox="1"/>
          <p:nvPr/>
        </p:nvSpPr>
        <p:spPr>
          <a:xfrm>
            <a:off x="8299874" y="2464163"/>
            <a:ext cx="756324" cy="307777"/>
          </a:xfrm>
          <a:prstGeom prst="rect">
            <a:avLst/>
          </a:prstGeom>
          <a:noFill/>
        </p:spPr>
        <p:txBody>
          <a:bodyPr wrap="square" rtlCol="0">
            <a:spAutoFit/>
          </a:bodyPr>
          <a:lstStyle/>
          <a:p>
            <a:pPr>
              <a:spcAft>
                <a:spcPts val="600"/>
              </a:spcAft>
            </a:pPr>
            <a:r>
              <a:rPr kumimoji="1" lang="en-US" altLang="ja-JP" sz="1400" b="1" dirty="0">
                <a:solidFill>
                  <a:schemeClr val="accent2"/>
                </a:solidFill>
              </a:rPr>
              <a:t>QFS</a:t>
            </a:r>
            <a:r>
              <a:rPr kumimoji="1" lang="ja-JP" altLang="en-US" sz="1400" b="1">
                <a:solidFill>
                  <a:schemeClr val="accent2"/>
                </a:solidFill>
              </a:rPr>
              <a:t>法</a:t>
            </a:r>
            <a:endParaRPr kumimoji="1" lang="en-US" altLang="ja-JP" sz="1400" dirty="0">
              <a:solidFill>
                <a:schemeClr val="accent2"/>
              </a:solidFill>
            </a:endParaRPr>
          </a:p>
        </p:txBody>
      </p:sp>
      <p:sp>
        <p:nvSpPr>
          <p:cNvPr id="16" name="角丸四角形 15">
            <a:extLst>
              <a:ext uri="{FF2B5EF4-FFF2-40B4-BE49-F238E27FC236}">
                <a16:creationId xmlns:a16="http://schemas.microsoft.com/office/drawing/2014/main" id="{7EB89EF8-CEBC-4B54-4D13-570DCD47FCCB}"/>
              </a:ext>
            </a:extLst>
          </p:cNvPr>
          <p:cNvSpPr/>
          <p:nvPr/>
        </p:nvSpPr>
        <p:spPr>
          <a:xfrm>
            <a:off x="9959823" y="2749024"/>
            <a:ext cx="1029911" cy="1694465"/>
          </a:xfrm>
          <a:prstGeom prst="roundRect">
            <a:avLst>
              <a:gd name="adj" fmla="val 5712"/>
            </a:avLst>
          </a:prstGeom>
          <a:noFill/>
          <a:ln w="31750">
            <a:solidFill>
              <a:schemeClr val="accent2"/>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7" name="TextBox 3">
            <a:extLst>
              <a:ext uri="{FF2B5EF4-FFF2-40B4-BE49-F238E27FC236}">
                <a16:creationId xmlns:a16="http://schemas.microsoft.com/office/drawing/2014/main" id="{93A290F0-C933-E837-F97E-A344945657AA}"/>
              </a:ext>
            </a:extLst>
          </p:cNvPr>
          <p:cNvSpPr txBox="1"/>
          <p:nvPr/>
        </p:nvSpPr>
        <p:spPr>
          <a:xfrm>
            <a:off x="10134229" y="2464163"/>
            <a:ext cx="756324" cy="307777"/>
          </a:xfrm>
          <a:prstGeom prst="rect">
            <a:avLst/>
          </a:prstGeom>
          <a:noFill/>
        </p:spPr>
        <p:txBody>
          <a:bodyPr wrap="square" rtlCol="0">
            <a:spAutoFit/>
          </a:bodyPr>
          <a:lstStyle/>
          <a:p>
            <a:pPr>
              <a:spcAft>
                <a:spcPts val="600"/>
              </a:spcAft>
            </a:pPr>
            <a:r>
              <a:rPr kumimoji="1" lang="en-US" altLang="ja-JP" sz="1400" b="1" dirty="0">
                <a:solidFill>
                  <a:schemeClr val="accent2"/>
                </a:solidFill>
              </a:rPr>
              <a:t>QFS</a:t>
            </a:r>
            <a:r>
              <a:rPr kumimoji="1" lang="ja-JP" altLang="en-US" sz="1400" b="1">
                <a:solidFill>
                  <a:schemeClr val="accent2"/>
                </a:solidFill>
              </a:rPr>
              <a:t>法</a:t>
            </a:r>
            <a:endParaRPr kumimoji="1" lang="en-US" altLang="ja-JP" sz="1400" dirty="0">
              <a:solidFill>
                <a:schemeClr val="accent2"/>
              </a:solidFill>
            </a:endParaRPr>
          </a:p>
        </p:txBody>
      </p:sp>
    </p:spTree>
    <p:extLst>
      <p:ext uri="{BB962C8B-B14F-4D97-AF65-F5344CB8AC3E}">
        <p14:creationId xmlns:p14="http://schemas.microsoft.com/office/powerpoint/2010/main" val="3917054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00C19-0E41-1F7B-1B8F-EB8B59541950}"/>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2330979F-A4EF-D0CC-3710-F06D5F36C86C}"/>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2330979F-A4EF-D0CC-3710-F06D5F36C86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CD03107F-822A-AEC1-D360-5AADFEE11AE4}"/>
              </a:ext>
            </a:extLst>
          </p:cNvPr>
          <p:cNvSpPr>
            <a:spLocks noGrp="1"/>
          </p:cNvSpPr>
          <p:nvPr>
            <p:ph type="body" sz="quarter" idx="10"/>
          </p:nvPr>
        </p:nvSpPr>
        <p:spPr/>
        <p:txBody>
          <a:bodyPr>
            <a:normAutofit fontScale="92500" lnSpcReduction="10000"/>
          </a:bodyPr>
          <a:lstStyle/>
          <a:p>
            <a:r>
              <a:rPr lang="en-US" altLang="ja-JP" dirty="0"/>
              <a:t>QFS</a:t>
            </a:r>
            <a:r>
              <a:rPr lang="ja-JP" altLang="en-US"/>
              <a:t>法において、パラメータ</a:t>
            </a:r>
            <a:r>
              <a:rPr lang="en-US" altLang="ja-JP" dirty="0"/>
              <a:t>α</a:t>
            </a:r>
            <a:r>
              <a:rPr lang="ja-JP" altLang="en-US"/>
              <a:t>を適切に設定することで選択できる特徴量の個数を調整できることを確認した</a:t>
            </a:r>
          </a:p>
        </p:txBody>
      </p:sp>
      <p:sp>
        <p:nvSpPr>
          <p:cNvPr id="3" name="Slide Number Placeholder 2">
            <a:extLst>
              <a:ext uri="{FF2B5EF4-FFF2-40B4-BE49-F238E27FC236}">
                <a16:creationId xmlns:a16="http://schemas.microsoft.com/office/drawing/2014/main" id="{C434D90F-A7BA-D0E9-B44D-DFED58F93AFE}"/>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5" name="テキスト ボックス 4">
            <a:extLst>
              <a:ext uri="{FF2B5EF4-FFF2-40B4-BE49-F238E27FC236}">
                <a16:creationId xmlns:a16="http://schemas.microsoft.com/office/drawing/2014/main" id="{7081E706-A3B2-1161-D048-2021D6B45FAD}"/>
              </a:ext>
            </a:extLst>
          </p:cNvPr>
          <p:cNvSpPr txBox="1"/>
          <p:nvPr/>
        </p:nvSpPr>
        <p:spPr>
          <a:xfrm>
            <a:off x="866407" y="1103956"/>
            <a:ext cx="4673074" cy="307777"/>
          </a:xfrm>
          <a:prstGeom prst="rect">
            <a:avLst/>
          </a:prstGeom>
          <a:noFill/>
        </p:spPr>
        <p:txBody>
          <a:bodyPr wrap="none" rtlCol="0">
            <a:spAutoFit/>
          </a:bodyPr>
          <a:lstStyle/>
          <a:p>
            <a:r>
              <a:rPr kumimoji="1" lang="ja-JP" altLang="en-US" sz="1400" b="1"/>
              <a:t>■キャンペーン：ふるさと納税リリースプロモーション</a:t>
            </a:r>
            <a:endParaRPr kumimoji="1" lang="en-US" altLang="ja-JP" sz="1100" b="1" dirty="0"/>
          </a:p>
        </p:txBody>
      </p:sp>
      <p:pic>
        <p:nvPicPr>
          <p:cNvPr id="18" name="図 17" descr="グラフ, 折れ線グラフ&#10;&#10;AI 生成コンテンツは誤りを含む可能性があります。">
            <a:extLst>
              <a:ext uri="{FF2B5EF4-FFF2-40B4-BE49-F238E27FC236}">
                <a16:creationId xmlns:a16="http://schemas.microsoft.com/office/drawing/2014/main" id="{1A70C9F4-04A1-C866-6D6E-F1054236AAE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4071" y="1411734"/>
            <a:ext cx="4309911" cy="2420552"/>
          </a:xfrm>
          <a:prstGeom prst="rect">
            <a:avLst/>
          </a:prstGeom>
        </p:spPr>
      </p:pic>
      <p:pic>
        <p:nvPicPr>
          <p:cNvPr id="21" name="図 20" descr="グラフ, 折れ線グラフ&#10;&#10;AI 生成コンテンツは誤りを含む可能性があります。">
            <a:extLst>
              <a:ext uri="{FF2B5EF4-FFF2-40B4-BE49-F238E27FC236}">
                <a16:creationId xmlns:a16="http://schemas.microsoft.com/office/drawing/2014/main" id="{E2CAE91C-2F8B-0D93-4D5C-6623FE6FEAA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46345" y="4251898"/>
            <a:ext cx="4267816" cy="2420552"/>
          </a:xfrm>
          <a:prstGeom prst="rect">
            <a:avLst/>
          </a:prstGeom>
        </p:spPr>
      </p:pic>
      <p:pic>
        <p:nvPicPr>
          <p:cNvPr id="23" name="図 22" descr="グラフ, 折れ線グラフ&#10;&#10;AI 生成コンテンツは誤りを含む可能性があります。">
            <a:extLst>
              <a:ext uri="{FF2B5EF4-FFF2-40B4-BE49-F238E27FC236}">
                <a16:creationId xmlns:a16="http://schemas.microsoft.com/office/drawing/2014/main" id="{19A75005-DA79-C80F-1C2C-464A109C8EE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373109" y="4254206"/>
            <a:ext cx="4259795" cy="2395508"/>
          </a:xfrm>
          <a:prstGeom prst="rect">
            <a:avLst/>
          </a:prstGeom>
        </p:spPr>
      </p:pic>
      <p:pic>
        <p:nvPicPr>
          <p:cNvPr id="25" name="図 24" descr="グラフ, 折れ線グラフ&#10;&#10;AI 生成コンテンツは誤りを含む可能性があります。">
            <a:extLst>
              <a:ext uri="{FF2B5EF4-FFF2-40B4-BE49-F238E27FC236}">
                <a16:creationId xmlns:a16="http://schemas.microsoft.com/office/drawing/2014/main" id="{E3E3A954-4CC6-650E-2523-095F130AAD8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85746" y="1431239"/>
            <a:ext cx="4309911" cy="2395508"/>
          </a:xfrm>
          <a:prstGeom prst="rect">
            <a:avLst/>
          </a:prstGeom>
        </p:spPr>
      </p:pic>
      <p:sp>
        <p:nvSpPr>
          <p:cNvPr id="26" name="テキスト ボックス 25">
            <a:extLst>
              <a:ext uri="{FF2B5EF4-FFF2-40B4-BE49-F238E27FC236}">
                <a16:creationId xmlns:a16="http://schemas.microsoft.com/office/drawing/2014/main" id="{F6CD43EA-1C84-3AC4-AEB7-A016F8462CC8}"/>
              </a:ext>
            </a:extLst>
          </p:cNvPr>
          <p:cNvSpPr txBox="1"/>
          <p:nvPr/>
        </p:nvSpPr>
        <p:spPr>
          <a:xfrm>
            <a:off x="6052744" y="1110213"/>
            <a:ext cx="3188693" cy="307777"/>
          </a:xfrm>
          <a:prstGeom prst="rect">
            <a:avLst/>
          </a:prstGeom>
          <a:noFill/>
        </p:spPr>
        <p:txBody>
          <a:bodyPr wrap="none" rtlCol="0">
            <a:spAutoFit/>
          </a:bodyPr>
          <a:lstStyle/>
          <a:p>
            <a:r>
              <a:rPr kumimoji="1" lang="ja-JP" altLang="en-US" sz="1400" b="1"/>
              <a:t>■キャンペーン：ユニセフ</a:t>
            </a:r>
            <a:r>
              <a:rPr kumimoji="1" lang="en-US" altLang="ja-JP" sz="1400" b="1" dirty="0"/>
              <a:t> (</a:t>
            </a:r>
            <a:r>
              <a:rPr kumimoji="1" lang="en-US" altLang="ja-JP" sz="1400" b="1" dirty="0" err="1"/>
              <a:t>iPS</a:t>
            </a:r>
            <a:r>
              <a:rPr kumimoji="1" lang="ja-JP" altLang="en-US" sz="1400" b="1"/>
              <a:t>細胞</a:t>
            </a:r>
            <a:r>
              <a:rPr kumimoji="1" lang="en-US" altLang="ja-JP" sz="1400" b="1" dirty="0"/>
              <a:t>)</a:t>
            </a:r>
            <a:endParaRPr kumimoji="1" lang="en-US" altLang="ja-JP" sz="1100" b="1" dirty="0"/>
          </a:p>
        </p:txBody>
      </p:sp>
      <p:sp>
        <p:nvSpPr>
          <p:cNvPr id="27" name="テキスト ボックス 26">
            <a:extLst>
              <a:ext uri="{FF2B5EF4-FFF2-40B4-BE49-F238E27FC236}">
                <a16:creationId xmlns:a16="http://schemas.microsoft.com/office/drawing/2014/main" id="{C9243360-2042-760E-7E77-EE81CE39DD6F}"/>
              </a:ext>
            </a:extLst>
          </p:cNvPr>
          <p:cNvSpPr txBox="1"/>
          <p:nvPr/>
        </p:nvSpPr>
        <p:spPr>
          <a:xfrm>
            <a:off x="1027431" y="3944121"/>
            <a:ext cx="2501006" cy="307777"/>
          </a:xfrm>
          <a:prstGeom prst="rect">
            <a:avLst/>
          </a:prstGeom>
          <a:noFill/>
        </p:spPr>
        <p:txBody>
          <a:bodyPr wrap="none" rtlCol="0">
            <a:spAutoFit/>
          </a:bodyPr>
          <a:lstStyle/>
          <a:p>
            <a:r>
              <a:rPr kumimoji="1" lang="ja-JP" altLang="en-US" sz="1400" b="1"/>
              <a:t>■キャンペーン：</a:t>
            </a:r>
            <a:r>
              <a:rPr kumimoji="1" lang="en-US" altLang="ja-JP" sz="1400" b="1" dirty="0"/>
              <a:t>JRA (</a:t>
            </a:r>
            <a:r>
              <a:rPr kumimoji="1" lang="ja-JP" altLang="en-US" sz="1400" b="1"/>
              <a:t>年末</a:t>
            </a:r>
            <a:r>
              <a:rPr kumimoji="1" lang="en-US" altLang="ja-JP" sz="1400" b="1" dirty="0"/>
              <a:t>)</a:t>
            </a:r>
            <a:endParaRPr kumimoji="1" lang="en-US" altLang="ja-JP" sz="1100" b="1" dirty="0"/>
          </a:p>
        </p:txBody>
      </p:sp>
      <p:sp>
        <p:nvSpPr>
          <p:cNvPr id="28" name="テキスト ボックス 27">
            <a:extLst>
              <a:ext uri="{FF2B5EF4-FFF2-40B4-BE49-F238E27FC236}">
                <a16:creationId xmlns:a16="http://schemas.microsoft.com/office/drawing/2014/main" id="{2BA8C362-7090-73B6-99BA-A62466E8FD9D}"/>
              </a:ext>
            </a:extLst>
          </p:cNvPr>
          <p:cNvSpPr txBox="1"/>
          <p:nvPr/>
        </p:nvSpPr>
        <p:spPr>
          <a:xfrm>
            <a:off x="6144397" y="3944121"/>
            <a:ext cx="2321469" cy="307777"/>
          </a:xfrm>
          <a:prstGeom prst="rect">
            <a:avLst/>
          </a:prstGeom>
          <a:noFill/>
        </p:spPr>
        <p:txBody>
          <a:bodyPr wrap="none" rtlCol="0">
            <a:spAutoFit/>
          </a:bodyPr>
          <a:lstStyle/>
          <a:p>
            <a:r>
              <a:rPr kumimoji="1" lang="ja-JP" altLang="en-US" sz="1400" b="1"/>
              <a:t>■キャンペーン：</a:t>
            </a:r>
            <a:r>
              <a:rPr kumimoji="1" lang="en-US" altLang="ja-JP" sz="1400" b="1" dirty="0"/>
              <a:t>JRA (</a:t>
            </a:r>
            <a:r>
              <a:rPr kumimoji="1" lang="ja-JP" altLang="en-US" sz="1400" b="1"/>
              <a:t>春</a:t>
            </a:r>
            <a:r>
              <a:rPr kumimoji="1" lang="en-US" altLang="ja-JP" sz="1400" b="1" dirty="0"/>
              <a:t>)</a:t>
            </a:r>
            <a:endParaRPr kumimoji="1" lang="en-US" altLang="ja-JP" sz="1100" b="1" dirty="0"/>
          </a:p>
        </p:txBody>
      </p:sp>
    </p:spTree>
    <p:extLst>
      <p:ext uri="{BB962C8B-B14F-4D97-AF65-F5344CB8AC3E}">
        <p14:creationId xmlns:p14="http://schemas.microsoft.com/office/powerpoint/2010/main" val="196413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4109C-30AD-09E9-DFAA-AEC5B2C6FB05}"/>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8C826AE1-FEE6-B717-5180-A08C46254508}"/>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id="{8C826AE1-FEE6-B717-5180-A08C4625450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DEB5E26C-6FD4-A04F-88FC-774A198EE931}"/>
              </a:ext>
            </a:extLst>
          </p:cNvPr>
          <p:cNvSpPr>
            <a:spLocks noGrp="1"/>
          </p:cNvSpPr>
          <p:nvPr>
            <p:ph type="body" sz="quarter" idx="10"/>
          </p:nvPr>
        </p:nvSpPr>
        <p:spPr/>
        <p:txBody>
          <a:bodyPr>
            <a:normAutofit fontScale="92500" lnSpcReduction="10000"/>
          </a:bodyPr>
          <a:lstStyle/>
          <a:p>
            <a:r>
              <a:rPr lang="ja-JP" altLang="en-US"/>
              <a:t>全特徴量をそのまま用いるよりも重要な一部の特徴量だけを用いるほうが、機械学習モデルの分類性能評価指標が高いことを確認した</a:t>
            </a:r>
          </a:p>
        </p:txBody>
      </p:sp>
      <p:sp>
        <p:nvSpPr>
          <p:cNvPr id="3" name="Slide Number Placeholder 2">
            <a:extLst>
              <a:ext uri="{FF2B5EF4-FFF2-40B4-BE49-F238E27FC236}">
                <a16:creationId xmlns:a16="http://schemas.microsoft.com/office/drawing/2014/main" id="{A6B13A4D-B749-8FC4-5373-D39B18A0820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5" name="テキスト ボックス 4">
            <a:extLst>
              <a:ext uri="{FF2B5EF4-FFF2-40B4-BE49-F238E27FC236}">
                <a16:creationId xmlns:a16="http://schemas.microsoft.com/office/drawing/2014/main" id="{565AE4F1-4B66-A575-502A-60A7286F66EA}"/>
              </a:ext>
            </a:extLst>
          </p:cNvPr>
          <p:cNvSpPr txBox="1"/>
          <p:nvPr/>
        </p:nvSpPr>
        <p:spPr>
          <a:xfrm>
            <a:off x="866407" y="1103956"/>
            <a:ext cx="4673074" cy="307777"/>
          </a:xfrm>
          <a:prstGeom prst="rect">
            <a:avLst/>
          </a:prstGeom>
          <a:noFill/>
        </p:spPr>
        <p:txBody>
          <a:bodyPr wrap="none" rtlCol="0">
            <a:spAutoFit/>
          </a:bodyPr>
          <a:lstStyle/>
          <a:p>
            <a:r>
              <a:rPr kumimoji="1" lang="ja-JP" altLang="en-US" sz="1400" b="1"/>
              <a:t>■</a:t>
            </a:r>
            <a:r>
              <a:rPr kumimoji="1" lang="en-US" altLang="ja-JP" sz="1400" b="1" dirty="0"/>
              <a:t> </a:t>
            </a:r>
            <a:r>
              <a:rPr kumimoji="1" lang="ja-JP" altLang="en-US" sz="1400" b="1"/>
              <a:t>ふるさと納税リリースプロモーション</a:t>
            </a:r>
            <a:r>
              <a:rPr kumimoji="1" lang="en-US" altLang="ja-JP" sz="1400" b="1" dirty="0"/>
              <a:t> </a:t>
            </a:r>
            <a:r>
              <a:rPr kumimoji="1" lang="ja-JP" altLang="en-US" sz="1400" b="1"/>
              <a:t>→</a:t>
            </a:r>
            <a:r>
              <a:rPr kumimoji="1" lang="en-US" altLang="ja-JP" sz="1400" b="1" dirty="0"/>
              <a:t> 13</a:t>
            </a:r>
            <a:r>
              <a:rPr kumimoji="1" lang="ja-JP" altLang="en-US" sz="1400" b="1"/>
              <a:t>個が最適</a:t>
            </a:r>
            <a:endParaRPr kumimoji="1" lang="en-US" altLang="ja-JP" sz="1100" b="1" dirty="0"/>
          </a:p>
        </p:txBody>
      </p:sp>
      <p:pic>
        <p:nvPicPr>
          <p:cNvPr id="18" name="図 17">
            <a:extLst>
              <a:ext uri="{FF2B5EF4-FFF2-40B4-BE49-F238E27FC236}">
                <a16:creationId xmlns:a16="http://schemas.microsoft.com/office/drawing/2014/main" id="{F04E2341-D9A4-131F-A242-371B981E19C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1124071" y="1407112"/>
            <a:ext cx="4309911" cy="2243428"/>
          </a:xfrm>
          <a:prstGeom prst="rect">
            <a:avLst/>
          </a:prstGeom>
        </p:spPr>
      </p:pic>
      <p:pic>
        <p:nvPicPr>
          <p:cNvPr id="21" name="図 20">
            <a:extLst>
              <a:ext uri="{FF2B5EF4-FFF2-40B4-BE49-F238E27FC236}">
                <a16:creationId xmlns:a16="http://schemas.microsoft.com/office/drawing/2014/main" id="{DC9E707D-3E64-C4D5-81E1-A90E205659AB}"/>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1146345" y="4114778"/>
            <a:ext cx="4267816" cy="2275460"/>
          </a:xfrm>
          <a:prstGeom prst="rect">
            <a:avLst/>
          </a:prstGeom>
        </p:spPr>
      </p:pic>
      <p:pic>
        <p:nvPicPr>
          <p:cNvPr id="23" name="図 22">
            <a:extLst>
              <a:ext uri="{FF2B5EF4-FFF2-40B4-BE49-F238E27FC236}">
                <a16:creationId xmlns:a16="http://schemas.microsoft.com/office/drawing/2014/main" id="{59AB6BD0-5BBD-EC6F-CC84-96117201D66F}"/>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6373109" y="4060881"/>
            <a:ext cx="4259795" cy="2362825"/>
          </a:xfrm>
          <a:prstGeom prst="rect">
            <a:avLst/>
          </a:prstGeom>
        </p:spPr>
      </p:pic>
      <p:pic>
        <p:nvPicPr>
          <p:cNvPr id="25" name="図 24">
            <a:extLst>
              <a:ext uri="{FF2B5EF4-FFF2-40B4-BE49-F238E27FC236}">
                <a16:creationId xmlns:a16="http://schemas.microsoft.com/office/drawing/2014/main" id="{20E94E62-0CF9-7690-78E3-A0340757680C}"/>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6325917" y="1338055"/>
            <a:ext cx="4229568" cy="2395508"/>
          </a:xfrm>
          <a:prstGeom prst="rect">
            <a:avLst/>
          </a:prstGeom>
        </p:spPr>
      </p:pic>
      <p:sp>
        <p:nvSpPr>
          <p:cNvPr id="26" name="テキスト ボックス 25">
            <a:extLst>
              <a:ext uri="{FF2B5EF4-FFF2-40B4-BE49-F238E27FC236}">
                <a16:creationId xmlns:a16="http://schemas.microsoft.com/office/drawing/2014/main" id="{03A460F8-B65A-FA98-CAD4-1DE889168935}"/>
              </a:ext>
            </a:extLst>
          </p:cNvPr>
          <p:cNvSpPr txBox="1"/>
          <p:nvPr/>
        </p:nvSpPr>
        <p:spPr>
          <a:xfrm>
            <a:off x="6052744" y="1110213"/>
            <a:ext cx="3188693" cy="307777"/>
          </a:xfrm>
          <a:prstGeom prst="rect">
            <a:avLst/>
          </a:prstGeom>
          <a:noFill/>
        </p:spPr>
        <p:txBody>
          <a:bodyPr wrap="none" rtlCol="0">
            <a:spAutoFit/>
          </a:bodyPr>
          <a:lstStyle/>
          <a:p>
            <a:r>
              <a:rPr kumimoji="1" lang="ja-JP" altLang="en-US" sz="1400" b="1"/>
              <a:t>■</a:t>
            </a:r>
            <a:r>
              <a:rPr kumimoji="1" lang="en-US" altLang="ja-JP" sz="1400" b="1" dirty="0"/>
              <a:t> </a:t>
            </a:r>
            <a:r>
              <a:rPr kumimoji="1" lang="ja-JP" altLang="en-US" sz="1400" b="1"/>
              <a:t>ユニセフ</a:t>
            </a:r>
            <a:r>
              <a:rPr kumimoji="1" lang="en-US" altLang="ja-JP" sz="1400" b="1" dirty="0"/>
              <a:t> (</a:t>
            </a:r>
            <a:r>
              <a:rPr kumimoji="1" lang="en-US" altLang="ja-JP" sz="1400" b="1" dirty="0" err="1"/>
              <a:t>iPS</a:t>
            </a:r>
            <a:r>
              <a:rPr kumimoji="1" lang="ja-JP" altLang="en-US" sz="1400" b="1"/>
              <a:t>細胞</a:t>
            </a:r>
            <a:r>
              <a:rPr kumimoji="1" lang="en-US" altLang="ja-JP" sz="1400" b="1" dirty="0"/>
              <a:t>) </a:t>
            </a:r>
            <a:r>
              <a:rPr kumimoji="1" lang="ja-JP" altLang="en-US" sz="1400" b="1"/>
              <a:t>→</a:t>
            </a:r>
            <a:r>
              <a:rPr kumimoji="1" lang="en-US" altLang="ja-JP" sz="1400" b="1" dirty="0"/>
              <a:t> 16</a:t>
            </a:r>
            <a:r>
              <a:rPr kumimoji="1" lang="ja-JP" altLang="en-US" sz="1400" b="1"/>
              <a:t>個が最適</a:t>
            </a:r>
            <a:endParaRPr kumimoji="1" lang="en-US" altLang="ja-JP" sz="1100" b="1" dirty="0"/>
          </a:p>
        </p:txBody>
      </p:sp>
      <p:sp>
        <p:nvSpPr>
          <p:cNvPr id="27" name="テキスト ボックス 26">
            <a:extLst>
              <a:ext uri="{FF2B5EF4-FFF2-40B4-BE49-F238E27FC236}">
                <a16:creationId xmlns:a16="http://schemas.microsoft.com/office/drawing/2014/main" id="{7C1885E9-916C-D8F7-A5CE-41F758DD4C8C}"/>
              </a:ext>
            </a:extLst>
          </p:cNvPr>
          <p:cNvSpPr txBox="1"/>
          <p:nvPr/>
        </p:nvSpPr>
        <p:spPr>
          <a:xfrm>
            <a:off x="1027431" y="3833465"/>
            <a:ext cx="2501006" cy="307777"/>
          </a:xfrm>
          <a:prstGeom prst="rect">
            <a:avLst/>
          </a:prstGeom>
          <a:noFill/>
        </p:spPr>
        <p:txBody>
          <a:bodyPr wrap="none" rtlCol="0">
            <a:spAutoFit/>
          </a:bodyPr>
          <a:lstStyle/>
          <a:p>
            <a:r>
              <a:rPr kumimoji="1" lang="ja-JP" altLang="en-US" sz="1400" b="1"/>
              <a:t>■</a:t>
            </a:r>
            <a:r>
              <a:rPr kumimoji="1" lang="en-US" altLang="ja-JP" sz="1400" b="1" dirty="0"/>
              <a:t> JRA (</a:t>
            </a:r>
            <a:r>
              <a:rPr kumimoji="1" lang="ja-JP" altLang="en-US" sz="1400" b="1"/>
              <a:t>年末</a:t>
            </a:r>
            <a:r>
              <a:rPr kumimoji="1" lang="en-US" altLang="ja-JP" sz="1400" b="1" dirty="0"/>
              <a:t>) </a:t>
            </a:r>
            <a:r>
              <a:rPr kumimoji="1" lang="ja-JP" altLang="en-US" sz="1400" b="1"/>
              <a:t>→</a:t>
            </a:r>
            <a:r>
              <a:rPr kumimoji="1" lang="en-US" altLang="ja-JP" sz="1400" b="1" dirty="0"/>
              <a:t> 19</a:t>
            </a:r>
            <a:r>
              <a:rPr kumimoji="1" lang="ja-JP" altLang="en-US" sz="1400" b="1"/>
              <a:t>個が最適</a:t>
            </a:r>
            <a:endParaRPr kumimoji="1" lang="en-US" altLang="ja-JP" sz="1100" b="1" dirty="0"/>
          </a:p>
        </p:txBody>
      </p:sp>
      <p:sp>
        <p:nvSpPr>
          <p:cNvPr id="28" name="テキスト ボックス 27">
            <a:extLst>
              <a:ext uri="{FF2B5EF4-FFF2-40B4-BE49-F238E27FC236}">
                <a16:creationId xmlns:a16="http://schemas.microsoft.com/office/drawing/2014/main" id="{936B27AA-E608-50FF-C709-CB55841098C5}"/>
              </a:ext>
            </a:extLst>
          </p:cNvPr>
          <p:cNvSpPr txBox="1"/>
          <p:nvPr/>
        </p:nvSpPr>
        <p:spPr>
          <a:xfrm>
            <a:off x="6144397" y="3833465"/>
            <a:ext cx="2321469" cy="307777"/>
          </a:xfrm>
          <a:prstGeom prst="rect">
            <a:avLst/>
          </a:prstGeom>
          <a:noFill/>
        </p:spPr>
        <p:txBody>
          <a:bodyPr wrap="none" rtlCol="0">
            <a:spAutoFit/>
          </a:bodyPr>
          <a:lstStyle/>
          <a:p>
            <a:r>
              <a:rPr kumimoji="1" lang="ja-JP" altLang="en-US" sz="1400" b="1"/>
              <a:t>■</a:t>
            </a:r>
            <a:r>
              <a:rPr kumimoji="1" lang="en-US" altLang="ja-JP" sz="1400" b="1" dirty="0"/>
              <a:t> JRA (</a:t>
            </a:r>
            <a:r>
              <a:rPr kumimoji="1" lang="ja-JP" altLang="en-US" sz="1400" b="1"/>
              <a:t>春</a:t>
            </a:r>
            <a:r>
              <a:rPr kumimoji="1" lang="en-US" altLang="ja-JP" sz="1400" b="1" dirty="0"/>
              <a:t>) </a:t>
            </a:r>
            <a:r>
              <a:rPr kumimoji="1" lang="ja-JP" altLang="en-US" sz="1400" b="1"/>
              <a:t>→</a:t>
            </a:r>
            <a:r>
              <a:rPr kumimoji="1" lang="en-US" altLang="ja-JP" sz="1400" b="1" dirty="0"/>
              <a:t> 13</a:t>
            </a:r>
            <a:r>
              <a:rPr kumimoji="1" lang="ja-JP" altLang="en-US" sz="1400" b="1"/>
              <a:t>個が最適</a:t>
            </a:r>
            <a:endParaRPr kumimoji="1" lang="en-US" altLang="ja-JP" sz="1100" b="1" dirty="0"/>
          </a:p>
        </p:txBody>
      </p:sp>
      <p:sp>
        <p:nvSpPr>
          <p:cNvPr id="2" name="テキスト ボックス 1">
            <a:extLst>
              <a:ext uri="{FF2B5EF4-FFF2-40B4-BE49-F238E27FC236}">
                <a16:creationId xmlns:a16="http://schemas.microsoft.com/office/drawing/2014/main" id="{09A4423D-939A-F07F-3EA6-66478ADAB958}"/>
              </a:ext>
            </a:extLst>
          </p:cNvPr>
          <p:cNvSpPr txBox="1"/>
          <p:nvPr/>
        </p:nvSpPr>
        <p:spPr>
          <a:xfrm>
            <a:off x="1050727" y="6433185"/>
            <a:ext cx="7478708" cy="276999"/>
          </a:xfrm>
          <a:prstGeom prst="rect">
            <a:avLst/>
          </a:prstGeom>
          <a:noFill/>
        </p:spPr>
        <p:txBody>
          <a:bodyPr wrap="square" rtlCol="0">
            <a:spAutoFit/>
          </a:bodyPr>
          <a:lstStyle/>
          <a:p>
            <a:r>
              <a:rPr kumimoji="1" lang="en-US" altLang="ja-JP" sz="1200" dirty="0"/>
              <a:t>※</a:t>
            </a:r>
            <a:r>
              <a:rPr kumimoji="1" lang="ja-JP" altLang="en-US" sz="1200"/>
              <a:t>縦軸は</a:t>
            </a:r>
            <a:r>
              <a:rPr kumimoji="1" lang="en-US" altLang="ja-JP" sz="1200" dirty="0" err="1"/>
              <a:t>LightGBM</a:t>
            </a:r>
            <a:r>
              <a:rPr kumimoji="1" lang="ja-JP" altLang="en-US" sz="1200"/>
              <a:t>学習時の最適化対象指標。ここでは</a:t>
            </a:r>
            <a:r>
              <a:rPr kumimoji="1" lang="en-US" altLang="ja-JP" sz="1200" dirty="0"/>
              <a:t>ROC-AUC(</a:t>
            </a:r>
            <a:r>
              <a:rPr kumimoji="1" lang="ja-JP" altLang="en-US" sz="1200"/>
              <a:t>分類性能</a:t>
            </a:r>
            <a:r>
              <a:rPr kumimoji="1" lang="en-US" altLang="ja-JP" sz="1200" dirty="0"/>
              <a:t>)</a:t>
            </a:r>
            <a:r>
              <a:rPr kumimoji="1" lang="ja-JP" altLang="en-US" sz="1200"/>
              <a:t>を使用。</a:t>
            </a:r>
            <a:endParaRPr kumimoji="1" lang="en-US" altLang="ja-JP" sz="1050" dirty="0"/>
          </a:p>
        </p:txBody>
      </p:sp>
    </p:spTree>
    <p:extLst>
      <p:ext uri="{BB962C8B-B14F-4D97-AF65-F5344CB8AC3E}">
        <p14:creationId xmlns:p14="http://schemas.microsoft.com/office/powerpoint/2010/main" val="1126654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ACF40-6C9E-4F22-7E9A-8F83D533C820}"/>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7E1FF017-45C4-C767-2FAF-C5E527CADCA6}"/>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7E1FF017-45C4-C767-2FAF-C5E527CADCA6}"/>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75E4E7C1-B8C0-962E-6A0A-C348DE91A5D8}"/>
              </a:ext>
            </a:extLst>
          </p:cNvPr>
          <p:cNvSpPr>
            <a:spLocks noGrp="1"/>
          </p:cNvSpPr>
          <p:nvPr>
            <p:ph type="body" sz="quarter" idx="10"/>
          </p:nvPr>
        </p:nvSpPr>
        <p:spPr/>
        <p:txBody>
          <a:bodyPr>
            <a:normAutofit fontScale="92500" lnSpcReduction="10000"/>
          </a:bodyPr>
          <a:lstStyle/>
          <a:p>
            <a:r>
              <a:rPr lang="en-US" altLang="ja-JP" dirty="0"/>
              <a:t>QFS</a:t>
            </a:r>
            <a:r>
              <a:rPr lang="ja-JP" altLang="en-US"/>
              <a:t>により選択された特徴量からクリックを予測する学習モデルを構築、配信数および予測</a:t>
            </a:r>
            <a:r>
              <a:rPr lang="en-US" altLang="ja-JP" dirty="0"/>
              <a:t>CTR</a:t>
            </a:r>
            <a:r>
              <a:rPr lang="ja-JP" altLang="en-US"/>
              <a:t>の見積りが可能</a:t>
            </a:r>
            <a:r>
              <a:rPr lang="en-US" altLang="ja-JP" dirty="0"/>
              <a:t> (1): </a:t>
            </a:r>
            <a:r>
              <a:rPr lang="ja-JP" altLang="en-US"/>
              <a:t>「ふるさと納税」</a:t>
            </a:r>
            <a:endParaRPr lang="ja-JP" altLang="en-US" dirty="0"/>
          </a:p>
        </p:txBody>
      </p:sp>
      <p:sp>
        <p:nvSpPr>
          <p:cNvPr id="3" name="Slide Number Placeholder 2">
            <a:extLst>
              <a:ext uri="{FF2B5EF4-FFF2-40B4-BE49-F238E27FC236}">
                <a16:creationId xmlns:a16="http://schemas.microsoft.com/office/drawing/2014/main" id="{08411FCC-0BED-8A96-BD1D-CA94656CB342}"/>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pic>
        <p:nvPicPr>
          <p:cNvPr id="4" name="図 3" descr="グラフ&#10;&#10;AI 生成コンテンツは誤りを含む可能性があります。">
            <a:extLst>
              <a:ext uri="{FF2B5EF4-FFF2-40B4-BE49-F238E27FC236}">
                <a16:creationId xmlns:a16="http://schemas.microsoft.com/office/drawing/2014/main" id="{82FB2448-B7EA-68D4-62CD-3D68A0661E4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7183" y="3113989"/>
            <a:ext cx="3492944" cy="3592743"/>
          </a:xfrm>
          <a:prstGeom prst="rect">
            <a:avLst/>
          </a:prstGeom>
        </p:spPr>
      </p:pic>
      <p:pic>
        <p:nvPicPr>
          <p:cNvPr id="6" name="図 5" descr="グラフ, 折れ線グラフ&#10;&#10;AI 生成コンテンツは誤りを含む可能性があります。">
            <a:extLst>
              <a:ext uri="{FF2B5EF4-FFF2-40B4-BE49-F238E27FC236}">
                <a16:creationId xmlns:a16="http://schemas.microsoft.com/office/drawing/2014/main" id="{C9C2395F-508F-A76D-992A-C7E85FDF775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72446" y="3480734"/>
            <a:ext cx="6433318" cy="2859252"/>
          </a:xfrm>
          <a:prstGeom prst="rect">
            <a:avLst/>
          </a:prstGeom>
        </p:spPr>
      </p:pic>
      <p:sp>
        <p:nvSpPr>
          <p:cNvPr id="8" name="TextBox 3">
            <a:extLst>
              <a:ext uri="{FF2B5EF4-FFF2-40B4-BE49-F238E27FC236}">
                <a16:creationId xmlns:a16="http://schemas.microsoft.com/office/drawing/2014/main" id="{B2CE0D1C-C503-5533-CB15-55FB4414CB58}"/>
              </a:ext>
            </a:extLst>
          </p:cNvPr>
          <p:cNvSpPr txBox="1"/>
          <p:nvPr/>
        </p:nvSpPr>
        <p:spPr>
          <a:xfrm>
            <a:off x="540850" y="1035589"/>
            <a:ext cx="11393591" cy="830997"/>
          </a:xfrm>
          <a:prstGeom prst="rect">
            <a:avLst/>
          </a:prstGeom>
          <a:noFill/>
        </p:spPr>
        <p:txBody>
          <a:bodyPr wrap="square" rtlCol="0">
            <a:spAutoFit/>
          </a:bodyPr>
          <a:lstStyle/>
          <a:p>
            <a:pPr>
              <a:spcAft>
                <a:spcPts val="600"/>
              </a:spcAft>
            </a:pPr>
            <a:r>
              <a:rPr kumimoji="1" lang="ja-JP" altLang="en-US" sz="1600" b="1"/>
              <a:t>■</a:t>
            </a:r>
            <a:r>
              <a:rPr kumimoji="1" lang="en-US" altLang="ja-JP" sz="1600" b="1" dirty="0"/>
              <a:t> </a:t>
            </a:r>
            <a:r>
              <a:rPr kumimoji="1" lang="ja-JP" altLang="en-US" sz="1600" b="1"/>
              <a:t>広告案件</a:t>
            </a:r>
            <a:r>
              <a:rPr kumimoji="1" lang="en-US" altLang="ja-JP" sz="1600" b="1" dirty="0"/>
              <a:t>: </a:t>
            </a:r>
            <a:r>
              <a:rPr kumimoji="1" lang="ja-JP" altLang="en-US" sz="1600" b="1"/>
              <a:t>ふるさと納税リリースプロモーション</a:t>
            </a:r>
            <a:r>
              <a:rPr kumimoji="1" lang="en-US" altLang="ja-JP" sz="1600" b="1" dirty="0"/>
              <a:t> (2025</a:t>
            </a:r>
            <a:r>
              <a:rPr kumimoji="1" lang="ja-JP" altLang="en-US" sz="1600" b="1"/>
              <a:t>年</a:t>
            </a:r>
            <a:r>
              <a:rPr kumimoji="1" lang="en-US" altLang="ja-JP" sz="1600" b="1" dirty="0"/>
              <a:t>7</a:t>
            </a:r>
            <a:r>
              <a:rPr kumimoji="1" lang="ja-JP" altLang="en-US" sz="1600" b="1"/>
              <a:t>月</a:t>
            </a:r>
            <a:r>
              <a:rPr kumimoji="1" lang="en-US" altLang="ja-JP" sz="1600" b="1" dirty="0"/>
              <a:t>1</a:t>
            </a:r>
            <a:r>
              <a:rPr kumimoji="1" lang="ja-JP" altLang="en-US" sz="1600" b="1"/>
              <a:t>日配信開始</a:t>
            </a:r>
            <a:r>
              <a:rPr kumimoji="1" lang="en-US" altLang="ja-JP" sz="1600" b="1" dirty="0"/>
              <a:t>)</a:t>
            </a:r>
            <a:br>
              <a:rPr kumimoji="1" lang="en-US" altLang="ja-JP" sz="1600" dirty="0"/>
            </a:br>
            <a:r>
              <a:rPr kumimoji="1" lang="ja-JP" altLang="en-US" sz="1600"/>
              <a:t>実績配信顧客数</a:t>
            </a:r>
            <a:r>
              <a:rPr kumimoji="1" lang="en-US" altLang="ja-JP" sz="1600" dirty="0"/>
              <a:t>: 1,840,518  ※</a:t>
            </a:r>
            <a:r>
              <a:rPr kumimoji="1" lang="ja-JP" altLang="en-US" sz="1600"/>
              <a:t>同一顧客に複数配信あり</a:t>
            </a:r>
            <a:br>
              <a:rPr kumimoji="1" lang="en-US" altLang="ja-JP" sz="1600" dirty="0"/>
            </a:br>
            <a:r>
              <a:rPr kumimoji="1" lang="ja-JP" altLang="en-US" sz="1600"/>
              <a:t>実績</a:t>
            </a:r>
            <a:r>
              <a:rPr kumimoji="1" lang="en-US" altLang="ja-JP" sz="1600" dirty="0"/>
              <a:t>CTR (</a:t>
            </a:r>
            <a:r>
              <a:rPr kumimoji="1" lang="ja-JP" altLang="en-US" sz="1600"/>
              <a:t>総クリック数</a:t>
            </a:r>
            <a:r>
              <a:rPr kumimoji="1" lang="en-US" altLang="ja-JP" sz="1600" dirty="0"/>
              <a:t>/</a:t>
            </a:r>
            <a:r>
              <a:rPr kumimoji="1" lang="ja-JP" altLang="en-US" sz="1600"/>
              <a:t>総インプレッション数</a:t>
            </a:r>
            <a:r>
              <a:rPr kumimoji="1" lang="en-US" altLang="ja-JP" sz="1600" dirty="0"/>
              <a:t>): 1.14% ,  (</a:t>
            </a:r>
            <a:r>
              <a:rPr kumimoji="1" lang="ja-JP" altLang="en-US" sz="1600"/>
              <a:t>クリックした顧客数</a:t>
            </a:r>
            <a:r>
              <a:rPr kumimoji="1" lang="en-US" altLang="ja-JP" sz="1600" dirty="0"/>
              <a:t>/</a:t>
            </a:r>
            <a:r>
              <a:rPr kumimoji="1" lang="ja-JP" altLang="en-US" sz="1600"/>
              <a:t>配信顧客数</a:t>
            </a:r>
            <a:r>
              <a:rPr kumimoji="1" lang="en-US" altLang="ja-JP" sz="1600" dirty="0"/>
              <a:t>): 2.06%</a:t>
            </a:r>
            <a:endParaRPr kumimoji="1" lang="ja-JP" altLang="en-US" sz="1400"/>
          </a:p>
        </p:txBody>
      </p:sp>
      <p:sp>
        <p:nvSpPr>
          <p:cNvPr id="9" name="TextBox 3">
            <a:extLst>
              <a:ext uri="{FF2B5EF4-FFF2-40B4-BE49-F238E27FC236}">
                <a16:creationId xmlns:a16="http://schemas.microsoft.com/office/drawing/2014/main" id="{8CC270E6-2BCC-AEE6-B054-76160FDC3B56}"/>
              </a:ext>
            </a:extLst>
          </p:cNvPr>
          <p:cNvSpPr txBox="1"/>
          <p:nvPr/>
        </p:nvSpPr>
        <p:spPr>
          <a:xfrm>
            <a:off x="540850" y="1897314"/>
            <a:ext cx="11393591" cy="584775"/>
          </a:xfrm>
          <a:prstGeom prst="rect">
            <a:avLst/>
          </a:prstGeom>
          <a:noFill/>
        </p:spPr>
        <p:txBody>
          <a:bodyPr wrap="square" rtlCol="0">
            <a:spAutoFit/>
          </a:bodyPr>
          <a:lstStyle/>
          <a:p>
            <a:pPr>
              <a:spcAft>
                <a:spcPts val="600"/>
              </a:spcAft>
            </a:pPr>
            <a:r>
              <a:rPr kumimoji="1" lang="ja-JP" altLang="en-US" sz="1600" b="1"/>
              <a:t>■</a:t>
            </a:r>
            <a:r>
              <a:rPr kumimoji="1" lang="en-US" altLang="ja-JP" sz="1600" b="1" dirty="0"/>
              <a:t> </a:t>
            </a:r>
            <a:r>
              <a:rPr kumimoji="1" lang="ja-JP" altLang="en-US" sz="1600" b="1"/>
              <a:t>学習結果</a:t>
            </a:r>
            <a:br>
              <a:rPr kumimoji="1" lang="en-US" altLang="ja-JP" sz="1600" b="1" dirty="0"/>
            </a:br>
            <a:r>
              <a:rPr kumimoji="1" lang="ja-JP" altLang="en-US" sz="1600"/>
              <a:t>特徴量</a:t>
            </a:r>
            <a:r>
              <a:rPr kumimoji="1" lang="en-US" altLang="ja-JP" sz="1600" dirty="0"/>
              <a:t> </a:t>
            </a:r>
            <a:r>
              <a:rPr kumimoji="1" lang="en-US" altLang="ja-JP" sz="1600" u="sng" dirty="0"/>
              <a:t>13</a:t>
            </a:r>
            <a:r>
              <a:rPr kumimoji="1" lang="ja-JP" altLang="en-US" sz="1600" u="sng"/>
              <a:t>個</a:t>
            </a:r>
            <a:r>
              <a:rPr kumimoji="1" lang="en-US" altLang="ja-JP" sz="1600" dirty="0"/>
              <a:t> </a:t>
            </a:r>
            <a:r>
              <a:rPr kumimoji="1" lang="ja-JP" altLang="en-US" sz="1600"/>
              <a:t>を選択したときが最も</a:t>
            </a:r>
            <a:r>
              <a:rPr kumimoji="1" lang="en-US" altLang="ja-JP" sz="1600" dirty="0"/>
              <a:t>ROC-AUC(</a:t>
            </a:r>
            <a:r>
              <a:rPr kumimoji="1" lang="ja-JP" altLang="en-US" sz="1600"/>
              <a:t>分類性能評価の指標</a:t>
            </a:r>
            <a:r>
              <a:rPr kumimoji="1" lang="en-US" altLang="ja-JP" sz="1600" dirty="0"/>
              <a:t>)</a:t>
            </a:r>
            <a:r>
              <a:rPr kumimoji="1" lang="ja-JP" altLang="en-US" sz="1600"/>
              <a:t>が高い</a:t>
            </a:r>
            <a:endParaRPr kumimoji="1" lang="ja-JP" altLang="en-US" sz="1400"/>
          </a:p>
        </p:txBody>
      </p:sp>
      <p:sp>
        <p:nvSpPr>
          <p:cNvPr id="10" name="TextBox 3">
            <a:extLst>
              <a:ext uri="{FF2B5EF4-FFF2-40B4-BE49-F238E27FC236}">
                <a16:creationId xmlns:a16="http://schemas.microsoft.com/office/drawing/2014/main" id="{4B08D706-D410-A946-AA12-C4E117DDEA1A}"/>
              </a:ext>
            </a:extLst>
          </p:cNvPr>
          <p:cNvSpPr txBox="1"/>
          <p:nvPr/>
        </p:nvSpPr>
        <p:spPr>
          <a:xfrm>
            <a:off x="1178965" y="2403919"/>
            <a:ext cx="9974750" cy="261610"/>
          </a:xfrm>
          <a:prstGeom prst="rect">
            <a:avLst/>
          </a:prstGeom>
          <a:noFill/>
        </p:spPr>
        <p:txBody>
          <a:bodyPr wrap="square" rtlCol="0">
            <a:spAutoFit/>
          </a:bodyPr>
          <a:lstStyle/>
          <a:p>
            <a:pPr>
              <a:spcAft>
                <a:spcPts val="600"/>
              </a:spcAft>
            </a:pPr>
            <a:r>
              <a:rPr kumimoji="1" lang="ja-JP" altLang="en-US" sz="1100"/>
              <a:t>これは全特徴量をそのまま使うより指標が高く、また変数が減ることで説明性が増すため、量子計算による特徴量選択が有効であるといえる。</a:t>
            </a:r>
            <a:endParaRPr kumimoji="1" lang="ja-JP" altLang="en-US" sz="1050"/>
          </a:p>
        </p:txBody>
      </p:sp>
      <p:sp>
        <p:nvSpPr>
          <p:cNvPr id="11" name="TextBox 3">
            <a:extLst>
              <a:ext uri="{FF2B5EF4-FFF2-40B4-BE49-F238E27FC236}">
                <a16:creationId xmlns:a16="http://schemas.microsoft.com/office/drawing/2014/main" id="{8D568EAC-3645-4466-F910-A2E12564E2A0}"/>
              </a:ext>
            </a:extLst>
          </p:cNvPr>
          <p:cNvSpPr txBox="1"/>
          <p:nvPr/>
        </p:nvSpPr>
        <p:spPr>
          <a:xfrm>
            <a:off x="826231" y="2845211"/>
            <a:ext cx="4240821" cy="430887"/>
          </a:xfrm>
          <a:prstGeom prst="rect">
            <a:avLst/>
          </a:prstGeom>
          <a:noFill/>
        </p:spPr>
        <p:txBody>
          <a:bodyPr wrap="square" rtlCol="0">
            <a:spAutoFit/>
          </a:bodyPr>
          <a:lstStyle/>
          <a:p>
            <a:pPr>
              <a:spcAft>
                <a:spcPts val="600"/>
              </a:spcAft>
            </a:pPr>
            <a:r>
              <a:rPr kumimoji="1" lang="ja-JP" altLang="en-US" sz="1100" b="1"/>
              <a:t>モデルが予測するクリック確率ごとに顧客数のヒストグラム</a:t>
            </a:r>
            <a:br>
              <a:rPr kumimoji="1" lang="en-US" altLang="ja-JP" sz="1100" b="1" dirty="0"/>
            </a:br>
            <a:r>
              <a:rPr kumimoji="1" lang="ja-JP" altLang="en-US" sz="1100" b="1"/>
              <a:t>実際にクリックされた数を</a:t>
            </a:r>
            <a:r>
              <a:rPr kumimoji="1" lang="ja-JP" altLang="en-US" sz="1100" b="1">
                <a:solidFill>
                  <a:schemeClr val="accent2">
                    <a:lumMod val="75000"/>
                  </a:schemeClr>
                </a:solidFill>
              </a:rPr>
              <a:t>橙色</a:t>
            </a:r>
            <a:r>
              <a:rPr kumimoji="1" lang="ja-JP" altLang="en-US" sz="1100" b="1"/>
              <a:t>、されなかった数を</a:t>
            </a:r>
            <a:r>
              <a:rPr kumimoji="1" lang="ja-JP" altLang="en-US" sz="1100" b="1">
                <a:solidFill>
                  <a:schemeClr val="accent1"/>
                </a:solidFill>
              </a:rPr>
              <a:t>水色</a:t>
            </a:r>
            <a:r>
              <a:rPr kumimoji="1" lang="ja-JP" altLang="en-US" sz="1100" b="1"/>
              <a:t>で表現</a:t>
            </a:r>
            <a:endParaRPr kumimoji="1" lang="en-US" altLang="ja-JP" sz="1100" b="1" dirty="0"/>
          </a:p>
        </p:txBody>
      </p:sp>
      <p:sp>
        <p:nvSpPr>
          <p:cNvPr id="12" name="TextBox 3">
            <a:extLst>
              <a:ext uri="{FF2B5EF4-FFF2-40B4-BE49-F238E27FC236}">
                <a16:creationId xmlns:a16="http://schemas.microsoft.com/office/drawing/2014/main" id="{ED78FCF4-2ABF-486A-290A-DD362B01264E}"/>
              </a:ext>
            </a:extLst>
          </p:cNvPr>
          <p:cNvSpPr txBox="1"/>
          <p:nvPr/>
        </p:nvSpPr>
        <p:spPr>
          <a:xfrm>
            <a:off x="2440374" y="4706078"/>
            <a:ext cx="2131624" cy="938719"/>
          </a:xfrm>
          <a:prstGeom prst="rect">
            <a:avLst/>
          </a:prstGeom>
          <a:noFill/>
        </p:spPr>
        <p:txBody>
          <a:bodyPr wrap="square" rtlCol="0">
            <a:spAutoFit/>
          </a:bodyPr>
          <a:lstStyle/>
          <a:p>
            <a:pPr>
              <a:spcAft>
                <a:spcPts val="600"/>
              </a:spcAft>
            </a:pPr>
            <a:r>
              <a:rPr kumimoji="1" lang="ja-JP" altLang="en-US" sz="1100" b="1"/>
              <a:t>クリック確率が大きい範囲（横軸右側）へ</a:t>
            </a:r>
            <a:r>
              <a:rPr kumimoji="1" lang="ja-JP" altLang="en-US" sz="1100" b="1">
                <a:solidFill>
                  <a:schemeClr val="accent2">
                    <a:lumMod val="75000"/>
                  </a:schemeClr>
                </a:solidFill>
              </a:rPr>
              <a:t>橙色</a:t>
            </a:r>
            <a:r>
              <a:rPr kumimoji="1" lang="ja-JP" altLang="en-US" sz="1100" b="1"/>
              <a:t>が伸びていることで、実績クリック有りを正しく予測できていることを表す。</a:t>
            </a:r>
            <a:endParaRPr kumimoji="1" lang="en-US" altLang="ja-JP" sz="1100" b="1" dirty="0"/>
          </a:p>
        </p:txBody>
      </p:sp>
      <p:sp>
        <p:nvSpPr>
          <p:cNvPr id="14" name="TextBox 3">
            <a:extLst>
              <a:ext uri="{FF2B5EF4-FFF2-40B4-BE49-F238E27FC236}">
                <a16:creationId xmlns:a16="http://schemas.microsoft.com/office/drawing/2014/main" id="{985C8E6F-43D8-4D35-22F1-CE61804B9930}"/>
              </a:ext>
            </a:extLst>
          </p:cNvPr>
          <p:cNvSpPr txBox="1"/>
          <p:nvPr/>
        </p:nvSpPr>
        <p:spPr>
          <a:xfrm>
            <a:off x="5154585" y="2847478"/>
            <a:ext cx="5666786" cy="430887"/>
          </a:xfrm>
          <a:prstGeom prst="rect">
            <a:avLst/>
          </a:prstGeom>
          <a:noFill/>
        </p:spPr>
        <p:txBody>
          <a:bodyPr wrap="square" rtlCol="0">
            <a:spAutoFit/>
          </a:bodyPr>
          <a:lstStyle/>
          <a:p>
            <a:pPr>
              <a:spcAft>
                <a:spcPts val="600"/>
              </a:spcAft>
            </a:pPr>
            <a:r>
              <a:rPr kumimoji="1" lang="ja-JP" altLang="en-US" sz="1100" b="1"/>
              <a:t>閾値を</a:t>
            </a:r>
            <a:r>
              <a:rPr kumimoji="1" lang="en-US" altLang="ja-JP" sz="1100" b="1" dirty="0"/>
              <a:t>0〜1</a:t>
            </a:r>
            <a:r>
              <a:rPr kumimoji="1" lang="ja-JP" altLang="en-US" sz="1100" b="1"/>
              <a:t>の間に定め、クリック確率が閾値を超える顧客に配信したと仮定したときのインプレッション数・クリック数・予測</a:t>
            </a:r>
            <a:r>
              <a:rPr kumimoji="1" lang="en-US" altLang="ja-JP" sz="1100" b="1" dirty="0"/>
              <a:t>CTR</a:t>
            </a:r>
          </a:p>
        </p:txBody>
      </p:sp>
      <p:sp>
        <p:nvSpPr>
          <p:cNvPr id="15" name="TextBox 3">
            <a:extLst>
              <a:ext uri="{FF2B5EF4-FFF2-40B4-BE49-F238E27FC236}">
                <a16:creationId xmlns:a16="http://schemas.microsoft.com/office/drawing/2014/main" id="{EE1F3DCA-AC70-F546-87B5-5CE85CB76616}"/>
              </a:ext>
            </a:extLst>
          </p:cNvPr>
          <p:cNvSpPr txBox="1"/>
          <p:nvPr/>
        </p:nvSpPr>
        <p:spPr>
          <a:xfrm>
            <a:off x="7840381" y="4836611"/>
            <a:ext cx="2131624" cy="938719"/>
          </a:xfrm>
          <a:prstGeom prst="rect">
            <a:avLst/>
          </a:prstGeom>
          <a:noFill/>
        </p:spPr>
        <p:txBody>
          <a:bodyPr wrap="square" rtlCol="0">
            <a:spAutoFit/>
          </a:bodyPr>
          <a:lstStyle/>
          <a:p>
            <a:pPr>
              <a:spcAft>
                <a:spcPts val="600"/>
              </a:spcAft>
            </a:pPr>
            <a:r>
              <a:rPr kumimoji="1" lang="ja-JP" altLang="en-US" sz="1100" b="1"/>
              <a:t>閾値を上げるほど配信対象の</a:t>
            </a:r>
            <a:r>
              <a:rPr kumimoji="1" lang="ja-JP" altLang="en-US" sz="1100" b="1">
                <a:solidFill>
                  <a:schemeClr val="accent5">
                    <a:lumMod val="75000"/>
                  </a:schemeClr>
                </a:solidFill>
              </a:rPr>
              <a:t>インプレッション数</a:t>
            </a:r>
            <a:r>
              <a:rPr kumimoji="1" lang="ja-JP" altLang="en-US" sz="1100" b="1"/>
              <a:t>は下がるが、相対的な</a:t>
            </a:r>
            <a:r>
              <a:rPr kumimoji="1" lang="ja-JP" altLang="en-US" sz="1100" b="1">
                <a:solidFill>
                  <a:schemeClr val="accent1">
                    <a:lumMod val="75000"/>
                  </a:schemeClr>
                </a:solidFill>
              </a:rPr>
              <a:t>クリック数</a:t>
            </a:r>
            <a:r>
              <a:rPr kumimoji="1" lang="ja-JP" altLang="en-US" sz="1100" b="1"/>
              <a:t>が上がるため、</a:t>
            </a:r>
            <a:r>
              <a:rPr kumimoji="1" lang="ja-JP" altLang="en-US" sz="1100" b="1">
                <a:solidFill>
                  <a:schemeClr val="accent5">
                    <a:lumMod val="75000"/>
                  </a:schemeClr>
                </a:solidFill>
              </a:rPr>
              <a:t>インプレッション数</a:t>
            </a:r>
            <a:r>
              <a:rPr kumimoji="1" lang="ja-JP" altLang="en-US" sz="1100" b="1"/>
              <a:t>と</a:t>
            </a:r>
            <a:r>
              <a:rPr kumimoji="1" lang="en-US" altLang="ja-JP" sz="1100" b="1" dirty="0">
                <a:solidFill>
                  <a:srgbClr val="FF0000"/>
                </a:solidFill>
              </a:rPr>
              <a:t>CTR</a:t>
            </a:r>
            <a:r>
              <a:rPr kumimoji="1" lang="ja-JP" altLang="en-US" sz="1100" b="1"/>
              <a:t>はトレードオフ関係</a:t>
            </a:r>
            <a:endParaRPr kumimoji="1" lang="en-US" altLang="ja-JP" sz="1100" b="1" dirty="0"/>
          </a:p>
        </p:txBody>
      </p:sp>
      <p:cxnSp>
        <p:nvCxnSpPr>
          <p:cNvPr id="16" name="直線コネクタ 15">
            <a:extLst>
              <a:ext uri="{FF2B5EF4-FFF2-40B4-BE49-F238E27FC236}">
                <a16:creationId xmlns:a16="http://schemas.microsoft.com/office/drawing/2014/main" id="{EE123F14-3375-D564-AFA9-9C3D80F4BA6F}"/>
              </a:ext>
            </a:extLst>
          </p:cNvPr>
          <p:cNvCxnSpPr>
            <a:cxnSpLocks/>
          </p:cNvCxnSpPr>
          <p:nvPr/>
        </p:nvCxnSpPr>
        <p:spPr>
          <a:xfrm flipV="1">
            <a:off x="6230217" y="3529468"/>
            <a:ext cx="0" cy="2513286"/>
          </a:xfrm>
          <a:prstGeom prst="line">
            <a:avLst/>
          </a:prstGeom>
          <a:ln w="25400"/>
        </p:spPr>
        <p:style>
          <a:lnRef idx="1">
            <a:schemeClr val="accent2"/>
          </a:lnRef>
          <a:fillRef idx="0">
            <a:schemeClr val="accent2"/>
          </a:fillRef>
          <a:effectRef idx="0">
            <a:schemeClr val="accent2"/>
          </a:effectRef>
          <a:fontRef idx="minor">
            <a:schemeClr val="tx1"/>
          </a:fontRef>
        </p:style>
      </p:cxnSp>
      <p:sp>
        <p:nvSpPr>
          <p:cNvPr id="17" name="四角形吹き出し 16">
            <a:extLst>
              <a:ext uri="{FF2B5EF4-FFF2-40B4-BE49-F238E27FC236}">
                <a16:creationId xmlns:a16="http://schemas.microsoft.com/office/drawing/2014/main" id="{CB1A47CF-A760-8B6A-032E-A99140972B35}"/>
              </a:ext>
            </a:extLst>
          </p:cNvPr>
          <p:cNvSpPr/>
          <p:nvPr/>
        </p:nvSpPr>
        <p:spPr>
          <a:xfrm>
            <a:off x="6714265" y="3792446"/>
            <a:ext cx="4905015" cy="686368"/>
          </a:xfrm>
          <a:prstGeom prst="wedgeRectCallout">
            <a:avLst>
              <a:gd name="adj1" fmla="val -58731"/>
              <a:gd name="adj2" fmla="val 20750"/>
            </a:avLst>
          </a:prstGeom>
          <a:ln w="25400"/>
        </p:spPr>
        <p:style>
          <a:lnRef idx="2">
            <a:schemeClr val="accent2"/>
          </a:lnRef>
          <a:fillRef idx="1">
            <a:schemeClr val="lt1"/>
          </a:fillRef>
          <a:effectRef idx="0">
            <a:schemeClr val="accent2"/>
          </a:effectRef>
          <a:fontRef idx="minor">
            <a:schemeClr val="dk1"/>
          </a:fontRef>
        </p:style>
        <p:txBody>
          <a:bodyPr rtlCol="0" anchor="ctr"/>
          <a:lstStyle/>
          <a:p>
            <a:r>
              <a:rPr kumimoji="1" lang="ja-JP" altLang="en-US" sz="1200"/>
              <a:t>閾値としてクリック確率</a:t>
            </a:r>
            <a:r>
              <a:rPr kumimoji="1" lang="en-US" altLang="ja-JP" sz="1200" dirty="0"/>
              <a:t>0.2</a:t>
            </a:r>
            <a:r>
              <a:rPr kumimoji="1" lang="ja-JP" altLang="en-US" sz="1200"/>
              <a:t>を設定</a:t>
            </a:r>
            <a:r>
              <a:rPr kumimoji="1" lang="en-US" altLang="ja-JP" sz="1200" dirty="0"/>
              <a:t>:</a:t>
            </a:r>
            <a:br>
              <a:rPr kumimoji="1" lang="en-US" altLang="ja-JP" sz="1400" dirty="0"/>
            </a:br>
            <a:r>
              <a:rPr kumimoji="1" lang="ja-JP" altLang="en-US" sz="1400"/>
              <a:t>評価用テストデータ約</a:t>
            </a:r>
            <a:r>
              <a:rPr kumimoji="1" lang="en-US" altLang="ja-JP" sz="1400" dirty="0"/>
              <a:t>37</a:t>
            </a:r>
            <a:r>
              <a:rPr kumimoji="1" lang="ja-JP" altLang="en-US" sz="1400"/>
              <a:t>万人のうち約</a:t>
            </a:r>
            <a:r>
              <a:rPr kumimoji="1" lang="en-US" altLang="ja-JP" sz="1400" dirty="0"/>
              <a:t>7.4</a:t>
            </a:r>
            <a:r>
              <a:rPr kumimoji="1" lang="ja-JP" altLang="en-US" sz="1400"/>
              <a:t>万人に</a:t>
            </a:r>
            <a:br>
              <a:rPr kumimoji="1" lang="en-US" altLang="ja-JP" sz="1400" dirty="0"/>
            </a:br>
            <a:r>
              <a:rPr kumimoji="1" lang="ja-JP" altLang="en-US" sz="1400"/>
              <a:t>配信することで</a:t>
            </a:r>
            <a:r>
              <a:rPr kumimoji="1" lang="ja-JP" altLang="en-US" sz="1400" b="1">
                <a:solidFill>
                  <a:schemeClr val="accent2"/>
                </a:solidFill>
              </a:rPr>
              <a:t>予測</a:t>
            </a:r>
            <a:r>
              <a:rPr kumimoji="1" lang="en-US" altLang="ja-JP" sz="1400" b="1" dirty="0">
                <a:solidFill>
                  <a:schemeClr val="accent2"/>
                </a:solidFill>
              </a:rPr>
              <a:t>CTR 3.10% (2.06%</a:t>
            </a:r>
            <a:r>
              <a:rPr kumimoji="1" lang="ja-JP" altLang="en-US" sz="1400" b="1">
                <a:solidFill>
                  <a:schemeClr val="accent2"/>
                </a:solidFill>
              </a:rPr>
              <a:t>から</a:t>
            </a:r>
            <a:r>
              <a:rPr kumimoji="1" lang="en-US" altLang="ja-JP" sz="1400" b="1" dirty="0">
                <a:solidFill>
                  <a:schemeClr val="accent2"/>
                </a:solidFill>
              </a:rPr>
              <a:t>1.04%pt</a:t>
            </a:r>
            <a:r>
              <a:rPr kumimoji="1" lang="ja-JP" altLang="en-US" sz="1400" b="1">
                <a:solidFill>
                  <a:schemeClr val="accent2"/>
                </a:solidFill>
              </a:rPr>
              <a:t>向上</a:t>
            </a:r>
            <a:r>
              <a:rPr kumimoji="1" lang="en-US" altLang="ja-JP" sz="1400" b="1" dirty="0">
                <a:solidFill>
                  <a:schemeClr val="accent2"/>
                </a:solidFill>
              </a:rPr>
              <a:t>)</a:t>
            </a:r>
            <a:endParaRPr kumimoji="1" lang="ja-JP" altLang="en-US" sz="1400" b="1">
              <a:solidFill>
                <a:schemeClr val="accent2"/>
              </a:solidFill>
            </a:endParaRPr>
          </a:p>
        </p:txBody>
      </p:sp>
    </p:spTree>
    <p:extLst>
      <p:ext uri="{BB962C8B-B14F-4D97-AF65-F5344CB8AC3E}">
        <p14:creationId xmlns:p14="http://schemas.microsoft.com/office/powerpoint/2010/main" val="4274327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6EF78-EF81-D9BE-22A6-5376E44F1721}"/>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CF56CA26-053D-B58B-760A-736D8351C149}"/>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CF56CA26-053D-B58B-760A-736D8351C14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C026FF06-3D46-22D6-FDCF-77FBF4EE3150}"/>
              </a:ext>
            </a:extLst>
          </p:cNvPr>
          <p:cNvSpPr>
            <a:spLocks noGrp="1"/>
          </p:cNvSpPr>
          <p:nvPr>
            <p:ph type="body" sz="quarter" idx="10"/>
          </p:nvPr>
        </p:nvSpPr>
        <p:spPr/>
        <p:txBody>
          <a:bodyPr>
            <a:normAutofit fontScale="92500" lnSpcReduction="10000"/>
          </a:bodyPr>
          <a:lstStyle/>
          <a:p>
            <a:r>
              <a:rPr lang="ja-JP" altLang="en-US"/>
              <a:t>学習モデルを分析することによる潜在顧客セグメントの探索</a:t>
            </a:r>
            <a:r>
              <a:rPr lang="en-US" altLang="ja-JP" dirty="0"/>
              <a:t> (1):</a:t>
            </a:r>
            <a:br>
              <a:rPr lang="en-US" altLang="ja-JP" dirty="0"/>
            </a:br>
            <a:r>
              <a:rPr lang="ja-JP" altLang="en-US"/>
              <a:t>「ふるさと納税」</a:t>
            </a:r>
            <a:endParaRPr lang="ja-JP" altLang="en-US" dirty="0"/>
          </a:p>
        </p:txBody>
      </p:sp>
      <p:sp>
        <p:nvSpPr>
          <p:cNvPr id="3" name="Slide Number Placeholder 2">
            <a:extLst>
              <a:ext uri="{FF2B5EF4-FFF2-40B4-BE49-F238E27FC236}">
                <a16:creationId xmlns:a16="http://schemas.microsoft.com/office/drawing/2014/main" id="{A2D15A7B-5662-8CAB-F679-F5334917799E}"/>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2" name="TextBox 3">
            <a:extLst>
              <a:ext uri="{FF2B5EF4-FFF2-40B4-BE49-F238E27FC236}">
                <a16:creationId xmlns:a16="http://schemas.microsoft.com/office/drawing/2014/main" id="{955BC5EE-C130-62FD-0320-7F9545F8F0EE}"/>
              </a:ext>
            </a:extLst>
          </p:cNvPr>
          <p:cNvSpPr txBox="1"/>
          <p:nvPr/>
        </p:nvSpPr>
        <p:spPr>
          <a:xfrm>
            <a:off x="604917" y="2140737"/>
            <a:ext cx="10982166" cy="846386"/>
          </a:xfrm>
          <a:prstGeom prst="rect">
            <a:avLst/>
          </a:prstGeom>
          <a:noFill/>
        </p:spPr>
        <p:txBody>
          <a:bodyPr wrap="square" rtlCol="0">
            <a:spAutoFit/>
          </a:bodyPr>
          <a:lstStyle/>
          <a:p>
            <a:pPr>
              <a:spcAft>
                <a:spcPts val="600"/>
              </a:spcAft>
            </a:pPr>
            <a:r>
              <a:rPr kumimoji="1" lang="ja-JP" altLang="en-US" sz="1600" b="1"/>
              <a:t>■</a:t>
            </a:r>
            <a:r>
              <a:rPr kumimoji="1" lang="en-US" altLang="ja-JP" sz="1600" b="1" dirty="0"/>
              <a:t> </a:t>
            </a:r>
            <a:r>
              <a:rPr kumimoji="1" lang="ja-JP" altLang="en-US" sz="1600" b="1"/>
              <a:t>量子特徴量選択により選ばれた</a:t>
            </a:r>
            <a:r>
              <a:rPr kumimoji="1" lang="en-US" altLang="ja-JP" sz="1600" b="1" dirty="0"/>
              <a:t> </a:t>
            </a:r>
            <a:r>
              <a:rPr kumimoji="1" lang="en-US" altLang="ja-JP" sz="1600" b="1" u="sng" dirty="0"/>
              <a:t>13</a:t>
            </a:r>
            <a:r>
              <a:rPr kumimoji="1" lang="ja-JP" altLang="en-US" sz="1600" b="1" u="sng"/>
              <a:t>個の属性</a:t>
            </a:r>
            <a:r>
              <a:rPr kumimoji="1" lang="ja-JP" altLang="en-US" sz="1600" b="1"/>
              <a:t>（クリック予測への寄与度の大きい順）</a:t>
            </a:r>
            <a:endParaRPr kumimoji="1" lang="en-US" altLang="ja-JP" sz="1600" b="1" dirty="0"/>
          </a:p>
          <a:p>
            <a:pPr>
              <a:spcAft>
                <a:spcPts val="600"/>
              </a:spcAft>
            </a:pPr>
            <a:r>
              <a:rPr kumimoji="1" lang="ja-JP" altLang="en-US" sz="1400"/>
              <a:t>旅行関心、年齢、個人資産、性別、世帯の年間収入、居住地</a:t>
            </a:r>
            <a:r>
              <a:rPr kumimoji="1" lang="en-US" altLang="ja-JP" sz="1400" dirty="0"/>
              <a:t>(</a:t>
            </a:r>
            <a:r>
              <a:rPr kumimoji="1" lang="ja-JP" altLang="en-US" sz="1400"/>
              <a:t>県</a:t>
            </a:r>
            <a:r>
              <a:rPr kumimoji="1" lang="en-US" altLang="ja-JP" sz="1400" dirty="0"/>
              <a:t>)</a:t>
            </a:r>
            <a:r>
              <a:rPr kumimoji="1" lang="ja-JP" altLang="en-US" sz="1400"/>
              <a:t>、電話代引落額、就職、出産、ガス代引落額、子ども大学卒業、電気代引落額、新卒社会人</a:t>
            </a:r>
          </a:p>
        </p:txBody>
      </p:sp>
      <p:sp>
        <p:nvSpPr>
          <p:cNvPr id="5" name="TextBox 3">
            <a:extLst>
              <a:ext uri="{FF2B5EF4-FFF2-40B4-BE49-F238E27FC236}">
                <a16:creationId xmlns:a16="http://schemas.microsoft.com/office/drawing/2014/main" id="{3EDEE9FA-304F-05A2-B85E-782D3A58E9A8}"/>
              </a:ext>
            </a:extLst>
          </p:cNvPr>
          <p:cNvSpPr txBox="1"/>
          <p:nvPr/>
        </p:nvSpPr>
        <p:spPr>
          <a:xfrm>
            <a:off x="604917" y="2967211"/>
            <a:ext cx="10935342" cy="338554"/>
          </a:xfrm>
          <a:prstGeom prst="rect">
            <a:avLst/>
          </a:prstGeom>
          <a:noFill/>
        </p:spPr>
        <p:txBody>
          <a:bodyPr wrap="square" rtlCol="0">
            <a:spAutoFit/>
          </a:bodyPr>
          <a:lstStyle/>
          <a:p>
            <a:pPr>
              <a:spcAft>
                <a:spcPts val="600"/>
              </a:spcAft>
            </a:pPr>
            <a:r>
              <a:rPr kumimoji="1" lang="ja-JP" altLang="en-US" sz="1600" b="1"/>
              <a:t>■</a:t>
            </a:r>
            <a:r>
              <a:rPr kumimoji="1" lang="en-US" altLang="ja-JP" sz="1600" b="1" dirty="0"/>
              <a:t> </a:t>
            </a:r>
            <a:r>
              <a:rPr kumimoji="1" lang="ja-JP" altLang="en-US" sz="1600" b="1"/>
              <a:t>選択特徴量から導かれるクリックが期待される顧客セグメント</a:t>
            </a:r>
            <a:r>
              <a:rPr kumimoji="1" lang="en-US" altLang="ja-JP" sz="1600" b="1" dirty="0"/>
              <a:t> (</a:t>
            </a:r>
            <a:r>
              <a:rPr kumimoji="1" lang="ja-JP" altLang="en-US" sz="1600" b="1"/>
              <a:t>実績</a:t>
            </a:r>
            <a:r>
              <a:rPr kumimoji="1" lang="en-US" altLang="ja-JP" sz="1600" b="1" dirty="0"/>
              <a:t>CTR: 1.14%)</a:t>
            </a:r>
            <a:endParaRPr kumimoji="1" lang="ja-JP" altLang="en-US" sz="1400"/>
          </a:p>
        </p:txBody>
      </p:sp>
      <p:sp>
        <p:nvSpPr>
          <p:cNvPr id="6" name="TextBox 3">
            <a:extLst>
              <a:ext uri="{FF2B5EF4-FFF2-40B4-BE49-F238E27FC236}">
                <a16:creationId xmlns:a16="http://schemas.microsoft.com/office/drawing/2014/main" id="{C07A24B9-0599-A2AE-5DF9-F6F78AF00826}"/>
              </a:ext>
            </a:extLst>
          </p:cNvPr>
          <p:cNvSpPr txBox="1"/>
          <p:nvPr/>
        </p:nvSpPr>
        <p:spPr>
          <a:xfrm>
            <a:off x="604917" y="972604"/>
            <a:ext cx="10982166" cy="1215717"/>
          </a:xfrm>
          <a:prstGeom prst="rect">
            <a:avLst/>
          </a:prstGeom>
          <a:noFill/>
        </p:spPr>
        <p:txBody>
          <a:bodyPr wrap="square" rtlCol="0">
            <a:spAutoFit/>
          </a:bodyPr>
          <a:lstStyle/>
          <a:p>
            <a:pPr>
              <a:spcAft>
                <a:spcPts val="600"/>
              </a:spcAft>
            </a:pPr>
            <a:r>
              <a:rPr kumimoji="1" lang="ja-JP" altLang="en-US" sz="1600" b="1"/>
              <a:t>■</a:t>
            </a:r>
            <a:r>
              <a:rPr kumimoji="1" lang="en-US" altLang="ja-JP" sz="1600" b="1" dirty="0"/>
              <a:t> </a:t>
            </a:r>
            <a:r>
              <a:rPr kumimoji="1" lang="ja-JP" altLang="en-US" sz="1600" b="1"/>
              <a:t>分析結果から得られる示唆</a:t>
            </a:r>
            <a:endParaRPr kumimoji="1" lang="en-US" altLang="ja-JP" sz="1600" b="1" dirty="0"/>
          </a:p>
          <a:p>
            <a:pPr marL="285750" indent="-285750">
              <a:spcAft>
                <a:spcPts val="600"/>
              </a:spcAft>
              <a:buFont typeface="Arial" panose="020B0604020202020204" pitchFamily="34" charset="0"/>
              <a:buChar char="•"/>
            </a:pPr>
            <a:r>
              <a:rPr kumimoji="1" lang="ja-JP" altLang="en-US" sz="1400"/>
              <a:t>「旅行関心層」および「旅行関心層</a:t>
            </a:r>
            <a:r>
              <a:rPr kumimoji="1" lang="en-US" altLang="ja-JP" sz="1400" dirty="0"/>
              <a:t>×</a:t>
            </a:r>
            <a:r>
              <a:rPr kumimoji="1" lang="ja-JP" altLang="en-US" sz="1400"/>
              <a:t>他のライフイベント」の組み合わせで最も高いクリック反応を示す。</a:t>
            </a:r>
            <a:endParaRPr kumimoji="1" lang="en-US" altLang="ja-JP" sz="1400" dirty="0"/>
          </a:p>
          <a:p>
            <a:pPr marL="285750" indent="-285750">
              <a:spcAft>
                <a:spcPts val="600"/>
              </a:spcAft>
              <a:buFont typeface="Arial" panose="020B0604020202020204" pitchFamily="34" charset="0"/>
              <a:buChar char="•"/>
            </a:pPr>
            <a:r>
              <a:rPr kumimoji="1" lang="ja-JP" altLang="en-US" sz="1400"/>
              <a:t>ボリュームは比較的小さいものの新卒社会人層からのふるさと納税への関心も高い傾向が確認される。</a:t>
            </a:r>
            <a:endParaRPr kumimoji="1" lang="en-US" altLang="ja-JP" sz="1400" dirty="0"/>
          </a:p>
          <a:p>
            <a:pPr marL="285750" indent="-285750">
              <a:spcAft>
                <a:spcPts val="600"/>
              </a:spcAft>
              <a:buFont typeface="Arial" panose="020B0604020202020204" pitchFamily="34" charset="0"/>
              <a:buChar char="•"/>
            </a:pPr>
            <a:r>
              <a:rPr kumimoji="1" lang="ja-JP" altLang="en-US" sz="1400"/>
              <a:t>個人資産が多い・世帯年間収入が高い層ほど関心を示すものの、世帯年間収入が低い層も一定のクリック数を示す。</a:t>
            </a:r>
          </a:p>
        </p:txBody>
      </p:sp>
      <p:graphicFrame>
        <p:nvGraphicFramePr>
          <p:cNvPr id="8" name="表 7">
            <a:extLst>
              <a:ext uri="{FF2B5EF4-FFF2-40B4-BE49-F238E27FC236}">
                <a16:creationId xmlns:a16="http://schemas.microsoft.com/office/drawing/2014/main" id="{853480BB-7FDC-7803-F632-E9BCE5C0DB62}"/>
              </a:ext>
            </a:extLst>
          </p:cNvPr>
          <p:cNvGraphicFramePr>
            <a:graphicFrameLocks noGrp="1"/>
          </p:cNvGraphicFramePr>
          <p:nvPr/>
        </p:nvGraphicFramePr>
        <p:xfrm>
          <a:off x="680859" y="3321779"/>
          <a:ext cx="10906224" cy="2834640"/>
        </p:xfrm>
        <a:graphic>
          <a:graphicData uri="http://schemas.openxmlformats.org/drawingml/2006/table">
            <a:tbl>
              <a:tblPr firstRow="1" bandRow="1">
                <a:tableStyleId>{5C22544A-7EE6-4342-B048-85BDC9FD1C3A}</a:tableStyleId>
              </a:tblPr>
              <a:tblGrid>
                <a:gridCol w="3730943">
                  <a:extLst>
                    <a:ext uri="{9D8B030D-6E8A-4147-A177-3AD203B41FA5}">
                      <a16:colId xmlns:a16="http://schemas.microsoft.com/office/drawing/2014/main" val="1167605434"/>
                    </a:ext>
                  </a:extLst>
                </a:gridCol>
                <a:gridCol w="5045808">
                  <a:extLst>
                    <a:ext uri="{9D8B030D-6E8A-4147-A177-3AD203B41FA5}">
                      <a16:colId xmlns:a16="http://schemas.microsoft.com/office/drawing/2014/main" val="2671981474"/>
                    </a:ext>
                  </a:extLst>
                </a:gridCol>
                <a:gridCol w="1141730">
                  <a:extLst>
                    <a:ext uri="{9D8B030D-6E8A-4147-A177-3AD203B41FA5}">
                      <a16:colId xmlns:a16="http://schemas.microsoft.com/office/drawing/2014/main" val="3730403844"/>
                    </a:ext>
                  </a:extLst>
                </a:gridCol>
                <a:gridCol w="987743">
                  <a:extLst>
                    <a:ext uri="{9D8B030D-6E8A-4147-A177-3AD203B41FA5}">
                      <a16:colId xmlns:a16="http://schemas.microsoft.com/office/drawing/2014/main" val="375169143"/>
                    </a:ext>
                  </a:extLst>
                </a:gridCol>
              </a:tblGrid>
              <a:tr h="0">
                <a:tc>
                  <a:txBody>
                    <a:bodyPr/>
                    <a:lstStyle/>
                    <a:p>
                      <a:r>
                        <a:rPr kumimoji="1" lang="ja-JP" altLang="en-US" sz="1200"/>
                        <a:t>顧客セグメント</a:t>
                      </a:r>
                    </a:p>
                  </a:txBody>
                  <a:tcPr/>
                </a:tc>
                <a:tc>
                  <a:txBody>
                    <a:bodyPr/>
                    <a:lstStyle/>
                    <a:p>
                      <a:r>
                        <a:rPr kumimoji="1" lang="ja-JP" altLang="en-US" sz="1200"/>
                        <a:t>仮説</a:t>
                      </a:r>
                    </a:p>
                  </a:txBody>
                  <a:tcPr/>
                </a:tc>
                <a:tc>
                  <a:txBody>
                    <a:bodyPr/>
                    <a:lstStyle/>
                    <a:p>
                      <a:r>
                        <a:rPr kumimoji="1" lang="ja-JP" altLang="en-US" sz="1200"/>
                        <a:t>予測</a:t>
                      </a:r>
                      <a:r>
                        <a:rPr kumimoji="1" lang="en-US" altLang="ja-JP" sz="1200" dirty="0"/>
                        <a:t>CTR (%)</a:t>
                      </a:r>
                      <a:endParaRPr kumimoji="1" lang="ja-JP" altLang="en-US" sz="1200"/>
                    </a:p>
                  </a:txBody>
                  <a:tcPr/>
                </a:tc>
                <a:tc>
                  <a:txBody>
                    <a:bodyPr/>
                    <a:lstStyle/>
                    <a:p>
                      <a:r>
                        <a:rPr kumimoji="1" lang="ja-JP" altLang="en-US" sz="1200"/>
                        <a:t>ボリューム</a:t>
                      </a:r>
                    </a:p>
                  </a:txBody>
                  <a:tcPr/>
                </a:tc>
                <a:extLst>
                  <a:ext uri="{0D108BD9-81ED-4DB2-BD59-A6C34878D82A}">
                    <a16:rowId xmlns:a16="http://schemas.microsoft.com/office/drawing/2014/main" val="1304683384"/>
                  </a:ext>
                </a:extLst>
              </a:tr>
              <a:tr h="0">
                <a:tc>
                  <a:txBody>
                    <a:bodyPr/>
                    <a:lstStyle/>
                    <a:p>
                      <a:r>
                        <a:rPr kumimoji="1" lang="ja-JP" altLang="en-US" sz="1200"/>
                        <a:t>ライフイベント新卒社会人 </a:t>
                      </a:r>
                      <a:r>
                        <a:rPr kumimoji="1" lang="en-US" altLang="ja-JP" sz="1200" dirty="0"/>
                        <a:t>× </a:t>
                      </a:r>
                      <a:r>
                        <a:rPr kumimoji="1" lang="ja-JP" altLang="en-US" sz="1200"/>
                        <a:t>旅行関心層</a:t>
                      </a:r>
                    </a:p>
                  </a:txBody>
                  <a:tcPr/>
                </a:tc>
                <a:tc>
                  <a:txBody>
                    <a:bodyPr/>
                    <a:lstStyle/>
                    <a:p>
                      <a:r>
                        <a:rPr kumimoji="1" lang="en-US" altLang="ja-JP" sz="1200" dirty="0"/>
                        <a:t>(</a:t>
                      </a:r>
                      <a:r>
                        <a:rPr kumimoji="1" lang="ja-JP" altLang="en-US" sz="1200"/>
                        <a:t>高クリックが期待される属性同士の複合条件</a:t>
                      </a:r>
                      <a:r>
                        <a:rPr kumimoji="1" lang="en-US" altLang="ja-JP" sz="1200" dirty="0"/>
                        <a:t>)</a:t>
                      </a:r>
                      <a:endParaRPr kumimoji="1" lang="ja-JP" altLang="en-US" sz="1200"/>
                    </a:p>
                  </a:txBody>
                  <a:tcPr/>
                </a:tc>
                <a:tc>
                  <a:txBody>
                    <a:bodyPr/>
                    <a:lstStyle/>
                    <a:p>
                      <a:r>
                        <a:rPr kumimoji="1" lang="en-US" altLang="ja-JP" sz="1200" dirty="0"/>
                        <a:t>3.01</a:t>
                      </a:r>
                    </a:p>
                  </a:txBody>
                  <a:tcPr/>
                </a:tc>
                <a:tc>
                  <a:txBody>
                    <a:bodyPr/>
                    <a:lstStyle/>
                    <a:p>
                      <a:r>
                        <a:rPr kumimoji="1" lang="en-US" altLang="ja-JP" sz="1200" dirty="0"/>
                        <a:t>473,253</a:t>
                      </a:r>
                    </a:p>
                  </a:txBody>
                  <a:tcPr/>
                </a:tc>
                <a:extLst>
                  <a:ext uri="{0D108BD9-81ED-4DB2-BD59-A6C34878D82A}">
                    <a16:rowId xmlns:a16="http://schemas.microsoft.com/office/drawing/2014/main" val="3863200915"/>
                  </a:ext>
                </a:extLst>
              </a:tr>
              <a:tr h="189370">
                <a:tc>
                  <a:txBody>
                    <a:bodyPr/>
                    <a:lstStyle/>
                    <a:p>
                      <a:r>
                        <a:rPr kumimoji="1" lang="ja-JP" altLang="en-US" sz="1200"/>
                        <a:t>ライフイベント新卒社会人</a:t>
                      </a:r>
                    </a:p>
                  </a:txBody>
                  <a:tcPr/>
                </a:tc>
                <a:tc>
                  <a:txBody>
                    <a:bodyPr/>
                    <a:lstStyle/>
                    <a:p>
                      <a:r>
                        <a:rPr kumimoji="1" lang="ja-JP" altLang="en-US" sz="1200"/>
                        <a:t>社会人として税金を意識し始め、ふるさと納税を学び関心が高まる。</a:t>
                      </a:r>
                    </a:p>
                  </a:txBody>
                  <a:tcPr/>
                </a:tc>
                <a:tc>
                  <a:txBody>
                    <a:bodyPr/>
                    <a:lstStyle/>
                    <a:p>
                      <a:r>
                        <a:rPr kumimoji="1" lang="en-US" altLang="ja-JP" sz="1200" dirty="0"/>
                        <a:t>2.79</a:t>
                      </a:r>
                      <a:endParaRPr kumimoji="1" lang="ja-JP" altLang="en-US" sz="1200"/>
                    </a:p>
                  </a:txBody>
                  <a:tcPr/>
                </a:tc>
                <a:tc>
                  <a:txBody>
                    <a:bodyPr/>
                    <a:lstStyle/>
                    <a:p>
                      <a:r>
                        <a:rPr kumimoji="1" lang="en-US" altLang="ja-JP" sz="1200" dirty="0"/>
                        <a:t>1,632,724</a:t>
                      </a:r>
                      <a:endParaRPr kumimoji="1" lang="ja-JP" altLang="en-US" sz="1200"/>
                    </a:p>
                  </a:txBody>
                  <a:tcPr/>
                </a:tc>
                <a:extLst>
                  <a:ext uri="{0D108BD9-81ED-4DB2-BD59-A6C34878D82A}">
                    <a16:rowId xmlns:a16="http://schemas.microsoft.com/office/drawing/2014/main" val="1871931261"/>
                  </a:ext>
                </a:extLst>
              </a:tr>
              <a:tr h="117702">
                <a:tc>
                  <a:txBody>
                    <a:bodyPr/>
                    <a:lstStyle/>
                    <a:p>
                      <a:r>
                        <a:rPr kumimoji="1" lang="ja-JP" altLang="en-US" sz="1200"/>
                        <a:t>ライフイベント子ども大学卒業 </a:t>
                      </a:r>
                      <a:r>
                        <a:rPr kumimoji="1" lang="en-US" altLang="ja-JP" sz="1200" dirty="0"/>
                        <a:t>× </a:t>
                      </a:r>
                      <a:r>
                        <a:rPr kumimoji="1" lang="ja-JP" altLang="en-US" sz="1200"/>
                        <a:t>旅行関心層</a:t>
                      </a:r>
                    </a:p>
                  </a:txBody>
                  <a:tcPr/>
                </a:tc>
                <a:tc>
                  <a:txBody>
                    <a:bodyPr/>
                    <a:lstStyle/>
                    <a:p>
                      <a:r>
                        <a:rPr kumimoji="1" lang="en-US" altLang="ja-JP" sz="1200" dirty="0"/>
                        <a:t>(</a:t>
                      </a:r>
                      <a:r>
                        <a:rPr kumimoji="1" lang="ja-JP" altLang="en-US" sz="1200"/>
                        <a:t>高クリックが期待される属性同士の複合条件</a:t>
                      </a:r>
                      <a:r>
                        <a:rPr kumimoji="1" lang="en-US" altLang="ja-JP" sz="1200" dirty="0"/>
                        <a:t>)</a:t>
                      </a:r>
                      <a:endParaRPr kumimoji="1" lang="ja-JP" altLang="en-US" sz="1200"/>
                    </a:p>
                  </a:txBody>
                  <a:tcPr/>
                </a:tc>
                <a:tc>
                  <a:txBody>
                    <a:bodyPr/>
                    <a:lstStyle/>
                    <a:p>
                      <a:r>
                        <a:rPr kumimoji="1" lang="en-US" altLang="ja-JP" sz="1200" dirty="0"/>
                        <a:t>2.17</a:t>
                      </a:r>
                      <a:endParaRPr kumimoji="1" lang="ja-JP" altLang="en-US" sz="1200"/>
                    </a:p>
                  </a:txBody>
                  <a:tcPr/>
                </a:tc>
                <a:tc>
                  <a:txBody>
                    <a:bodyPr/>
                    <a:lstStyle/>
                    <a:p>
                      <a:r>
                        <a:rPr kumimoji="1" lang="en-US" altLang="ja-JP" sz="1200" dirty="0"/>
                        <a:t>153,479</a:t>
                      </a:r>
                      <a:endParaRPr kumimoji="1" lang="ja-JP" altLang="en-US" sz="1200"/>
                    </a:p>
                  </a:txBody>
                  <a:tcPr/>
                </a:tc>
                <a:extLst>
                  <a:ext uri="{0D108BD9-81ED-4DB2-BD59-A6C34878D82A}">
                    <a16:rowId xmlns:a16="http://schemas.microsoft.com/office/drawing/2014/main" val="533547629"/>
                  </a:ext>
                </a:extLst>
              </a:tr>
              <a:tr h="167400">
                <a:tc>
                  <a:txBody>
                    <a:bodyPr/>
                    <a:lstStyle/>
                    <a:p>
                      <a:r>
                        <a:rPr kumimoji="1" lang="ja-JP" altLang="en-US" sz="1200"/>
                        <a:t>ライフイベント子ども大学卒業</a:t>
                      </a:r>
                    </a:p>
                  </a:txBody>
                  <a:tcPr/>
                </a:tc>
                <a:tc>
                  <a:txBody>
                    <a:bodyPr/>
                    <a:lstStyle/>
                    <a:p>
                      <a:r>
                        <a:rPr kumimoji="1" lang="ja-JP" altLang="en-US" sz="1200"/>
                        <a:t>子育てが一段落することで余裕が生まれ、ふるさと納税にも関心が高まり高クリックが期待。</a:t>
                      </a:r>
                    </a:p>
                  </a:txBody>
                  <a:tcPr/>
                </a:tc>
                <a:tc>
                  <a:txBody>
                    <a:bodyPr/>
                    <a:lstStyle/>
                    <a:p>
                      <a:r>
                        <a:rPr kumimoji="1" lang="en-US" altLang="ja-JP" sz="1200" dirty="0"/>
                        <a:t>1.80</a:t>
                      </a:r>
                      <a:endParaRPr kumimoji="1" lang="ja-JP" altLang="en-US" sz="1200"/>
                    </a:p>
                  </a:txBody>
                  <a:tcPr/>
                </a:tc>
                <a:tc>
                  <a:txBody>
                    <a:bodyPr/>
                    <a:lstStyle/>
                    <a:p>
                      <a:r>
                        <a:rPr kumimoji="1" lang="en-US" altLang="ja-JP" sz="1200" dirty="0"/>
                        <a:t>635,979</a:t>
                      </a:r>
                      <a:endParaRPr kumimoji="1" lang="ja-JP" altLang="en-US" sz="1200"/>
                    </a:p>
                  </a:txBody>
                  <a:tcPr/>
                </a:tc>
                <a:extLst>
                  <a:ext uri="{0D108BD9-81ED-4DB2-BD59-A6C34878D82A}">
                    <a16:rowId xmlns:a16="http://schemas.microsoft.com/office/drawing/2014/main" val="217906960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ライフイベント旅行あり（顧客特性が旅行関心層）</a:t>
                      </a:r>
                    </a:p>
                  </a:txBody>
                  <a:tcPr/>
                </a:tc>
                <a:tc>
                  <a:txBody>
                    <a:bodyPr/>
                    <a:lstStyle/>
                    <a:p>
                      <a:r>
                        <a:rPr kumimoji="1" lang="ja-JP" altLang="en-US" sz="1200"/>
                        <a:t>遠方への興味や目的問わず移動することに関心・習慣がある層は他自治体への寄付への意識が強い。</a:t>
                      </a:r>
                    </a:p>
                  </a:txBody>
                  <a:tcPr/>
                </a:tc>
                <a:tc>
                  <a:txBody>
                    <a:bodyPr/>
                    <a:lstStyle/>
                    <a:p>
                      <a:r>
                        <a:rPr kumimoji="1" lang="en-US" altLang="ja-JP" sz="1200" dirty="0"/>
                        <a:t>1.55</a:t>
                      </a:r>
                      <a:endParaRPr kumimoji="1" lang="ja-JP" altLang="en-US" sz="1200"/>
                    </a:p>
                  </a:txBody>
                  <a:tcPr/>
                </a:tc>
                <a:tc>
                  <a:txBody>
                    <a:bodyPr/>
                    <a:lstStyle/>
                    <a:p>
                      <a:r>
                        <a:rPr kumimoji="1" lang="en-US" altLang="ja-JP" sz="1200" dirty="0"/>
                        <a:t>2,762,776</a:t>
                      </a:r>
                      <a:endParaRPr kumimoji="1" lang="ja-JP" altLang="en-US" sz="1200"/>
                    </a:p>
                  </a:txBody>
                  <a:tcPr/>
                </a:tc>
                <a:extLst>
                  <a:ext uri="{0D108BD9-81ED-4DB2-BD59-A6C34878D82A}">
                    <a16:rowId xmlns:a16="http://schemas.microsoft.com/office/drawing/2014/main" val="921852362"/>
                  </a:ext>
                </a:extLst>
              </a:tr>
              <a:tr h="0">
                <a:tc>
                  <a:txBody>
                    <a:bodyPr/>
                    <a:lstStyle/>
                    <a:p>
                      <a:r>
                        <a:rPr kumimoji="1" lang="ja-JP" altLang="en-US" sz="1200"/>
                        <a:t>個人資産</a:t>
                      </a:r>
                      <a:r>
                        <a:rPr kumimoji="1" lang="en-US" altLang="ja-JP" sz="1200" dirty="0"/>
                        <a:t>300</a:t>
                      </a:r>
                      <a:r>
                        <a:rPr kumimoji="1" lang="ja-JP" altLang="en-US" sz="1200"/>
                        <a:t>万円以上</a:t>
                      </a:r>
                    </a:p>
                  </a:txBody>
                  <a:tcPr/>
                </a:tc>
                <a:tc>
                  <a:txBody>
                    <a:bodyPr/>
                    <a:lstStyle/>
                    <a:p>
                      <a:r>
                        <a:rPr kumimoji="1" lang="ja-JP" altLang="en-US" sz="1200"/>
                        <a:t>個人資産が多いほどふるさと納税に関心が高く、高クリックが期待。</a:t>
                      </a:r>
                    </a:p>
                  </a:txBody>
                  <a:tcPr/>
                </a:tc>
                <a:tc>
                  <a:txBody>
                    <a:bodyPr/>
                    <a:lstStyle/>
                    <a:p>
                      <a:r>
                        <a:rPr kumimoji="1" lang="en-US" altLang="ja-JP" sz="1200" dirty="0"/>
                        <a:t>1.50</a:t>
                      </a:r>
                      <a:endParaRPr kumimoji="1" lang="ja-JP" altLang="en-US" sz="1200"/>
                    </a:p>
                  </a:txBody>
                  <a:tcPr/>
                </a:tc>
                <a:tc>
                  <a:txBody>
                    <a:bodyPr/>
                    <a:lstStyle/>
                    <a:p>
                      <a:r>
                        <a:rPr kumimoji="1" lang="en-US" altLang="ja-JP" sz="1200" dirty="0"/>
                        <a:t>2,577,726</a:t>
                      </a:r>
                      <a:endParaRPr kumimoji="1" lang="ja-JP" altLang="en-US" sz="1200"/>
                    </a:p>
                  </a:txBody>
                  <a:tcPr/>
                </a:tc>
                <a:extLst>
                  <a:ext uri="{0D108BD9-81ED-4DB2-BD59-A6C34878D82A}">
                    <a16:rowId xmlns:a16="http://schemas.microsoft.com/office/drawing/2014/main" val="3273694527"/>
                  </a:ext>
                </a:extLst>
              </a:tr>
              <a:tr h="2325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世帯年間収入</a:t>
                      </a:r>
                      <a:r>
                        <a:rPr kumimoji="1" lang="en-US" altLang="ja-JP" sz="1200" dirty="0"/>
                        <a:t>400</a:t>
                      </a:r>
                      <a:r>
                        <a:rPr kumimoji="1" lang="ja-JP" altLang="en-US" sz="1200"/>
                        <a:t>万円未満</a:t>
                      </a:r>
                    </a:p>
                  </a:txBody>
                  <a:tcPr/>
                </a:tc>
                <a:tc>
                  <a:txBody>
                    <a:bodyPr/>
                    <a:lstStyle/>
                    <a:p>
                      <a:r>
                        <a:rPr kumimoji="1" lang="ja-JP" altLang="en-US" sz="1200"/>
                        <a:t>寄付額は限定的だが、返礼品のお得感に反応する可能性あり。</a:t>
                      </a:r>
                    </a:p>
                  </a:txBody>
                  <a:tcPr/>
                </a:tc>
                <a:tc>
                  <a:txBody>
                    <a:bodyPr/>
                    <a:lstStyle/>
                    <a:p>
                      <a:r>
                        <a:rPr kumimoji="1" lang="en-US" altLang="ja-JP" sz="1200" dirty="0"/>
                        <a:t>1.26</a:t>
                      </a:r>
                      <a:endParaRPr kumimoji="1" lang="ja-JP" altLang="en-US" sz="1200"/>
                    </a:p>
                  </a:txBody>
                  <a:tcPr/>
                </a:tc>
                <a:tc>
                  <a:txBody>
                    <a:bodyPr/>
                    <a:lstStyle/>
                    <a:p>
                      <a:r>
                        <a:rPr kumimoji="1" lang="en-US" altLang="ja-JP" sz="1200"/>
                        <a:t>5,487,293</a:t>
                      </a:r>
                      <a:endParaRPr kumimoji="1" lang="ja-JP" altLang="en-US" sz="1200"/>
                    </a:p>
                  </a:txBody>
                  <a:tcPr/>
                </a:tc>
                <a:extLst>
                  <a:ext uri="{0D108BD9-81ED-4DB2-BD59-A6C34878D82A}">
                    <a16:rowId xmlns:a16="http://schemas.microsoft.com/office/drawing/2014/main" val="3926142567"/>
                  </a:ext>
                </a:extLst>
              </a:tr>
              <a:tr h="2325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世帯年間収入</a:t>
                      </a:r>
                      <a:r>
                        <a:rPr kumimoji="1" lang="en-US" altLang="ja-JP" sz="1200" dirty="0"/>
                        <a:t>1000</a:t>
                      </a:r>
                      <a:r>
                        <a:rPr kumimoji="1" lang="ja-JP" altLang="en-US" sz="1200"/>
                        <a:t>万円以上</a:t>
                      </a:r>
                    </a:p>
                  </a:txBody>
                  <a:tcPr/>
                </a:tc>
                <a:tc>
                  <a:txBody>
                    <a:bodyPr/>
                    <a:lstStyle/>
                    <a:p>
                      <a:r>
                        <a:rPr kumimoji="1" lang="ja-JP" altLang="en-US" sz="1200"/>
                        <a:t>世帯年間収入が多いほどふるさと納税に関心が高く高クリックが期待。</a:t>
                      </a:r>
                    </a:p>
                  </a:txBody>
                  <a:tcPr/>
                </a:tc>
                <a:tc>
                  <a:txBody>
                    <a:bodyPr/>
                    <a:lstStyle/>
                    <a:p>
                      <a:r>
                        <a:rPr kumimoji="1" lang="en-US" altLang="ja-JP" sz="1200" dirty="0"/>
                        <a:t>1.20</a:t>
                      </a:r>
                      <a:endParaRPr kumimoji="1" lang="ja-JP" altLang="en-US" sz="1200"/>
                    </a:p>
                  </a:txBody>
                  <a:tcPr/>
                </a:tc>
                <a:tc>
                  <a:txBody>
                    <a:bodyPr/>
                    <a:lstStyle/>
                    <a:p>
                      <a:r>
                        <a:rPr kumimoji="1" lang="en-US" altLang="ja-JP" sz="1200" dirty="0"/>
                        <a:t>4,307,972</a:t>
                      </a:r>
                      <a:endParaRPr kumimoji="1" lang="ja-JP" altLang="en-US" sz="1200"/>
                    </a:p>
                  </a:txBody>
                  <a:tcPr/>
                </a:tc>
                <a:extLst>
                  <a:ext uri="{0D108BD9-81ED-4DB2-BD59-A6C34878D82A}">
                    <a16:rowId xmlns:a16="http://schemas.microsoft.com/office/drawing/2014/main" val="2889631643"/>
                  </a:ext>
                </a:extLst>
              </a:tr>
            </a:tbl>
          </a:graphicData>
        </a:graphic>
      </p:graphicFrame>
      <p:sp>
        <p:nvSpPr>
          <p:cNvPr id="9" name="TextBox 3">
            <a:extLst>
              <a:ext uri="{FF2B5EF4-FFF2-40B4-BE49-F238E27FC236}">
                <a16:creationId xmlns:a16="http://schemas.microsoft.com/office/drawing/2014/main" id="{3160FCBF-8869-30E4-C49F-D8D4B1F7093D}"/>
              </a:ext>
            </a:extLst>
          </p:cNvPr>
          <p:cNvSpPr txBox="1"/>
          <p:nvPr/>
        </p:nvSpPr>
        <p:spPr>
          <a:xfrm>
            <a:off x="628212" y="6176716"/>
            <a:ext cx="10958871" cy="561692"/>
          </a:xfrm>
          <a:prstGeom prst="rect">
            <a:avLst/>
          </a:prstGeom>
          <a:noFill/>
        </p:spPr>
        <p:txBody>
          <a:bodyPr wrap="square" rtlCol="0">
            <a:spAutoFit/>
          </a:bodyPr>
          <a:lstStyle/>
          <a:p>
            <a:pPr>
              <a:spcAft>
                <a:spcPts val="300"/>
              </a:spcAft>
            </a:pPr>
            <a:r>
              <a:rPr kumimoji="1" lang="ja-JP" altLang="en-US" sz="1400" b="1">
                <a:solidFill>
                  <a:srgbClr val="C00000"/>
                </a:solidFill>
              </a:rPr>
              <a:t>★</a:t>
            </a:r>
            <a:r>
              <a:rPr kumimoji="1" lang="en-US" altLang="ja-JP" sz="1400" b="1" dirty="0">
                <a:solidFill>
                  <a:srgbClr val="C00000"/>
                </a:solidFill>
              </a:rPr>
              <a:t> 200</a:t>
            </a:r>
            <a:r>
              <a:rPr kumimoji="1" lang="ja-JP" altLang="en-US" sz="1400" b="1">
                <a:solidFill>
                  <a:srgbClr val="C00000"/>
                </a:solidFill>
              </a:rPr>
              <a:t>万インプレッションを目標とする場合の注目セグメントの例</a:t>
            </a:r>
            <a:r>
              <a:rPr kumimoji="1" lang="en-US" altLang="ja-JP" sz="1400" b="1" dirty="0">
                <a:solidFill>
                  <a:srgbClr val="C00000"/>
                </a:solidFill>
              </a:rPr>
              <a:t>: </a:t>
            </a:r>
            <a:r>
              <a:rPr kumimoji="1" lang="ja-JP" altLang="en-US" sz="1400" b="1">
                <a:solidFill>
                  <a:srgbClr val="C00000"/>
                </a:solidFill>
              </a:rPr>
              <a:t>年齢と旅行関心層を複合的に組み合わせる案</a:t>
            </a:r>
            <a:endParaRPr kumimoji="1" lang="en-US" altLang="ja-JP" sz="1400" b="1" dirty="0">
              <a:solidFill>
                <a:srgbClr val="C00000"/>
              </a:solidFill>
            </a:endParaRPr>
          </a:p>
          <a:p>
            <a:pPr>
              <a:spcAft>
                <a:spcPts val="300"/>
              </a:spcAft>
            </a:pPr>
            <a:r>
              <a:rPr kumimoji="1" lang="en-US" altLang="ja-JP" sz="1400" b="1" dirty="0"/>
              <a:t>[</a:t>
            </a:r>
            <a:r>
              <a:rPr kumimoji="1" lang="ja-JP" altLang="en-US" sz="1400" b="1"/>
              <a:t>参考</a:t>
            </a:r>
            <a:r>
              <a:rPr kumimoji="1" lang="en-US" altLang="ja-JP" sz="1400" b="1" dirty="0"/>
              <a:t>] </a:t>
            </a:r>
            <a:r>
              <a:rPr kumimoji="1" lang="ja-JP" altLang="en-US" sz="1400" b="1"/>
              <a:t>実配信時の対象セグメント「年齢 </a:t>
            </a:r>
            <a:r>
              <a:rPr kumimoji="1" lang="en-US" altLang="ja-JP" sz="1400" b="1" dirty="0"/>
              <a:t>25〜59 AND </a:t>
            </a:r>
            <a:r>
              <a:rPr kumimoji="1" lang="ja-JP" altLang="en-US" sz="1400" b="1"/>
              <a:t>購買力・消費意欲 中</a:t>
            </a:r>
            <a:r>
              <a:rPr kumimoji="1" lang="en-US" altLang="ja-JP" sz="1400" b="1" dirty="0"/>
              <a:t>〜</a:t>
            </a:r>
            <a:r>
              <a:rPr kumimoji="1" lang="ja-JP" altLang="en-US" sz="1400" b="1"/>
              <a:t>高</a:t>
            </a:r>
            <a:r>
              <a:rPr kumimoji="1" lang="en-US" altLang="ja-JP" sz="1400" b="1" dirty="0"/>
              <a:t> (</a:t>
            </a:r>
            <a:r>
              <a:rPr kumimoji="1" lang="ja-JP" altLang="en-US" sz="1400" b="1"/>
              <a:t>個人の年間収入</a:t>
            </a:r>
            <a:r>
              <a:rPr kumimoji="1" lang="en-US" altLang="ja-JP" sz="1400" b="1" dirty="0"/>
              <a:t>400</a:t>
            </a:r>
            <a:r>
              <a:rPr kumimoji="1" lang="ja-JP" altLang="en-US" sz="1400" b="1"/>
              <a:t>万円以上</a:t>
            </a:r>
            <a:r>
              <a:rPr kumimoji="1" lang="en-US" altLang="ja-JP" sz="1400" b="1" dirty="0"/>
              <a:t>)</a:t>
            </a:r>
            <a:r>
              <a:rPr kumimoji="1" lang="ja-JP" altLang="en-US" sz="1400" b="1"/>
              <a:t>」</a:t>
            </a:r>
            <a:endParaRPr kumimoji="1" lang="ja-JP" altLang="en-US" sz="1200"/>
          </a:p>
        </p:txBody>
      </p:sp>
      <p:sp>
        <p:nvSpPr>
          <p:cNvPr id="10" name="TextBox 3">
            <a:extLst>
              <a:ext uri="{FF2B5EF4-FFF2-40B4-BE49-F238E27FC236}">
                <a16:creationId xmlns:a16="http://schemas.microsoft.com/office/drawing/2014/main" id="{31705853-0B54-D717-15CC-6A6978CFBDFD}"/>
              </a:ext>
            </a:extLst>
          </p:cNvPr>
          <p:cNvSpPr txBox="1"/>
          <p:nvPr/>
        </p:nvSpPr>
        <p:spPr>
          <a:xfrm>
            <a:off x="11540261" y="3575924"/>
            <a:ext cx="372579" cy="307777"/>
          </a:xfrm>
          <a:prstGeom prst="rect">
            <a:avLst/>
          </a:prstGeom>
          <a:noFill/>
        </p:spPr>
        <p:txBody>
          <a:bodyPr wrap="square" rtlCol="0">
            <a:spAutoFit/>
          </a:bodyPr>
          <a:lstStyle/>
          <a:p>
            <a:pPr>
              <a:spcAft>
                <a:spcPts val="600"/>
              </a:spcAft>
            </a:pPr>
            <a:r>
              <a:rPr kumimoji="1" lang="ja-JP" altLang="en-US" sz="1400" b="1">
                <a:solidFill>
                  <a:srgbClr val="C00000"/>
                </a:solidFill>
              </a:rPr>
              <a:t>★</a:t>
            </a:r>
            <a:endParaRPr kumimoji="1" lang="ja-JP" altLang="en-US" sz="1200">
              <a:solidFill>
                <a:srgbClr val="C00000"/>
              </a:solidFill>
            </a:endParaRPr>
          </a:p>
        </p:txBody>
      </p:sp>
      <p:sp>
        <p:nvSpPr>
          <p:cNvPr id="14" name="TextBox 3">
            <a:extLst>
              <a:ext uri="{FF2B5EF4-FFF2-40B4-BE49-F238E27FC236}">
                <a16:creationId xmlns:a16="http://schemas.microsoft.com/office/drawing/2014/main" id="{265648A5-3A55-9AEF-5DDD-5118D8D5A1F4}"/>
              </a:ext>
            </a:extLst>
          </p:cNvPr>
          <p:cNvSpPr txBox="1"/>
          <p:nvPr/>
        </p:nvSpPr>
        <p:spPr>
          <a:xfrm>
            <a:off x="11540260" y="4459873"/>
            <a:ext cx="372579" cy="307777"/>
          </a:xfrm>
          <a:prstGeom prst="rect">
            <a:avLst/>
          </a:prstGeom>
          <a:noFill/>
        </p:spPr>
        <p:txBody>
          <a:bodyPr wrap="square" rtlCol="0">
            <a:spAutoFit/>
          </a:bodyPr>
          <a:lstStyle/>
          <a:p>
            <a:pPr>
              <a:spcAft>
                <a:spcPts val="600"/>
              </a:spcAft>
            </a:pPr>
            <a:r>
              <a:rPr kumimoji="1" lang="ja-JP" altLang="en-US" sz="1400" b="1">
                <a:solidFill>
                  <a:srgbClr val="C00000"/>
                </a:solidFill>
              </a:rPr>
              <a:t>★</a:t>
            </a:r>
            <a:endParaRPr kumimoji="1" lang="ja-JP" altLang="en-US" sz="1200">
              <a:solidFill>
                <a:srgbClr val="C00000"/>
              </a:solidFill>
            </a:endParaRPr>
          </a:p>
        </p:txBody>
      </p:sp>
      <p:sp>
        <p:nvSpPr>
          <p:cNvPr id="15" name="TextBox 3">
            <a:extLst>
              <a:ext uri="{FF2B5EF4-FFF2-40B4-BE49-F238E27FC236}">
                <a16:creationId xmlns:a16="http://schemas.microsoft.com/office/drawing/2014/main" id="{51AF991A-2CC7-50A1-6DE0-0404EDE0BB8D}"/>
              </a:ext>
            </a:extLst>
          </p:cNvPr>
          <p:cNvSpPr txBox="1"/>
          <p:nvPr/>
        </p:nvSpPr>
        <p:spPr>
          <a:xfrm>
            <a:off x="11540259" y="4900930"/>
            <a:ext cx="372579" cy="307777"/>
          </a:xfrm>
          <a:prstGeom prst="rect">
            <a:avLst/>
          </a:prstGeom>
          <a:noFill/>
        </p:spPr>
        <p:txBody>
          <a:bodyPr wrap="square" rtlCol="0">
            <a:spAutoFit/>
          </a:bodyPr>
          <a:lstStyle/>
          <a:p>
            <a:pPr>
              <a:spcAft>
                <a:spcPts val="600"/>
              </a:spcAft>
            </a:pPr>
            <a:r>
              <a:rPr kumimoji="1" lang="ja-JP" altLang="en-US" sz="1400" b="1">
                <a:solidFill>
                  <a:srgbClr val="C00000"/>
                </a:solidFill>
              </a:rPr>
              <a:t>★</a:t>
            </a:r>
            <a:endParaRPr kumimoji="1" lang="ja-JP" altLang="en-US" sz="1200">
              <a:solidFill>
                <a:srgbClr val="C00000"/>
              </a:solidFill>
            </a:endParaRPr>
          </a:p>
        </p:txBody>
      </p:sp>
    </p:spTree>
    <p:extLst>
      <p:ext uri="{BB962C8B-B14F-4D97-AF65-F5344CB8AC3E}">
        <p14:creationId xmlns:p14="http://schemas.microsoft.com/office/powerpoint/2010/main" val="1575810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17362-04A1-32F0-B827-25BD0D4C80D2}"/>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E0F62396-AD4C-3B53-8773-3B1479825091}"/>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E0F62396-AD4C-3B53-8773-3B147982509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52C69F5C-51D0-230F-6121-4A75EDDBF263}"/>
              </a:ext>
            </a:extLst>
          </p:cNvPr>
          <p:cNvSpPr>
            <a:spLocks noGrp="1"/>
          </p:cNvSpPr>
          <p:nvPr>
            <p:ph type="body" sz="quarter" idx="10"/>
          </p:nvPr>
        </p:nvSpPr>
        <p:spPr/>
        <p:txBody>
          <a:bodyPr>
            <a:normAutofit fontScale="92500" lnSpcReduction="10000"/>
          </a:bodyPr>
          <a:lstStyle/>
          <a:p>
            <a:r>
              <a:rPr lang="en-US" altLang="ja-JP" dirty="0"/>
              <a:t>QFS</a:t>
            </a:r>
            <a:r>
              <a:rPr lang="ja-JP" altLang="en-US"/>
              <a:t>により選択された特徴量からクリックを予測する学習モデルを構築、配信数および予測</a:t>
            </a:r>
            <a:r>
              <a:rPr lang="en-US" altLang="ja-JP" dirty="0"/>
              <a:t>CTR</a:t>
            </a:r>
            <a:r>
              <a:rPr lang="ja-JP" altLang="en-US"/>
              <a:t>の見積りが可能</a:t>
            </a:r>
            <a:r>
              <a:rPr lang="en-US" altLang="ja-JP" dirty="0"/>
              <a:t> (2): </a:t>
            </a:r>
            <a:r>
              <a:rPr lang="ja-JP" altLang="en-US"/>
              <a:t>「</a:t>
            </a:r>
            <a:r>
              <a:rPr lang="en-US" altLang="ja-JP" dirty="0"/>
              <a:t>JRA</a:t>
            </a:r>
            <a:r>
              <a:rPr lang="ja-JP" altLang="en-US"/>
              <a:t>競馬</a:t>
            </a:r>
            <a:r>
              <a:rPr lang="en-US" altLang="ja-JP" dirty="0"/>
              <a:t> (</a:t>
            </a:r>
            <a:r>
              <a:rPr lang="ja-JP" altLang="en-US"/>
              <a:t>年末</a:t>
            </a:r>
            <a:r>
              <a:rPr lang="en-US" altLang="ja-JP" dirty="0"/>
              <a:t>)</a:t>
            </a:r>
            <a:r>
              <a:rPr lang="ja-JP" altLang="en-US"/>
              <a:t>」</a:t>
            </a:r>
            <a:endParaRPr lang="ja-JP" altLang="en-US" dirty="0"/>
          </a:p>
        </p:txBody>
      </p:sp>
      <p:sp>
        <p:nvSpPr>
          <p:cNvPr id="3" name="Slide Number Placeholder 2">
            <a:extLst>
              <a:ext uri="{FF2B5EF4-FFF2-40B4-BE49-F238E27FC236}">
                <a16:creationId xmlns:a16="http://schemas.microsoft.com/office/drawing/2014/main" id="{DB8F1B5D-230E-48AF-0A3C-F9549BEAA16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pic>
        <p:nvPicPr>
          <p:cNvPr id="4" name="図 3">
            <a:extLst>
              <a:ext uri="{FF2B5EF4-FFF2-40B4-BE49-F238E27FC236}">
                <a16:creationId xmlns:a16="http://schemas.microsoft.com/office/drawing/2014/main" id="{A30BBFD1-0A2D-BEB2-5B88-BC678D1AEC7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207183" y="3113989"/>
            <a:ext cx="3492944" cy="3592742"/>
          </a:xfrm>
          <a:prstGeom prst="rect">
            <a:avLst/>
          </a:prstGeom>
        </p:spPr>
      </p:pic>
      <p:pic>
        <p:nvPicPr>
          <p:cNvPr id="6" name="図 5">
            <a:extLst>
              <a:ext uri="{FF2B5EF4-FFF2-40B4-BE49-F238E27FC236}">
                <a16:creationId xmlns:a16="http://schemas.microsoft.com/office/drawing/2014/main" id="{F303391E-E9A5-5774-06B5-2BAE5EE00EE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4772446" y="3480734"/>
            <a:ext cx="6433317" cy="2859252"/>
          </a:xfrm>
          <a:prstGeom prst="rect">
            <a:avLst/>
          </a:prstGeom>
        </p:spPr>
      </p:pic>
      <p:sp>
        <p:nvSpPr>
          <p:cNvPr id="8" name="TextBox 3">
            <a:extLst>
              <a:ext uri="{FF2B5EF4-FFF2-40B4-BE49-F238E27FC236}">
                <a16:creationId xmlns:a16="http://schemas.microsoft.com/office/drawing/2014/main" id="{D5A3DFD2-77A2-A439-937D-EEACA622A7DF}"/>
              </a:ext>
            </a:extLst>
          </p:cNvPr>
          <p:cNvSpPr txBox="1"/>
          <p:nvPr/>
        </p:nvSpPr>
        <p:spPr>
          <a:xfrm>
            <a:off x="540850" y="1035589"/>
            <a:ext cx="11393591" cy="830997"/>
          </a:xfrm>
          <a:prstGeom prst="rect">
            <a:avLst/>
          </a:prstGeom>
          <a:noFill/>
        </p:spPr>
        <p:txBody>
          <a:bodyPr wrap="square" rtlCol="0">
            <a:spAutoFit/>
          </a:bodyPr>
          <a:lstStyle/>
          <a:p>
            <a:pPr>
              <a:spcAft>
                <a:spcPts val="600"/>
              </a:spcAft>
            </a:pPr>
            <a:r>
              <a:rPr kumimoji="1" lang="ja-JP" altLang="en-US" sz="1600" b="1"/>
              <a:t>■</a:t>
            </a:r>
            <a:r>
              <a:rPr kumimoji="1" lang="en-US" altLang="ja-JP" sz="1600" b="1" dirty="0"/>
              <a:t> </a:t>
            </a:r>
            <a:r>
              <a:rPr kumimoji="1" lang="ja-JP" altLang="en-US" sz="1600" b="1"/>
              <a:t>広告案件</a:t>
            </a:r>
            <a:r>
              <a:rPr kumimoji="1" lang="en-US" altLang="ja-JP" sz="1600" b="1" dirty="0"/>
              <a:t>: JRA</a:t>
            </a:r>
            <a:r>
              <a:rPr kumimoji="1" lang="ja-JP" altLang="en-US" sz="1600" b="1"/>
              <a:t>競馬</a:t>
            </a:r>
            <a:r>
              <a:rPr kumimoji="1" lang="en-US" altLang="ja-JP" sz="1600" b="1" dirty="0"/>
              <a:t> (</a:t>
            </a:r>
            <a:r>
              <a:rPr kumimoji="1" lang="ja-JP" altLang="en-US" sz="1600" b="1"/>
              <a:t>年末</a:t>
            </a:r>
            <a:r>
              <a:rPr kumimoji="1" lang="en-US" altLang="ja-JP" sz="1600" b="1" dirty="0"/>
              <a:t>) (2024</a:t>
            </a:r>
            <a:r>
              <a:rPr kumimoji="1" lang="ja-JP" altLang="en-US" sz="1600" b="1"/>
              <a:t>年</a:t>
            </a:r>
            <a:r>
              <a:rPr kumimoji="1" lang="en-US" altLang="ja-JP" sz="1600" b="1" dirty="0"/>
              <a:t>11</a:t>
            </a:r>
            <a:r>
              <a:rPr kumimoji="1" lang="ja-JP" altLang="en-US" sz="1600" b="1"/>
              <a:t>月</a:t>
            </a:r>
            <a:r>
              <a:rPr kumimoji="1" lang="en-US" altLang="ja-JP" sz="1600" b="1" dirty="0"/>
              <a:t>25</a:t>
            </a:r>
            <a:r>
              <a:rPr kumimoji="1" lang="ja-JP" altLang="en-US" sz="1600" b="1"/>
              <a:t>日配信開始</a:t>
            </a:r>
            <a:r>
              <a:rPr kumimoji="1" lang="en-US" altLang="ja-JP" sz="1600" b="1" dirty="0"/>
              <a:t>)</a:t>
            </a:r>
            <a:br>
              <a:rPr kumimoji="1" lang="en-US" altLang="ja-JP" sz="1600" dirty="0"/>
            </a:br>
            <a:r>
              <a:rPr kumimoji="1" lang="ja-JP" altLang="en-US" sz="1600"/>
              <a:t>実績配信顧客数</a:t>
            </a:r>
            <a:r>
              <a:rPr kumimoji="1" lang="en-US" altLang="ja-JP" sz="1600" dirty="0"/>
              <a:t>: 989,478  ※</a:t>
            </a:r>
            <a:r>
              <a:rPr kumimoji="1" lang="ja-JP" altLang="en-US" sz="1600"/>
              <a:t>同一顧客に複数配信あり</a:t>
            </a:r>
            <a:br>
              <a:rPr kumimoji="1" lang="en-US" altLang="ja-JP" sz="1600" dirty="0"/>
            </a:br>
            <a:r>
              <a:rPr kumimoji="1" lang="ja-JP" altLang="en-US" sz="1600"/>
              <a:t>実績</a:t>
            </a:r>
            <a:r>
              <a:rPr kumimoji="1" lang="en-US" altLang="ja-JP" sz="1600" dirty="0"/>
              <a:t>CTR (</a:t>
            </a:r>
            <a:r>
              <a:rPr kumimoji="1" lang="ja-JP" altLang="en-US" sz="1600"/>
              <a:t>総クリック数</a:t>
            </a:r>
            <a:r>
              <a:rPr kumimoji="1" lang="en-US" altLang="ja-JP" sz="1600" dirty="0"/>
              <a:t>/</a:t>
            </a:r>
            <a:r>
              <a:rPr kumimoji="1" lang="ja-JP" altLang="en-US" sz="1600"/>
              <a:t>総インプレッション数</a:t>
            </a:r>
            <a:r>
              <a:rPr kumimoji="1" lang="en-US" altLang="ja-JP" sz="1600" dirty="0"/>
              <a:t>): 1.38% ,  (</a:t>
            </a:r>
            <a:r>
              <a:rPr kumimoji="1" lang="ja-JP" altLang="en-US" sz="1600"/>
              <a:t>クリックした顧客数</a:t>
            </a:r>
            <a:r>
              <a:rPr kumimoji="1" lang="en-US" altLang="ja-JP" sz="1600" dirty="0"/>
              <a:t>/</a:t>
            </a:r>
            <a:r>
              <a:rPr kumimoji="1" lang="ja-JP" altLang="en-US" sz="1600"/>
              <a:t>配信顧客数</a:t>
            </a:r>
            <a:r>
              <a:rPr kumimoji="1" lang="en-US" altLang="ja-JP" sz="1600" dirty="0"/>
              <a:t>): 2.79%</a:t>
            </a:r>
            <a:endParaRPr kumimoji="1" lang="ja-JP" altLang="en-US" sz="1400"/>
          </a:p>
        </p:txBody>
      </p:sp>
      <p:sp>
        <p:nvSpPr>
          <p:cNvPr id="9" name="TextBox 3">
            <a:extLst>
              <a:ext uri="{FF2B5EF4-FFF2-40B4-BE49-F238E27FC236}">
                <a16:creationId xmlns:a16="http://schemas.microsoft.com/office/drawing/2014/main" id="{767907D1-D296-8FC9-E856-3292156F9CAB}"/>
              </a:ext>
            </a:extLst>
          </p:cNvPr>
          <p:cNvSpPr txBox="1"/>
          <p:nvPr/>
        </p:nvSpPr>
        <p:spPr>
          <a:xfrm>
            <a:off x="540850" y="1897314"/>
            <a:ext cx="11393591" cy="584775"/>
          </a:xfrm>
          <a:prstGeom prst="rect">
            <a:avLst/>
          </a:prstGeom>
          <a:noFill/>
        </p:spPr>
        <p:txBody>
          <a:bodyPr wrap="square" rtlCol="0">
            <a:spAutoFit/>
          </a:bodyPr>
          <a:lstStyle/>
          <a:p>
            <a:pPr>
              <a:spcAft>
                <a:spcPts val="600"/>
              </a:spcAft>
            </a:pPr>
            <a:r>
              <a:rPr kumimoji="1" lang="ja-JP" altLang="en-US" sz="1600" b="1"/>
              <a:t>■</a:t>
            </a:r>
            <a:r>
              <a:rPr kumimoji="1" lang="en-US" altLang="ja-JP" sz="1600" b="1" dirty="0"/>
              <a:t> </a:t>
            </a:r>
            <a:r>
              <a:rPr kumimoji="1" lang="ja-JP" altLang="en-US" sz="1600" b="1"/>
              <a:t>学習結果</a:t>
            </a:r>
            <a:br>
              <a:rPr kumimoji="1" lang="en-US" altLang="ja-JP" sz="1600" b="1" dirty="0"/>
            </a:br>
            <a:r>
              <a:rPr kumimoji="1" lang="ja-JP" altLang="en-US" sz="1600"/>
              <a:t>特徴量</a:t>
            </a:r>
            <a:r>
              <a:rPr kumimoji="1" lang="en-US" altLang="ja-JP" sz="1600" dirty="0"/>
              <a:t> </a:t>
            </a:r>
            <a:r>
              <a:rPr kumimoji="1" lang="en-US" altLang="ja-JP" sz="1600" u="sng" dirty="0"/>
              <a:t>19</a:t>
            </a:r>
            <a:r>
              <a:rPr kumimoji="1" lang="ja-JP" altLang="en-US" sz="1600" u="sng"/>
              <a:t>個</a:t>
            </a:r>
            <a:r>
              <a:rPr kumimoji="1" lang="en-US" altLang="ja-JP" sz="1600" dirty="0"/>
              <a:t> </a:t>
            </a:r>
            <a:r>
              <a:rPr kumimoji="1" lang="ja-JP" altLang="en-US" sz="1600"/>
              <a:t>を選択したときが最も</a:t>
            </a:r>
            <a:r>
              <a:rPr kumimoji="1" lang="en-US" altLang="ja-JP" sz="1600" dirty="0"/>
              <a:t>ROC-AUC(</a:t>
            </a:r>
            <a:r>
              <a:rPr kumimoji="1" lang="ja-JP" altLang="en-US" sz="1600"/>
              <a:t>分類性能評価の指標</a:t>
            </a:r>
            <a:r>
              <a:rPr kumimoji="1" lang="en-US" altLang="ja-JP" sz="1600" dirty="0"/>
              <a:t>)</a:t>
            </a:r>
            <a:r>
              <a:rPr kumimoji="1" lang="ja-JP" altLang="en-US" sz="1600"/>
              <a:t>が高い</a:t>
            </a:r>
            <a:endParaRPr kumimoji="1" lang="ja-JP" altLang="en-US" sz="1400"/>
          </a:p>
        </p:txBody>
      </p:sp>
      <p:sp>
        <p:nvSpPr>
          <p:cNvPr id="10" name="TextBox 3">
            <a:extLst>
              <a:ext uri="{FF2B5EF4-FFF2-40B4-BE49-F238E27FC236}">
                <a16:creationId xmlns:a16="http://schemas.microsoft.com/office/drawing/2014/main" id="{BFF64291-4499-1699-39DE-BF1867A8A6D5}"/>
              </a:ext>
            </a:extLst>
          </p:cNvPr>
          <p:cNvSpPr txBox="1"/>
          <p:nvPr/>
        </p:nvSpPr>
        <p:spPr>
          <a:xfrm>
            <a:off x="1178965" y="2403919"/>
            <a:ext cx="9974750" cy="261610"/>
          </a:xfrm>
          <a:prstGeom prst="rect">
            <a:avLst/>
          </a:prstGeom>
          <a:noFill/>
        </p:spPr>
        <p:txBody>
          <a:bodyPr wrap="square" rtlCol="0">
            <a:spAutoFit/>
          </a:bodyPr>
          <a:lstStyle/>
          <a:p>
            <a:pPr>
              <a:spcAft>
                <a:spcPts val="600"/>
              </a:spcAft>
            </a:pPr>
            <a:r>
              <a:rPr kumimoji="1" lang="ja-JP" altLang="en-US" sz="1100"/>
              <a:t>これは全特徴量をそのまま使うより指標が高く、また変数が減ることで説明性が増すため、量子計算による特徴量選択が有効であるといえる。</a:t>
            </a:r>
            <a:endParaRPr kumimoji="1" lang="ja-JP" altLang="en-US" sz="1050"/>
          </a:p>
        </p:txBody>
      </p:sp>
      <p:sp>
        <p:nvSpPr>
          <p:cNvPr id="11" name="TextBox 3">
            <a:extLst>
              <a:ext uri="{FF2B5EF4-FFF2-40B4-BE49-F238E27FC236}">
                <a16:creationId xmlns:a16="http://schemas.microsoft.com/office/drawing/2014/main" id="{314DBBC5-1375-D245-26BF-FEE4DE1C8AD6}"/>
              </a:ext>
            </a:extLst>
          </p:cNvPr>
          <p:cNvSpPr txBox="1"/>
          <p:nvPr/>
        </p:nvSpPr>
        <p:spPr>
          <a:xfrm>
            <a:off x="826231" y="2845211"/>
            <a:ext cx="4240821" cy="430887"/>
          </a:xfrm>
          <a:prstGeom prst="rect">
            <a:avLst/>
          </a:prstGeom>
          <a:noFill/>
        </p:spPr>
        <p:txBody>
          <a:bodyPr wrap="square" rtlCol="0">
            <a:spAutoFit/>
          </a:bodyPr>
          <a:lstStyle/>
          <a:p>
            <a:pPr>
              <a:spcAft>
                <a:spcPts val="600"/>
              </a:spcAft>
            </a:pPr>
            <a:r>
              <a:rPr kumimoji="1" lang="ja-JP" altLang="en-US" sz="1100" b="1"/>
              <a:t>モデルが予測するクリック確率ごとに顧客数のヒストグラム</a:t>
            </a:r>
            <a:br>
              <a:rPr kumimoji="1" lang="en-US" altLang="ja-JP" sz="1100" b="1" dirty="0"/>
            </a:br>
            <a:r>
              <a:rPr kumimoji="1" lang="ja-JP" altLang="en-US" sz="1100" b="1"/>
              <a:t>実際にクリックされた数を</a:t>
            </a:r>
            <a:r>
              <a:rPr kumimoji="1" lang="ja-JP" altLang="en-US" sz="1100" b="1">
                <a:solidFill>
                  <a:schemeClr val="accent2">
                    <a:lumMod val="75000"/>
                  </a:schemeClr>
                </a:solidFill>
              </a:rPr>
              <a:t>橙色</a:t>
            </a:r>
            <a:r>
              <a:rPr kumimoji="1" lang="ja-JP" altLang="en-US" sz="1100" b="1"/>
              <a:t>、されなかった数を</a:t>
            </a:r>
            <a:r>
              <a:rPr kumimoji="1" lang="ja-JP" altLang="en-US" sz="1100" b="1">
                <a:solidFill>
                  <a:schemeClr val="accent1"/>
                </a:solidFill>
              </a:rPr>
              <a:t>水色</a:t>
            </a:r>
            <a:r>
              <a:rPr kumimoji="1" lang="ja-JP" altLang="en-US" sz="1100" b="1"/>
              <a:t>で表現</a:t>
            </a:r>
            <a:endParaRPr kumimoji="1" lang="en-US" altLang="ja-JP" sz="1100" b="1" dirty="0"/>
          </a:p>
        </p:txBody>
      </p:sp>
      <p:sp>
        <p:nvSpPr>
          <p:cNvPr id="12" name="TextBox 3">
            <a:extLst>
              <a:ext uri="{FF2B5EF4-FFF2-40B4-BE49-F238E27FC236}">
                <a16:creationId xmlns:a16="http://schemas.microsoft.com/office/drawing/2014/main" id="{F6B315CC-13EC-17D8-EBC4-1EBD3A012356}"/>
              </a:ext>
            </a:extLst>
          </p:cNvPr>
          <p:cNvSpPr txBox="1"/>
          <p:nvPr/>
        </p:nvSpPr>
        <p:spPr>
          <a:xfrm>
            <a:off x="2440374" y="4706078"/>
            <a:ext cx="2131624" cy="938719"/>
          </a:xfrm>
          <a:prstGeom prst="rect">
            <a:avLst/>
          </a:prstGeom>
          <a:noFill/>
        </p:spPr>
        <p:txBody>
          <a:bodyPr wrap="square" rtlCol="0">
            <a:spAutoFit/>
          </a:bodyPr>
          <a:lstStyle/>
          <a:p>
            <a:pPr>
              <a:spcAft>
                <a:spcPts val="600"/>
              </a:spcAft>
            </a:pPr>
            <a:r>
              <a:rPr kumimoji="1" lang="ja-JP" altLang="en-US" sz="1100" b="1"/>
              <a:t>クリック確率が大きい範囲（横軸右側）へ</a:t>
            </a:r>
            <a:r>
              <a:rPr kumimoji="1" lang="ja-JP" altLang="en-US" sz="1100" b="1">
                <a:solidFill>
                  <a:schemeClr val="accent2">
                    <a:lumMod val="75000"/>
                  </a:schemeClr>
                </a:solidFill>
              </a:rPr>
              <a:t>橙色</a:t>
            </a:r>
            <a:r>
              <a:rPr kumimoji="1" lang="ja-JP" altLang="en-US" sz="1100" b="1"/>
              <a:t>が伸びていることで、実績クリック有りを正しく予測できていることを表す。</a:t>
            </a:r>
            <a:endParaRPr kumimoji="1" lang="en-US" altLang="ja-JP" sz="1100" b="1" dirty="0"/>
          </a:p>
        </p:txBody>
      </p:sp>
      <p:sp>
        <p:nvSpPr>
          <p:cNvPr id="14" name="TextBox 3">
            <a:extLst>
              <a:ext uri="{FF2B5EF4-FFF2-40B4-BE49-F238E27FC236}">
                <a16:creationId xmlns:a16="http://schemas.microsoft.com/office/drawing/2014/main" id="{B2FAAAB3-5333-5E29-2DED-4264C272C93A}"/>
              </a:ext>
            </a:extLst>
          </p:cNvPr>
          <p:cNvSpPr txBox="1"/>
          <p:nvPr/>
        </p:nvSpPr>
        <p:spPr>
          <a:xfrm>
            <a:off x="5154585" y="2847478"/>
            <a:ext cx="5666786" cy="430887"/>
          </a:xfrm>
          <a:prstGeom prst="rect">
            <a:avLst/>
          </a:prstGeom>
          <a:noFill/>
        </p:spPr>
        <p:txBody>
          <a:bodyPr wrap="square" rtlCol="0">
            <a:spAutoFit/>
          </a:bodyPr>
          <a:lstStyle/>
          <a:p>
            <a:pPr>
              <a:spcAft>
                <a:spcPts val="600"/>
              </a:spcAft>
            </a:pPr>
            <a:r>
              <a:rPr kumimoji="1" lang="ja-JP" altLang="en-US" sz="1100" b="1"/>
              <a:t>閾値を</a:t>
            </a:r>
            <a:r>
              <a:rPr kumimoji="1" lang="en-US" altLang="ja-JP" sz="1100" b="1" dirty="0"/>
              <a:t>0〜1</a:t>
            </a:r>
            <a:r>
              <a:rPr kumimoji="1" lang="ja-JP" altLang="en-US" sz="1100" b="1"/>
              <a:t>の間に定め、クリック確率が閾値を超える顧客に配信したと仮定したときのインプレッション数・クリック数・予測</a:t>
            </a:r>
            <a:r>
              <a:rPr kumimoji="1" lang="en-US" altLang="ja-JP" sz="1100" b="1" dirty="0"/>
              <a:t>CTR</a:t>
            </a:r>
          </a:p>
        </p:txBody>
      </p:sp>
      <p:sp>
        <p:nvSpPr>
          <p:cNvPr id="15" name="TextBox 3">
            <a:extLst>
              <a:ext uri="{FF2B5EF4-FFF2-40B4-BE49-F238E27FC236}">
                <a16:creationId xmlns:a16="http://schemas.microsoft.com/office/drawing/2014/main" id="{F93CC0E9-D5C5-3A8C-D099-5615AE89603E}"/>
              </a:ext>
            </a:extLst>
          </p:cNvPr>
          <p:cNvSpPr txBox="1"/>
          <p:nvPr/>
        </p:nvSpPr>
        <p:spPr>
          <a:xfrm>
            <a:off x="7840381" y="4836611"/>
            <a:ext cx="2131624" cy="938719"/>
          </a:xfrm>
          <a:prstGeom prst="rect">
            <a:avLst/>
          </a:prstGeom>
          <a:noFill/>
        </p:spPr>
        <p:txBody>
          <a:bodyPr wrap="square" rtlCol="0">
            <a:spAutoFit/>
          </a:bodyPr>
          <a:lstStyle/>
          <a:p>
            <a:pPr>
              <a:spcAft>
                <a:spcPts val="600"/>
              </a:spcAft>
            </a:pPr>
            <a:r>
              <a:rPr kumimoji="1" lang="ja-JP" altLang="en-US" sz="1100" b="1"/>
              <a:t>閾値を上げるほど配信対象の</a:t>
            </a:r>
            <a:r>
              <a:rPr kumimoji="1" lang="ja-JP" altLang="en-US" sz="1100" b="1">
                <a:solidFill>
                  <a:schemeClr val="accent5">
                    <a:lumMod val="75000"/>
                  </a:schemeClr>
                </a:solidFill>
              </a:rPr>
              <a:t>インプレッション数</a:t>
            </a:r>
            <a:r>
              <a:rPr kumimoji="1" lang="ja-JP" altLang="en-US" sz="1100" b="1"/>
              <a:t>は下がるが、相対的な</a:t>
            </a:r>
            <a:r>
              <a:rPr kumimoji="1" lang="ja-JP" altLang="en-US" sz="1100" b="1">
                <a:solidFill>
                  <a:schemeClr val="accent1">
                    <a:lumMod val="75000"/>
                  </a:schemeClr>
                </a:solidFill>
              </a:rPr>
              <a:t>クリック数</a:t>
            </a:r>
            <a:r>
              <a:rPr kumimoji="1" lang="ja-JP" altLang="en-US" sz="1100" b="1"/>
              <a:t>が上がるため、</a:t>
            </a:r>
            <a:r>
              <a:rPr kumimoji="1" lang="ja-JP" altLang="en-US" sz="1100" b="1">
                <a:solidFill>
                  <a:schemeClr val="accent5">
                    <a:lumMod val="75000"/>
                  </a:schemeClr>
                </a:solidFill>
              </a:rPr>
              <a:t>インプレッション数</a:t>
            </a:r>
            <a:r>
              <a:rPr kumimoji="1" lang="ja-JP" altLang="en-US" sz="1100" b="1"/>
              <a:t>と</a:t>
            </a:r>
            <a:r>
              <a:rPr kumimoji="1" lang="en-US" altLang="ja-JP" sz="1100" b="1" dirty="0">
                <a:solidFill>
                  <a:srgbClr val="FF0000"/>
                </a:solidFill>
              </a:rPr>
              <a:t>CTR</a:t>
            </a:r>
            <a:r>
              <a:rPr kumimoji="1" lang="ja-JP" altLang="en-US" sz="1100" b="1"/>
              <a:t>はトレードオフ関係</a:t>
            </a:r>
            <a:endParaRPr kumimoji="1" lang="en-US" altLang="ja-JP" sz="1100" b="1" dirty="0"/>
          </a:p>
        </p:txBody>
      </p:sp>
      <p:cxnSp>
        <p:nvCxnSpPr>
          <p:cNvPr id="16" name="直線コネクタ 15">
            <a:extLst>
              <a:ext uri="{FF2B5EF4-FFF2-40B4-BE49-F238E27FC236}">
                <a16:creationId xmlns:a16="http://schemas.microsoft.com/office/drawing/2014/main" id="{0758A3C4-BEDA-94AB-E25E-6A603F6639C1}"/>
              </a:ext>
            </a:extLst>
          </p:cNvPr>
          <p:cNvCxnSpPr>
            <a:cxnSpLocks/>
          </p:cNvCxnSpPr>
          <p:nvPr/>
        </p:nvCxnSpPr>
        <p:spPr>
          <a:xfrm flipV="1">
            <a:off x="6230217" y="3529468"/>
            <a:ext cx="0" cy="2513286"/>
          </a:xfrm>
          <a:prstGeom prst="line">
            <a:avLst/>
          </a:prstGeom>
          <a:ln w="25400"/>
        </p:spPr>
        <p:style>
          <a:lnRef idx="1">
            <a:schemeClr val="accent2"/>
          </a:lnRef>
          <a:fillRef idx="0">
            <a:schemeClr val="accent2"/>
          </a:fillRef>
          <a:effectRef idx="0">
            <a:schemeClr val="accent2"/>
          </a:effectRef>
          <a:fontRef idx="minor">
            <a:schemeClr val="tx1"/>
          </a:fontRef>
        </p:style>
      </p:cxnSp>
      <p:sp>
        <p:nvSpPr>
          <p:cNvPr id="2" name="四角形吹き出し 1">
            <a:extLst>
              <a:ext uri="{FF2B5EF4-FFF2-40B4-BE49-F238E27FC236}">
                <a16:creationId xmlns:a16="http://schemas.microsoft.com/office/drawing/2014/main" id="{90076BF4-C7B8-187F-413F-CCF358B5AAA1}"/>
              </a:ext>
            </a:extLst>
          </p:cNvPr>
          <p:cNvSpPr/>
          <p:nvPr/>
        </p:nvSpPr>
        <p:spPr>
          <a:xfrm>
            <a:off x="6714265" y="3792446"/>
            <a:ext cx="4905015" cy="686368"/>
          </a:xfrm>
          <a:prstGeom prst="wedgeRectCallout">
            <a:avLst>
              <a:gd name="adj1" fmla="val -58731"/>
              <a:gd name="adj2" fmla="val 20750"/>
            </a:avLst>
          </a:prstGeom>
          <a:ln w="25400"/>
        </p:spPr>
        <p:style>
          <a:lnRef idx="2">
            <a:schemeClr val="accent2"/>
          </a:lnRef>
          <a:fillRef idx="1">
            <a:schemeClr val="lt1"/>
          </a:fillRef>
          <a:effectRef idx="0">
            <a:schemeClr val="accent2"/>
          </a:effectRef>
          <a:fontRef idx="minor">
            <a:schemeClr val="dk1"/>
          </a:fontRef>
        </p:style>
        <p:txBody>
          <a:bodyPr rtlCol="0" anchor="ctr"/>
          <a:lstStyle/>
          <a:p>
            <a:r>
              <a:rPr kumimoji="1" lang="ja-JP" altLang="en-US" sz="1200"/>
              <a:t>閾値としてクリック確率</a:t>
            </a:r>
            <a:r>
              <a:rPr kumimoji="1" lang="en-US" altLang="ja-JP" sz="1200" dirty="0"/>
              <a:t>0.2</a:t>
            </a:r>
            <a:r>
              <a:rPr kumimoji="1" lang="ja-JP" altLang="en-US" sz="1200"/>
              <a:t>を設定</a:t>
            </a:r>
            <a:r>
              <a:rPr kumimoji="1" lang="en-US" altLang="ja-JP" sz="1200" dirty="0"/>
              <a:t>:</a:t>
            </a:r>
            <a:br>
              <a:rPr kumimoji="1" lang="en-US" altLang="ja-JP" sz="1400" dirty="0"/>
            </a:br>
            <a:r>
              <a:rPr kumimoji="1" lang="ja-JP" altLang="en-US" sz="1400"/>
              <a:t>評価用テストデータ約</a:t>
            </a:r>
            <a:r>
              <a:rPr kumimoji="1" lang="en-US" altLang="ja-JP" sz="1400" dirty="0"/>
              <a:t>20</a:t>
            </a:r>
            <a:r>
              <a:rPr kumimoji="1" lang="ja-JP" altLang="en-US" sz="1400"/>
              <a:t>万人のうち約</a:t>
            </a:r>
            <a:r>
              <a:rPr kumimoji="1" lang="en-US" altLang="ja-JP" sz="1400" dirty="0"/>
              <a:t>4.6</a:t>
            </a:r>
            <a:r>
              <a:rPr kumimoji="1" lang="ja-JP" altLang="en-US" sz="1400"/>
              <a:t>万人に</a:t>
            </a:r>
            <a:br>
              <a:rPr kumimoji="1" lang="en-US" altLang="ja-JP" sz="1400" dirty="0"/>
            </a:br>
            <a:r>
              <a:rPr kumimoji="1" lang="ja-JP" altLang="en-US" sz="1400"/>
              <a:t>配信することで</a:t>
            </a:r>
            <a:r>
              <a:rPr kumimoji="1" lang="ja-JP" altLang="en-US" sz="1400" b="1">
                <a:solidFill>
                  <a:schemeClr val="accent2"/>
                </a:solidFill>
              </a:rPr>
              <a:t>予測</a:t>
            </a:r>
            <a:r>
              <a:rPr kumimoji="1" lang="en-US" altLang="ja-JP" sz="1400" b="1" dirty="0">
                <a:solidFill>
                  <a:schemeClr val="accent2"/>
                </a:solidFill>
              </a:rPr>
              <a:t>CTR 4.21% (2.79%</a:t>
            </a:r>
            <a:r>
              <a:rPr kumimoji="1" lang="ja-JP" altLang="en-US" sz="1400" b="1">
                <a:solidFill>
                  <a:schemeClr val="accent2"/>
                </a:solidFill>
              </a:rPr>
              <a:t>から</a:t>
            </a:r>
            <a:r>
              <a:rPr kumimoji="1" lang="en-US" altLang="ja-JP" sz="1400" b="1" dirty="0">
                <a:solidFill>
                  <a:schemeClr val="accent2"/>
                </a:solidFill>
              </a:rPr>
              <a:t>1.42%pt</a:t>
            </a:r>
            <a:r>
              <a:rPr kumimoji="1" lang="ja-JP" altLang="en-US" sz="1400" b="1">
                <a:solidFill>
                  <a:schemeClr val="accent2"/>
                </a:solidFill>
              </a:rPr>
              <a:t>向上</a:t>
            </a:r>
            <a:r>
              <a:rPr kumimoji="1" lang="en-US" altLang="ja-JP" sz="1400" b="1" dirty="0">
                <a:solidFill>
                  <a:schemeClr val="accent2"/>
                </a:solidFill>
              </a:rPr>
              <a:t>)</a:t>
            </a:r>
            <a:endParaRPr kumimoji="1" lang="ja-JP" altLang="en-US" sz="1400" b="1">
              <a:solidFill>
                <a:schemeClr val="accent2"/>
              </a:solidFill>
            </a:endParaRPr>
          </a:p>
        </p:txBody>
      </p:sp>
    </p:spTree>
    <p:extLst>
      <p:ext uri="{BB962C8B-B14F-4D97-AF65-F5344CB8AC3E}">
        <p14:creationId xmlns:p14="http://schemas.microsoft.com/office/powerpoint/2010/main" val="1757920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6B4BD-ADD3-6DE6-8985-BDDC38BE83DA}"/>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9E4627CD-176C-FB8E-FF39-3E3797B7E5C6}"/>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9E4627CD-176C-FB8E-FF39-3E3797B7E5C6}"/>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F0B90FC3-FA1C-1F46-92A2-8A98FC6AF033}"/>
              </a:ext>
            </a:extLst>
          </p:cNvPr>
          <p:cNvSpPr>
            <a:spLocks noGrp="1"/>
          </p:cNvSpPr>
          <p:nvPr>
            <p:ph type="body" sz="quarter" idx="10"/>
          </p:nvPr>
        </p:nvSpPr>
        <p:spPr/>
        <p:txBody>
          <a:bodyPr>
            <a:normAutofit fontScale="92500" lnSpcReduction="10000"/>
          </a:bodyPr>
          <a:lstStyle/>
          <a:p>
            <a:r>
              <a:rPr lang="ja-JP" altLang="en-US"/>
              <a:t>学習モデルを分析することによる潜在顧客セグメントの探索</a:t>
            </a:r>
            <a:r>
              <a:rPr lang="en-US" altLang="ja-JP" dirty="0"/>
              <a:t> (2):</a:t>
            </a:r>
            <a:br>
              <a:rPr lang="en-US" altLang="ja-JP" dirty="0"/>
            </a:br>
            <a:r>
              <a:rPr lang="ja-JP" altLang="en-US"/>
              <a:t>「</a:t>
            </a:r>
            <a:r>
              <a:rPr lang="en-US" altLang="ja-JP" dirty="0"/>
              <a:t>JRA</a:t>
            </a:r>
            <a:r>
              <a:rPr lang="ja-JP" altLang="en-US"/>
              <a:t>競馬</a:t>
            </a:r>
            <a:r>
              <a:rPr lang="en-US" altLang="ja-JP" dirty="0"/>
              <a:t> (</a:t>
            </a:r>
            <a:r>
              <a:rPr lang="ja-JP" altLang="en-US"/>
              <a:t>年末</a:t>
            </a:r>
            <a:r>
              <a:rPr lang="en-US" altLang="ja-JP" dirty="0"/>
              <a:t>)</a:t>
            </a:r>
            <a:r>
              <a:rPr lang="ja-JP" altLang="en-US"/>
              <a:t>」</a:t>
            </a:r>
            <a:endParaRPr lang="ja-JP" altLang="en-US" dirty="0"/>
          </a:p>
        </p:txBody>
      </p:sp>
      <p:sp>
        <p:nvSpPr>
          <p:cNvPr id="3" name="Slide Number Placeholder 2">
            <a:extLst>
              <a:ext uri="{FF2B5EF4-FFF2-40B4-BE49-F238E27FC236}">
                <a16:creationId xmlns:a16="http://schemas.microsoft.com/office/drawing/2014/main" id="{5FBEBFC8-79EB-2EB0-2747-E4FDEE684A9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2" name="TextBox 3">
            <a:extLst>
              <a:ext uri="{FF2B5EF4-FFF2-40B4-BE49-F238E27FC236}">
                <a16:creationId xmlns:a16="http://schemas.microsoft.com/office/drawing/2014/main" id="{BA9DE026-3CAB-EFC6-0C38-6F4F2AD4DCAD}"/>
              </a:ext>
            </a:extLst>
          </p:cNvPr>
          <p:cNvSpPr txBox="1"/>
          <p:nvPr/>
        </p:nvSpPr>
        <p:spPr>
          <a:xfrm>
            <a:off x="604917" y="2245569"/>
            <a:ext cx="10982166" cy="846386"/>
          </a:xfrm>
          <a:prstGeom prst="rect">
            <a:avLst/>
          </a:prstGeom>
          <a:noFill/>
        </p:spPr>
        <p:txBody>
          <a:bodyPr wrap="square" rtlCol="0">
            <a:spAutoFit/>
          </a:bodyPr>
          <a:lstStyle/>
          <a:p>
            <a:pPr>
              <a:spcAft>
                <a:spcPts val="600"/>
              </a:spcAft>
            </a:pPr>
            <a:r>
              <a:rPr kumimoji="1" lang="ja-JP" altLang="en-US" sz="1600" b="1"/>
              <a:t>■</a:t>
            </a:r>
            <a:r>
              <a:rPr kumimoji="1" lang="en-US" altLang="ja-JP" sz="1600" b="1" dirty="0"/>
              <a:t> </a:t>
            </a:r>
            <a:r>
              <a:rPr kumimoji="1" lang="ja-JP" altLang="en-US" sz="1600" b="1"/>
              <a:t>量子特徴量選択により選ばれた</a:t>
            </a:r>
            <a:r>
              <a:rPr kumimoji="1" lang="en-US" altLang="ja-JP" sz="1600" b="1" dirty="0"/>
              <a:t> </a:t>
            </a:r>
            <a:r>
              <a:rPr kumimoji="1" lang="en-US" altLang="ja-JP" sz="1600" b="1" u="sng" dirty="0"/>
              <a:t>19</a:t>
            </a:r>
            <a:r>
              <a:rPr kumimoji="1" lang="ja-JP" altLang="en-US" sz="1600" b="1" u="sng"/>
              <a:t>個の属性</a:t>
            </a:r>
            <a:r>
              <a:rPr kumimoji="1" lang="ja-JP" altLang="en-US" sz="1600" b="1"/>
              <a:t>（クリック予測への寄与度の大きい順）</a:t>
            </a:r>
            <a:endParaRPr kumimoji="1" lang="en-US" altLang="ja-JP" sz="1600" b="1" dirty="0"/>
          </a:p>
          <a:p>
            <a:pPr>
              <a:spcAft>
                <a:spcPts val="600"/>
              </a:spcAft>
            </a:pPr>
            <a:r>
              <a:rPr kumimoji="1" lang="ja-JP" altLang="en-US" sz="1400"/>
              <a:t>年齢、世帯の年間収入、旅行関心、世帯資産、既婚</a:t>
            </a:r>
            <a:r>
              <a:rPr kumimoji="1" lang="en-US" altLang="ja-JP" sz="1400" dirty="0"/>
              <a:t>FLG</a:t>
            </a:r>
            <a:r>
              <a:rPr kumimoji="1" lang="ja-JP" altLang="en-US" sz="1400"/>
              <a:t>、居住地</a:t>
            </a:r>
            <a:r>
              <a:rPr kumimoji="1" lang="en-US" altLang="ja-JP" sz="1400" dirty="0"/>
              <a:t>(</a:t>
            </a:r>
            <a:r>
              <a:rPr kumimoji="1" lang="ja-JP" altLang="en-US" sz="1400"/>
              <a:t>県</a:t>
            </a:r>
            <a:r>
              <a:rPr kumimoji="1" lang="en-US" altLang="ja-JP" sz="1400" dirty="0"/>
              <a:t>)</a:t>
            </a:r>
            <a:r>
              <a:rPr kumimoji="1" lang="ja-JP" altLang="en-US" sz="1400"/>
              <a:t>、投信残高、出産、電話代引落額、子ども高校入学、就職、引っ越し、昇進、水道料金引落額、ガス代引落額、転職、退職、子ども習い事、結婚</a:t>
            </a:r>
          </a:p>
        </p:txBody>
      </p:sp>
      <p:sp>
        <p:nvSpPr>
          <p:cNvPr id="5" name="TextBox 3">
            <a:extLst>
              <a:ext uri="{FF2B5EF4-FFF2-40B4-BE49-F238E27FC236}">
                <a16:creationId xmlns:a16="http://schemas.microsoft.com/office/drawing/2014/main" id="{93208956-56FD-BB5B-8CDD-6573C1DFFF5E}"/>
              </a:ext>
            </a:extLst>
          </p:cNvPr>
          <p:cNvSpPr txBox="1"/>
          <p:nvPr/>
        </p:nvSpPr>
        <p:spPr>
          <a:xfrm>
            <a:off x="604917" y="3203923"/>
            <a:ext cx="10935342" cy="338554"/>
          </a:xfrm>
          <a:prstGeom prst="rect">
            <a:avLst/>
          </a:prstGeom>
          <a:noFill/>
        </p:spPr>
        <p:txBody>
          <a:bodyPr wrap="square" rtlCol="0">
            <a:spAutoFit/>
          </a:bodyPr>
          <a:lstStyle/>
          <a:p>
            <a:pPr>
              <a:spcAft>
                <a:spcPts val="600"/>
              </a:spcAft>
            </a:pPr>
            <a:r>
              <a:rPr kumimoji="1" lang="ja-JP" altLang="en-US" sz="1600" b="1"/>
              <a:t>■</a:t>
            </a:r>
            <a:r>
              <a:rPr kumimoji="1" lang="en-US" altLang="ja-JP" sz="1600" b="1" dirty="0"/>
              <a:t> </a:t>
            </a:r>
            <a:r>
              <a:rPr kumimoji="1" lang="ja-JP" altLang="en-US" sz="1600" b="1"/>
              <a:t>選択特徴量から導かれるクリックが期待される顧客セグメント</a:t>
            </a:r>
            <a:r>
              <a:rPr kumimoji="1" lang="en-US" altLang="ja-JP" sz="1600" b="1" dirty="0"/>
              <a:t> (</a:t>
            </a:r>
            <a:r>
              <a:rPr kumimoji="1" lang="ja-JP" altLang="en-US" sz="1600" b="1"/>
              <a:t>実績</a:t>
            </a:r>
            <a:r>
              <a:rPr kumimoji="1" lang="en-US" altLang="ja-JP" sz="1600" b="1" dirty="0"/>
              <a:t>CTR: 1.38%)</a:t>
            </a:r>
            <a:endParaRPr kumimoji="1" lang="ja-JP" altLang="en-US" sz="1600"/>
          </a:p>
        </p:txBody>
      </p:sp>
      <p:sp>
        <p:nvSpPr>
          <p:cNvPr id="6" name="TextBox 3">
            <a:extLst>
              <a:ext uri="{FF2B5EF4-FFF2-40B4-BE49-F238E27FC236}">
                <a16:creationId xmlns:a16="http://schemas.microsoft.com/office/drawing/2014/main" id="{7C4E269D-58EB-5CC7-1422-A405F43DF24B}"/>
              </a:ext>
            </a:extLst>
          </p:cNvPr>
          <p:cNvSpPr txBox="1"/>
          <p:nvPr/>
        </p:nvSpPr>
        <p:spPr>
          <a:xfrm>
            <a:off x="604917" y="1013372"/>
            <a:ext cx="10982166" cy="1215717"/>
          </a:xfrm>
          <a:prstGeom prst="rect">
            <a:avLst/>
          </a:prstGeom>
          <a:noFill/>
        </p:spPr>
        <p:txBody>
          <a:bodyPr wrap="square" rtlCol="0">
            <a:spAutoFit/>
          </a:bodyPr>
          <a:lstStyle/>
          <a:p>
            <a:pPr>
              <a:spcAft>
                <a:spcPts val="600"/>
              </a:spcAft>
            </a:pPr>
            <a:r>
              <a:rPr kumimoji="1" lang="ja-JP" altLang="en-US" sz="1600" b="1"/>
              <a:t>■</a:t>
            </a:r>
            <a:r>
              <a:rPr kumimoji="1" lang="en-US" altLang="ja-JP" sz="1600" b="1" dirty="0"/>
              <a:t> </a:t>
            </a:r>
            <a:r>
              <a:rPr kumimoji="1" lang="ja-JP" altLang="en-US" sz="1600" b="1"/>
              <a:t>分析結果から得られる示唆</a:t>
            </a:r>
            <a:endParaRPr kumimoji="1" lang="en-US" altLang="ja-JP" sz="1600" b="1" dirty="0"/>
          </a:p>
          <a:p>
            <a:pPr marL="285750" indent="-285750">
              <a:spcAft>
                <a:spcPts val="600"/>
              </a:spcAft>
              <a:buFont typeface="Arial" panose="020B0604020202020204" pitchFamily="34" charset="0"/>
              <a:buChar char="•"/>
            </a:pPr>
            <a:r>
              <a:rPr kumimoji="1" lang="ja-JP" altLang="en-US" sz="1400"/>
              <a:t>「退職・</a:t>
            </a:r>
            <a:r>
              <a:rPr kumimoji="1" lang="en-US" altLang="ja-JP" sz="1400" dirty="0"/>
              <a:t>50</a:t>
            </a:r>
            <a:r>
              <a:rPr kumimoji="1" lang="ja-JP" altLang="en-US" sz="1400"/>
              <a:t>代以上・低</a:t>
            </a:r>
            <a:r>
              <a:rPr kumimoji="1" lang="en-US" altLang="ja-JP" sz="1400" dirty="0"/>
              <a:t>〜</a:t>
            </a:r>
            <a:r>
              <a:rPr kumimoji="1" lang="ja-JP" altLang="en-US" sz="1400"/>
              <a:t>中所得層」が中心となる顧客層で高クリック反応を示す。</a:t>
            </a:r>
          </a:p>
          <a:p>
            <a:pPr marL="285750" indent="-285750">
              <a:spcAft>
                <a:spcPts val="600"/>
              </a:spcAft>
              <a:buFont typeface="Arial" panose="020B0604020202020204" pitchFamily="34" charset="0"/>
              <a:buChar char="•"/>
            </a:pPr>
            <a:r>
              <a:rPr kumimoji="1" lang="ja-JP" altLang="en-US" sz="1400"/>
              <a:t>他広告案件に比べて「ライフイベントの少なさ」が高クリック率へつながり、生活が安定化・固定化した層へ訴求することが有効。</a:t>
            </a:r>
          </a:p>
          <a:p>
            <a:pPr marL="285750" indent="-285750">
              <a:spcAft>
                <a:spcPts val="600"/>
              </a:spcAft>
              <a:buFont typeface="Arial" panose="020B0604020202020204" pitchFamily="34" charset="0"/>
              <a:buChar char="•"/>
            </a:pPr>
            <a:r>
              <a:rPr kumimoji="1" lang="en-US" altLang="ja-JP" sz="1400" dirty="0"/>
              <a:t>JRA</a:t>
            </a:r>
            <a:r>
              <a:rPr kumimoji="1" lang="ja-JP" altLang="en-US" sz="1400"/>
              <a:t>春の案件と異なり資産が少ない層も高反応を示すのが特徴であり、年末一大レースのイベント性が影響していそう。</a:t>
            </a:r>
          </a:p>
        </p:txBody>
      </p:sp>
      <p:graphicFrame>
        <p:nvGraphicFramePr>
          <p:cNvPr id="8" name="表 7">
            <a:extLst>
              <a:ext uri="{FF2B5EF4-FFF2-40B4-BE49-F238E27FC236}">
                <a16:creationId xmlns:a16="http://schemas.microsoft.com/office/drawing/2014/main" id="{127CC596-65AC-A69F-E8AF-319704D253F8}"/>
              </a:ext>
            </a:extLst>
          </p:cNvPr>
          <p:cNvGraphicFramePr>
            <a:graphicFrameLocks noGrp="1"/>
          </p:cNvGraphicFramePr>
          <p:nvPr/>
        </p:nvGraphicFramePr>
        <p:xfrm>
          <a:off x="680859" y="3552669"/>
          <a:ext cx="10906224" cy="2651760"/>
        </p:xfrm>
        <a:graphic>
          <a:graphicData uri="http://schemas.openxmlformats.org/drawingml/2006/table">
            <a:tbl>
              <a:tblPr firstRow="1" bandRow="1">
                <a:tableStyleId>{5C22544A-7EE6-4342-B048-85BDC9FD1C3A}</a:tableStyleId>
              </a:tblPr>
              <a:tblGrid>
                <a:gridCol w="2992239">
                  <a:extLst>
                    <a:ext uri="{9D8B030D-6E8A-4147-A177-3AD203B41FA5}">
                      <a16:colId xmlns:a16="http://schemas.microsoft.com/office/drawing/2014/main" val="1167605434"/>
                    </a:ext>
                  </a:extLst>
                </a:gridCol>
                <a:gridCol w="5784512">
                  <a:extLst>
                    <a:ext uri="{9D8B030D-6E8A-4147-A177-3AD203B41FA5}">
                      <a16:colId xmlns:a16="http://schemas.microsoft.com/office/drawing/2014/main" val="2671981474"/>
                    </a:ext>
                  </a:extLst>
                </a:gridCol>
                <a:gridCol w="1141730">
                  <a:extLst>
                    <a:ext uri="{9D8B030D-6E8A-4147-A177-3AD203B41FA5}">
                      <a16:colId xmlns:a16="http://schemas.microsoft.com/office/drawing/2014/main" val="3730403844"/>
                    </a:ext>
                  </a:extLst>
                </a:gridCol>
                <a:gridCol w="987743">
                  <a:extLst>
                    <a:ext uri="{9D8B030D-6E8A-4147-A177-3AD203B41FA5}">
                      <a16:colId xmlns:a16="http://schemas.microsoft.com/office/drawing/2014/main" val="375169143"/>
                    </a:ext>
                  </a:extLst>
                </a:gridCol>
              </a:tblGrid>
              <a:tr h="0">
                <a:tc>
                  <a:txBody>
                    <a:bodyPr/>
                    <a:lstStyle/>
                    <a:p>
                      <a:r>
                        <a:rPr kumimoji="1" lang="ja-JP" altLang="en-US" sz="1200"/>
                        <a:t>顧客セグメント</a:t>
                      </a:r>
                    </a:p>
                  </a:txBody>
                  <a:tcPr/>
                </a:tc>
                <a:tc>
                  <a:txBody>
                    <a:bodyPr/>
                    <a:lstStyle/>
                    <a:p>
                      <a:r>
                        <a:rPr kumimoji="1" lang="ja-JP" altLang="en-US" sz="1200"/>
                        <a:t>仮説</a:t>
                      </a:r>
                    </a:p>
                  </a:txBody>
                  <a:tcPr/>
                </a:tc>
                <a:tc>
                  <a:txBody>
                    <a:bodyPr/>
                    <a:lstStyle/>
                    <a:p>
                      <a:r>
                        <a:rPr kumimoji="1" lang="ja-JP" altLang="en-US" sz="1200"/>
                        <a:t>予測</a:t>
                      </a:r>
                      <a:r>
                        <a:rPr kumimoji="1" lang="en-US" altLang="ja-JP" sz="1200" dirty="0"/>
                        <a:t>CTR (%)</a:t>
                      </a:r>
                      <a:endParaRPr kumimoji="1" lang="ja-JP" altLang="en-US" sz="1200"/>
                    </a:p>
                  </a:txBody>
                  <a:tcPr/>
                </a:tc>
                <a:tc>
                  <a:txBody>
                    <a:bodyPr/>
                    <a:lstStyle/>
                    <a:p>
                      <a:r>
                        <a:rPr kumimoji="1" lang="ja-JP" altLang="en-US" sz="1200"/>
                        <a:t>ボリューム</a:t>
                      </a:r>
                    </a:p>
                  </a:txBody>
                  <a:tcPr/>
                </a:tc>
                <a:extLst>
                  <a:ext uri="{0D108BD9-81ED-4DB2-BD59-A6C34878D82A}">
                    <a16:rowId xmlns:a16="http://schemas.microsoft.com/office/drawing/2014/main" val="1304683384"/>
                  </a:ext>
                </a:extLst>
              </a:tr>
              <a:tr h="0">
                <a:tc>
                  <a:txBody>
                    <a:bodyPr/>
                    <a:lstStyle/>
                    <a:p>
                      <a:r>
                        <a:rPr kumimoji="1" lang="ja-JP" altLang="en-US" sz="1200"/>
                        <a:t>年齢</a:t>
                      </a:r>
                      <a:r>
                        <a:rPr kumimoji="1" lang="en-US" altLang="ja-JP" sz="1200" dirty="0"/>
                        <a:t>60</a:t>
                      </a:r>
                      <a:r>
                        <a:rPr kumimoji="1" lang="ja-JP" altLang="en-US" sz="1200"/>
                        <a:t>代</a:t>
                      </a:r>
                    </a:p>
                  </a:txBody>
                  <a:tcPr/>
                </a:tc>
                <a:tc>
                  <a:txBody>
                    <a:bodyPr/>
                    <a:lstStyle/>
                    <a:p>
                      <a:r>
                        <a:rPr kumimoji="1" lang="en-US" altLang="ja-JP" sz="1200" dirty="0"/>
                        <a:t>50</a:t>
                      </a:r>
                      <a:r>
                        <a:rPr kumimoji="1" lang="ja-JP" altLang="en-US" sz="1200"/>
                        <a:t>歳を境に上は高クリックが期待。競馬関心の傾向あり。</a:t>
                      </a:r>
                    </a:p>
                  </a:txBody>
                  <a:tcPr/>
                </a:tc>
                <a:tc>
                  <a:txBody>
                    <a:bodyPr/>
                    <a:lstStyle/>
                    <a:p>
                      <a:r>
                        <a:rPr kumimoji="1" lang="en-US" altLang="ja-JP" sz="1200" dirty="0"/>
                        <a:t>2.10</a:t>
                      </a:r>
                    </a:p>
                  </a:txBody>
                  <a:tcPr/>
                </a:tc>
                <a:tc>
                  <a:txBody>
                    <a:bodyPr/>
                    <a:lstStyle/>
                    <a:p>
                      <a:r>
                        <a:rPr kumimoji="1" lang="en-US" altLang="ja-JP" sz="1200" dirty="0"/>
                        <a:t>1,573,880</a:t>
                      </a:r>
                    </a:p>
                  </a:txBody>
                  <a:tcPr/>
                </a:tc>
                <a:extLst>
                  <a:ext uri="{0D108BD9-81ED-4DB2-BD59-A6C34878D82A}">
                    <a16:rowId xmlns:a16="http://schemas.microsoft.com/office/drawing/2014/main" val="3863200915"/>
                  </a:ext>
                </a:extLst>
              </a:tr>
              <a:tr h="117702">
                <a:tc>
                  <a:txBody>
                    <a:bodyPr/>
                    <a:lstStyle/>
                    <a:p>
                      <a:r>
                        <a:rPr kumimoji="1" lang="ja-JP" altLang="en-US" sz="1200"/>
                        <a:t>世帯年間収入</a:t>
                      </a:r>
                      <a:r>
                        <a:rPr kumimoji="1" lang="en-US" altLang="ja-JP" sz="1200" dirty="0"/>
                        <a:t>400</a:t>
                      </a:r>
                      <a:r>
                        <a:rPr kumimoji="1" lang="ja-JP" altLang="en-US" sz="1200"/>
                        <a:t>万円未満</a:t>
                      </a:r>
                    </a:p>
                  </a:txBody>
                  <a:tcPr/>
                </a:tc>
                <a:tc>
                  <a:txBody>
                    <a:bodyPr/>
                    <a:lstStyle/>
                    <a:p>
                      <a:r>
                        <a:rPr kumimoji="1" lang="ja-JP" altLang="en-US" sz="1200"/>
                        <a:t>世帯年間収入が低いほど高クリックが期待。娯楽的なギャンブル性重視。</a:t>
                      </a:r>
                    </a:p>
                  </a:txBody>
                  <a:tcPr/>
                </a:tc>
                <a:tc>
                  <a:txBody>
                    <a:bodyPr/>
                    <a:lstStyle/>
                    <a:p>
                      <a:r>
                        <a:rPr kumimoji="1" lang="en-US" altLang="ja-JP" sz="1200" dirty="0"/>
                        <a:t>1.78</a:t>
                      </a:r>
                      <a:endParaRPr kumimoji="1" lang="ja-JP" altLang="en-US" sz="1200"/>
                    </a:p>
                  </a:txBody>
                  <a:tcPr/>
                </a:tc>
                <a:tc>
                  <a:txBody>
                    <a:bodyPr/>
                    <a:lstStyle/>
                    <a:p>
                      <a:r>
                        <a:rPr kumimoji="1" lang="en-US" altLang="ja-JP" sz="1200" dirty="0"/>
                        <a:t>5,487,293</a:t>
                      </a:r>
                      <a:endParaRPr kumimoji="1" lang="ja-JP" altLang="en-US" sz="1200"/>
                    </a:p>
                  </a:txBody>
                  <a:tcPr/>
                </a:tc>
                <a:extLst>
                  <a:ext uri="{0D108BD9-81ED-4DB2-BD59-A6C34878D82A}">
                    <a16:rowId xmlns:a16="http://schemas.microsoft.com/office/drawing/2014/main" val="533547629"/>
                  </a:ext>
                </a:extLst>
              </a:tr>
              <a:tr h="117702">
                <a:tc>
                  <a:txBody>
                    <a:bodyPr/>
                    <a:lstStyle/>
                    <a:p>
                      <a:r>
                        <a:rPr kumimoji="1" lang="ja-JP" altLang="en-US" sz="1200"/>
                        <a:t>ライフイベント退職</a:t>
                      </a:r>
                    </a:p>
                  </a:txBody>
                  <a:tcPr/>
                </a:tc>
                <a:tc>
                  <a:txBody>
                    <a:bodyPr/>
                    <a:lstStyle/>
                    <a:p>
                      <a:r>
                        <a:rPr kumimoji="1" lang="ja-JP" altLang="en-US" sz="1200"/>
                        <a:t>退職を機に新しい趣味や時間的余裕ができることによる。</a:t>
                      </a:r>
                    </a:p>
                  </a:txBody>
                  <a:tcPr/>
                </a:tc>
                <a:tc>
                  <a:txBody>
                    <a:bodyPr/>
                    <a:lstStyle/>
                    <a:p>
                      <a:r>
                        <a:rPr kumimoji="1" lang="en-US" altLang="ja-JP" sz="1200" dirty="0"/>
                        <a:t>1.70</a:t>
                      </a:r>
                      <a:endParaRPr kumimoji="1" lang="ja-JP" altLang="en-US" sz="1200"/>
                    </a:p>
                  </a:txBody>
                  <a:tcPr/>
                </a:tc>
                <a:tc>
                  <a:txBody>
                    <a:bodyPr/>
                    <a:lstStyle/>
                    <a:p>
                      <a:r>
                        <a:rPr kumimoji="1" lang="en-US" altLang="ja-JP" sz="1200" dirty="0"/>
                        <a:t>1,241,659</a:t>
                      </a:r>
                      <a:endParaRPr kumimoji="1" lang="ja-JP" altLang="en-US" sz="1200"/>
                    </a:p>
                  </a:txBody>
                  <a:tcPr/>
                </a:tc>
                <a:extLst>
                  <a:ext uri="{0D108BD9-81ED-4DB2-BD59-A6C34878D82A}">
                    <a16:rowId xmlns:a16="http://schemas.microsoft.com/office/drawing/2014/main" val="233925187"/>
                  </a:ext>
                </a:extLst>
              </a:tr>
              <a:tr h="167400">
                <a:tc>
                  <a:txBody>
                    <a:bodyPr/>
                    <a:lstStyle/>
                    <a:p>
                      <a:r>
                        <a:rPr kumimoji="1" lang="ja-JP" altLang="en-US" sz="1200"/>
                        <a:t>年齢</a:t>
                      </a:r>
                      <a:r>
                        <a:rPr kumimoji="1" lang="en-US" altLang="ja-JP" sz="1200" dirty="0"/>
                        <a:t>50</a:t>
                      </a:r>
                      <a:r>
                        <a:rPr kumimoji="1" lang="ja-JP" altLang="en-US" sz="1200"/>
                        <a:t>代</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50</a:t>
                      </a:r>
                      <a:r>
                        <a:rPr kumimoji="1" lang="ja-JP" altLang="en-US" sz="1200"/>
                        <a:t>歳を境に上は高クリックが期待。競馬関心の傾向あり。</a:t>
                      </a:r>
                    </a:p>
                  </a:txBody>
                  <a:tcPr/>
                </a:tc>
                <a:tc>
                  <a:txBody>
                    <a:bodyPr/>
                    <a:lstStyle/>
                    <a:p>
                      <a:r>
                        <a:rPr kumimoji="1" lang="en-US" altLang="ja-JP" sz="1200" dirty="0"/>
                        <a:t>1.66</a:t>
                      </a:r>
                      <a:endParaRPr kumimoji="1" lang="ja-JP" altLang="en-US" sz="1200"/>
                    </a:p>
                  </a:txBody>
                  <a:tcPr/>
                </a:tc>
                <a:tc>
                  <a:txBody>
                    <a:bodyPr/>
                    <a:lstStyle/>
                    <a:p>
                      <a:r>
                        <a:rPr kumimoji="1" lang="en-US" altLang="ja-JP" sz="1200" dirty="0"/>
                        <a:t>2,873,776</a:t>
                      </a:r>
                      <a:endParaRPr kumimoji="1" lang="ja-JP" altLang="en-US" sz="1200"/>
                    </a:p>
                  </a:txBody>
                  <a:tcPr/>
                </a:tc>
                <a:extLst>
                  <a:ext uri="{0D108BD9-81ED-4DB2-BD59-A6C34878D82A}">
                    <a16:rowId xmlns:a16="http://schemas.microsoft.com/office/drawing/2014/main" val="2179069604"/>
                  </a:ext>
                </a:extLst>
              </a:tr>
              <a:tr h="0">
                <a:tc>
                  <a:txBody>
                    <a:bodyPr/>
                    <a:lstStyle/>
                    <a:p>
                      <a:r>
                        <a:rPr kumimoji="1" lang="ja-JP" altLang="en-US" sz="1200"/>
                        <a:t>世帯資産</a:t>
                      </a:r>
                      <a:r>
                        <a:rPr kumimoji="1" lang="en-US" altLang="ja-JP" sz="1200" dirty="0"/>
                        <a:t>10</a:t>
                      </a:r>
                      <a:r>
                        <a:rPr kumimoji="1" lang="ja-JP" altLang="en-US" sz="1200"/>
                        <a:t>万円未満</a:t>
                      </a:r>
                    </a:p>
                  </a:txBody>
                  <a:tcPr/>
                </a:tc>
                <a:tc>
                  <a:txBody>
                    <a:bodyPr/>
                    <a:lstStyle/>
                    <a:p>
                      <a:r>
                        <a:rPr kumimoji="1" lang="ja-JP" altLang="en-US" sz="1200"/>
                        <a:t>世帯資産が低いまたは高い場合に高クリックが期待。少額で一発を当てるドリーム志向や年末イベント感。</a:t>
                      </a:r>
                    </a:p>
                  </a:txBody>
                  <a:tcPr/>
                </a:tc>
                <a:tc>
                  <a:txBody>
                    <a:bodyPr/>
                    <a:lstStyle/>
                    <a:p>
                      <a:r>
                        <a:rPr kumimoji="1" lang="en-US" altLang="ja-JP" sz="1200" dirty="0"/>
                        <a:t>1.54</a:t>
                      </a:r>
                      <a:endParaRPr kumimoji="1" lang="ja-JP" altLang="en-US" sz="1200"/>
                    </a:p>
                  </a:txBody>
                  <a:tcPr/>
                </a:tc>
                <a:tc>
                  <a:txBody>
                    <a:bodyPr/>
                    <a:lstStyle/>
                    <a:p>
                      <a:r>
                        <a:rPr kumimoji="1" lang="en-US" altLang="ja-JP" sz="1200" dirty="0"/>
                        <a:t>4,309,753</a:t>
                      </a:r>
                      <a:endParaRPr kumimoji="1" lang="ja-JP" altLang="en-US" sz="1200"/>
                    </a:p>
                  </a:txBody>
                  <a:tcPr/>
                </a:tc>
                <a:extLst>
                  <a:ext uri="{0D108BD9-81ED-4DB2-BD59-A6C34878D82A}">
                    <a16:rowId xmlns:a16="http://schemas.microsoft.com/office/drawing/2014/main" val="921852362"/>
                  </a:ext>
                </a:extLst>
              </a:tr>
              <a:tr h="0">
                <a:tc>
                  <a:txBody>
                    <a:bodyPr/>
                    <a:lstStyle/>
                    <a:p>
                      <a:r>
                        <a:rPr kumimoji="1" lang="ja-JP" altLang="en-US" sz="1200"/>
                        <a:t>ライフイベント引っ越し「なし」</a:t>
                      </a:r>
                    </a:p>
                  </a:txBody>
                  <a:tcPr/>
                </a:tc>
                <a:tc>
                  <a:txBody>
                    <a:bodyPr/>
                    <a:lstStyle/>
                    <a:p>
                      <a:r>
                        <a:rPr kumimoji="1" lang="ja-JP" altLang="en-US" sz="1200"/>
                        <a:t>ライフイベントが少ないことによる生活の安定化・固定化による娯楽のため。</a:t>
                      </a:r>
                    </a:p>
                  </a:txBody>
                  <a:tcPr/>
                </a:tc>
                <a:tc>
                  <a:txBody>
                    <a:bodyPr/>
                    <a:lstStyle/>
                    <a:p>
                      <a:r>
                        <a:rPr kumimoji="1" lang="en-US" altLang="ja-JP" sz="1200" dirty="0"/>
                        <a:t>1.47</a:t>
                      </a:r>
                      <a:endParaRPr kumimoji="1" lang="ja-JP" altLang="en-US" sz="1200"/>
                    </a:p>
                  </a:txBody>
                  <a:tcPr/>
                </a:tc>
                <a:tc>
                  <a:txBody>
                    <a:bodyPr/>
                    <a:lstStyle/>
                    <a:p>
                      <a:r>
                        <a:rPr kumimoji="1" lang="en-US" altLang="ja-JP" sz="1200" dirty="0"/>
                        <a:t>11,097,598</a:t>
                      </a:r>
                      <a:endParaRPr kumimoji="1" lang="ja-JP" altLang="en-US" sz="1200"/>
                    </a:p>
                  </a:txBody>
                  <a:tcPr/>
                </a:tc>
                <a:extLst>
                  <a:ext uri="{0D108BD9-81ED-4DB2-BD59-A6C34878D82A}">
                    <a16:rowId xmlns:a16="http://schemas.microsoft.com/office/drawing/2014/main" val="3273694527"/>
                  </a:ext>
                </a:extLst>
              </a:tr>
              <a:tr h="2325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ライフイベント転職「なし」</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ライフイベントが少ないことによる生活の安定化・固定化による娯楽のため。</a:t>
                      </a:r>
                    </a:p>
                  </a:txBody>
                  <a:tcPr/>
                </a:tc>
                <a:tc>
                  <a:txBody>
                    <a:bodyPr/>
                    <a:lstStyle/>
                    <a:p>
                      <a:r>
                        <a:rPr kumimoji="1" lang="en-US" altLang="ja-JP" sz="1200" dirty="0"/>
                        <a:t>1.46</a:t>
                      </a:r>
                      <a:endParaRPr kumimoji="1" lang="ja-JP" altLang="en-US" sz="1200"/>
                    </a:p>
                  </a:txBody>
                  <a:tcPr/>
                </a:tc>
                <a:tc>
                  <a:txBody>
                    <a:bodyPr/>
                    <a:lstStyle/>
                    <a:p>
                      <a:r>
                        <a:rPr kumimoji="1" lang="en-US" altLang="ja-JP" sz="1200" dirty="0"/>
                        <a:t>12,860,398</a:t>
                      </a:r>
                      <a:endParaRPr kumimoji="1" lang="ja-JP" altLang="en-US" sz="1200"/>
                    </a:p>
                  </a:txBody>
                  <a:tcPr/>
                </a:tc>
                <a:extLst>
                  <a:ext uri="{0D108BD9-81ED-4DB2-BD59-A6C34878D82A}">
                    <a16:rowId xmlns:a16="http://schemas.microsoft.com/office/drawing/2014/main" val="3926142567"/>
                  </a:ext>
                </a:extLst>
              </a:tr>
              <a:tr h="2325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世帯年間収入</a:t>
                      </a:r>
                      <a:r>
                        <a:rPr kumimoji="1" lang="en-US" altLang="ja-JP" sz="1200" dirty="0"/>
                        <a:t>400</a:t>
                      </a:r>
                      <a:r>
                        <a:rPr kumimoji="1" lang="ja-JP" altLang="en-US" sz="1200"/>
                        <a:t>万円以上</a:t>
                      </a:r>
                      <a:r>
                        <a:rPr kumimoji="1" lang="en-US" altLang="ja-JP" sz="1200" dirty="0"/>
                        <a:t>1000</a:t>
                      </a:r>
                      <a:r>
                        <a:rPr kumimoji="1" lang="ja-JP" altLang="en-US" sz="1200"/>
                        <a:t>万円未満</a:t>
                      </a:r>
                    </a:p>
                  </a:txBody>
                  <a:tcPr/>
                </a:tc>
                <a:tc>
                  <a:txBody>
                    <a:bodyPr/>
                    <a:lstStyle/>
                    <a:p>
                      <a:r>
                        <a:rPr kumimoji="1" lang="ja-JP" altLang="en-US" sz="1200"/>
                        <a:t>世帯年間収入が低いほど高クリックが期待。中以上は興味は限定的。</a:t>
                      </a:r>
                    </a:p>
                  </a:txBody>
                  <a:tcPr/>
                </a:tc>
                <a:tc>
                  <a:txBody>
                    <a:bodyPr/>
                    <a:lstStyle/>
                    <a:p>
                      <a:r>
                        <a:rPr kumimoji="1" lang="en-US" altLang="ja-JP" sz="1200" dirty="0"/>
                        <a:t>1.27</a:t>
                      </a:r>
                      <a:endParaRPr kumimoji="1" lang="ja-JP" altLang="en-US" sz="1200"/>
                    </a:p>
                  </a:txBody>
                  <a:tcPr/>
                </a:tc>
                <a:tc>
                  <a:txBody>
                    <a:bodyPr/>
                    <a:lstStyle/>
                    <a:p>
                      <a:r>
                        <a:rPr kumimoji="1" lang="en-US" altLang="ja-JP" sz="1200" dirty="0"/>
                        <a:t>4,606,091</a:t>
                      </a:r>
                      <a:endParaRPr kumimoji="1" lang="ja-JP" altLang="en-US" sz="1200"/>
                    </a:p>
                  </a:txBody>
                  <a:tcPr/>
                </a:tc>
                <a:extLst>
                  <a:ext uri="{0D108BD9-81ED-4DB2-BD59-A6C34878D82A}">
                    <a16:rowId xmlns:a16="http://schemas.microsoft.com/office/drawing/2014/main" val="1255000166"/>
                  </a:ext>
                </a:extLst>
              </a:tr>
            </a:tbl>
          </a:graphicData>
        </a:graphic>
      </p:graphicFrame>
      <p:sp>
        <p:nvSpPr>
          <p:cNvPr id="9" name="TextBox 3">
            <a:extLst>
              <a:ext uri="{FF2B5EF4-FFF2-40B4-BE49-F238E27FC236}">
                <a16:creationId xmlns:a16="http://schemas.microsoft.com/office/drawing/2014/main" id="{F2A077DF-1382-486F-980E-A0FBD32F2069}"/>
              </a:ext>
            </a:extLst>
          </p:cNvPr>
          <p:cNvSpPr txBox="1"/>
          <p:nvPr/>
        </p:nvSpPr>
        <p:spPr>
          <a:xfrm>
            <a:off x="628212" y="6275873"/>
            <a:ext cx="10906224" cy="307777"/>
          </a:xfrm>
          <a:prstGeom prst="rect">
            <a:avLst/>
          </a:prstGeom>
          <a:noFill/>
        </p:spPr>
        <p:txBody>
          <a:bodyPr wrap="square" rtlCol="0">
            <a:spAutoFit/>
          </a:bodyPr>
          <a:lstStyle/>
          <a:p>
            <a:pPr>
              <a:spcAft>
                <a:spcPts val="600"/>
              </a:spcAft>
            </a:pPr>
            <a:r>
              <a:rPr kumimoji="1" lang="ja-JP" altLang="en-US" sz="1400" b="1">
                <a:solidFill>
                  <a:srgbClr val="C00000"/>
                </a:solidFill>
              </a:rPr>
              <a:t>★</a:t>
            </a:r>
            <a:r>
              <a:rPr kumimoji="1" lang="en-US" altLang="ja-JP" sz="1400" b="1" dirty="0">
                <a:solidFill>
                  <a:srgbClr val="C00000"/>
                </a:solidFill>
              </a:rPr>
              <a:t> 200</a:t>
            </a:r>
            <a:r>
              <a:rPr kumimoji="1" lang="ja-JP" altLang="en-US" sz="1400" b="1">
                <a:solidFill>
                  <a:srgbClr val="C00000"/>
                </a:solidFill>
              </a:rPr>
              <a:t>万インプレッションを目標とする場合の注目セグメントの例</a:t>
            </a:r>
            <a:r>
              <a:rPr kumimoji="1" lang="en-US" altLang="ja-JP" sz="1400" b="1" dirty="0">
                <a:solidFill>
                  <a:srgbClr val="C00000"/>
                </a:solidFill>
              </a:rPr>
              <a:t>: </a:t>
            </a:r>
            <a:r>
              <a:rPr kumimoji="1" lang="ja-JP" altLang="en-US" sz="1400" b="1">
                <a:solidFill>
                  <a:srgbClr val="C00000"/>
                </a:solidFill>
              </a:rPr>
              <a:t>年齢、年収、資産、退職フラグを複合的に組み合わせる案</a:t>
            </a:r>
            <a:endParaRPr kumimoji="1" lang="ja-JP" altLang="en-US" sz="1200">
              <a:solidFill>
                <a:srgbClr val="C00000"/>
              </a:solidFill>
            </a:endParaRPr>
          </a:p>
        </p:txBody>
      </p:sp>
      <p:sp>
        <p:nvSpPr>
          <p:cNvPr id="10" name="TextBox 3">
            <a:extLst>
              <a:ext uri="{FF2B5EF4-FFF2-40B4-BE49-F238E27FC236}">
                <a16:creationId xmlns:a16="http://schemas.microsoft.com/office/drawing/2014/main" id="{0A77E602-C746-E3FF-9D4A-802DD6BB69C5}"/>
              </a:ext>
            </a:extLst>
          </p:cNvPr>
          <p:cNvSpPr txBox="1"/>
          <p:nvPr/>
        </p:nvSpPr>
        <p:spPr>
          <a:xfrm>
            <a:off x="11540261" y="3806814"/>
            <a:ext cx="372579" cy="307777"/>
          </a:xfrm>
          <a:prstGeom prst="rect">
            <a:avLst/>
          </a:prstGeom>
          <a:noFill/>
        </p:spPr>
        <p:txBody>
          <a:bodyPr wrap="square" rtlCol="0">
            <a:spAutoFit/>
          </a:bodyPr>
          <a:lstStyle/>
          <a:p>
            <a:pPr>
              <a:spcAft>
                <a:spcPts val="600"/>
              </a:spcAft>
            </a:pPr>
            <a:r>
              <a:rPr kumimoji="1" lang="ja-JP" altLang="en-US" sz="1400" b="1">
                <a:solidFill>
                  <a:srgbClr val="C00000"/>
                </a:solidFill>
              </a:rPr>
              <a:t>★</a:t>
            </a:r>
            <a:endParaRPr kumimoji="1" lang="ja-JP" altLang="en-US" sz="1200">
              <a:solidFill>
                <a:srgbClr val="C00000"/>
              </a:solidFill>
            </a:endParaRPr>
          </a:p>
        </p:txBody>
      </p:sp>
      <p:sp>
        <p:nvSpPr>
          <p:cNvPr id="12" name="Text Placeholder 6">
            <a:extLst>
              <a:ext uri="{FF2B5EF4-FFF2-40B4-BE49-F238E27FC236}">
                <a16:creationId xmlns:a16="http://schemas.microsoft.com/office/drawing/2014/main" id="{1025E14E-084C-D4E2-44E1-99098E5251E2}"/>
              </a:ext>
            </a:extLst>
          </p:cNvPr>
          <p:cNvSpPr txBox="1">
            <a:spLocks/>
          </p:cNvSpPr>
          <p:nvPr/>
        </p:nvSpPr>
        <p:spPr>
          <a:xfrm>
            <a:off x="-32299" y="6379"/>
            <a:ext cx="1307801" cy="231861"/>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kumimoji="1" sz="2400" b="1" kern="1200">
                <a:solidFill>
                  <a:srgbClr val="030C40"/>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kumimoji="1"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200" dirty="0"/>
              <a:t>【</a:t>
            </a:r>
            <a:r>
              <a:rPr lang="ja-JP" altLang="en-US" sz="1200"/>
              <a:t>結果</a:t>
            </a:r>
            <a:r>
              <a:rPr lang="en-US" altLang="ja-JP" sz="1200" dirty="0"/>
              <a:t>】</a:t>
            </a:r>
            <a:endParaRPr lang="ja-JP" altLang="en-US" sz="1200"/>
          </a:p>
        </p:txBody>
      </p:sp>
      <p:sp>
        <p:nvSpPr>
          <p:cNvPr id="14" name="TextBox 3">
            <a:extLst>
              <a:ext uri="{FF2B5EF4-FFF2-40B4-BE49-F238E27FC236}">
                <a16:creationId xmlns:a16="http://schemas.microsoft.com/office/drawing/2014/main" id="{F0D7DE2F-55A5-148A-4574-DF0164908879}"/>
              </a:ext>
            </a:extLst>
          </p:cNvPr>
          <p:cNvSpPr txBox="1"/>
          <p:nvPr/>
        </p:nvSpPr>
        <p:spPr>
          <a:xfrm>
            <a:off x="11540260" y="4078581"/>
            <a:ext cx="372579" cy="307777"/>
          </a:xfrm>
          <a:prstGeom prst="rect">
            <a:avLst/>
          </a:prstGeom>
          <a:noFill/>
        </p:spPr>
        <p:txBody>
          <a:bodyPr wrap="square" rtlCol="0">
            <a:spAutoFit/>
          </a:bodyPr>
          <a:lstStyle/>
          <a:p>
            <a:pPr>
              <a:spcAft>
                <a:spcPts val="600"/>
              </a:spcAft>
            </a:pPr>
            <a:r>
              <a:rPr kumimoji="1" lang="ja-JP" altLang="en-US" sz="1400" b="1">
                <a:solidFill>
                  <a:srgbClr val="C00000"/>
                </a:solidFill>
              </a:rPr>
              <a:t>★</a:t>
            </a:r>
            <a:endParaRPr kumimoji="1" lang="ja-JP" altLang="en-US" sz="1200">
              <a:solidFill>
                <a:srgbClr val="C00000"/>
              </a:solidFill>
            </a:endParaRPr>
          </a:p>
        </p:txBody>
      </p:sp>
      <p:sp>
        <p:nvSpPr>
          <p:cNvPr id="15" name="TextBox 3">
            <a:extLst>
              <a:ext uri="{FF2B5EF4-FFF2-40B4-BE49-F238E27FC236}">
                <a16:creationId xmlns:a16="http://schemas.microsoft.com/office/drawing/2014/main" id="{1ED4D846-A76D-5662-DC22-F9065E872FEC}"/>
              </a:ext>
            </a:extLst>
          </p:cNvPr>
          <p:cNvSpPr txBox="1"/>
          <p:nvPr/>
        </p:nvSpPr>
        <p:spPr>
          <a:xfrm>
            <a:off x="11540259" y="4356910"/>
            <a:ext cx="372579" cy="307777"/>
          </a:xfrm>
          <a:prstGeom prst="rect">
            <a:avLst/>
          </a:prstGeom>
          <a:noFill/>
        </p:spPr>
        <p:txBody>
          <a:bodyPr wrap="square" rtlCol="0">
            <a:spAutoFit/>
          </a:bodyPr>
          <a:lstStyle/>
          <a:p>
            <a:pPr>
              <a:spcAft>
                <a:spcPts val="600"/>
              </a:spcAft>
            </a:pPr>
            <a:r>
              <a:rPr kumimoji="1" lang="ja-JP" altLang="en-US" sz="1400" b="1">
                <a:solidFill>
                  <a:srgbClr val="C00000"/>
                </a:solidFill>
              </a:rPr>
              <a:t>★</a:t>
            </a:r>
            <a:endParaRPr kumimoji="1" lang="ja-JP" altLang="en-US" sz="1200">
              <a:solidFill>
                <a:srgbClr val="C00000"/>
              </a:solidFill>
            </a:endParaRPr>
          </a:p>
        </p:txBody>
      </p:sp>
      <p:sp>
        <p:nvSpPr>
          <p:cNvPr id="4" name="TextBox 3">
            <a:extLst>
              <a:ext uri="{FF2B5EF4-FFF2-40B4-BE49-F238E27FC236}">
                <a16:creationId xmlns:a16="http://schemas.microsoft.com/office/drawing/2014/main" id="{75A5A6A1-163B-5843-F1CC-6D434D52894E}"/>
              </a:ext>
            </a:extLst>
          </p:cNvPr>
          <p:cNvSpPr txBox="1"/>
          <p:nvPr/>
        </p:nvSpPr>
        <p:spPr>
          <a:xfrm>
            <a:off x="11535412" y="4972612"/>
            <a:ext cx="372579" cy="307777"/>
          </a:xfrm>
          <a:prstGeom prst="rect">
            <a:avLst/>
          </a:prstGeom>
          <a:noFill/>
        </p:spPr>
        <p:txBody>
          <a:bodyPr wrap="square" rtlCol="0">
            <a:spAutoFit/>
          </a:bodyPr>
          <a:lstStyle/>
          <a:p>
            <a:pPr>
              <a:spcAft>
                <a:spcPts val="600"/>
              </a:spcAft>
            </a:pPr>
            <a:r>
              <a:rPr kumimoji="1" lang="ja-JP" altLang="en-US" sz="1400" b="1">
                <a:solidFill>
                  <a:srgbClr val="C00000"/>
                </a:solidFill>
              </a:rPr>
              <a:t>★</a:t>
            </a:r>
            <a:endParaRPr kumimoji="1" lang="ja-JP" altLang="en-US" sz="1200">
              <a:solidFill>
                <a:srgbClr val="C00000"/>
              </a:solidFill>
            </a:endParaRPr>
          </a:p>
        </p:txBody>
      </p:sp>
    </p:spTree>
    <p:extLst>
      <p:ext uri="{BB962C8B-B14F-4D97-AF65-F5344CB8AC3E}">
        <p14:creationId xmlns:p14="http://schemas.microsoft.com/office/powerpoint/2010/main" val="21240091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F67BB-04BC-D8E0-30D2-9AF8D8C9A413}"/>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471FC903-C878-24CB-1640-B5F4CEB40ECE}"/>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471FC903-C878-24CB-1640-B5F4CEB40EC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37E7F9B1-06CD-499B-91C3-6038DD0843FC}"/>
              </a:ext>
            </a:extLst>
          </p:cNvPr>
          <p:cNvSpPr>
            <a:spLocks noGrp="1"/>
          </p:cNvSpPr>
          <p:nvPr>
            <p:ph type="body" sz="quarter" idx="10"/>
          </p:nvPr>
        </p:nvSpPr>
        <p:spPr>
          <a:xfrm>
            <a:off x="176399" y="171550"/>
            <a:ext cx="10604201" cy="669547"/>
          </a:xfrm>
        </p:spPr>
        <p:txBody>
          <a:bodyPr>
            <a:normAutofit fontScale="92500" lnSpcReduction="10000"/>
          </a:bodyPr>
          <a:lstStyle/>
          <a:p>
            <a:r>
              <a:rPr lang="ja-JP" altLang="en-US"/>
              <a:t>実量子計算機検証：従来コンピュータでのシミュレータおよび実量子計算機 </a:t>
            </a:r>
            <a:r>
              <a:rPr lang="en-US" altLang="ja-JP" dirty="0"/>
              <a:t>(D-Wave) </a:t>
            </a:r>
            <a:r>
              <a:rPr lang="ja-JP" altLang="en-US"/>
              <a:t>で得られた特徴量選択の比較</a:t>
            </a:r>
            <a:endParaRPr lang="ja-JP" altLang="en-US" dirty="0"/>
          </a:p>
        </p:txBody>
      </p:sp>
      <p:sp>
        <p:nvSpPr>
          <p:cNvPr id="3" name="Slide Number Placeholder 2">
            <a:extLst>
              <a:ext uri="{FF2B5EF4-FFF2-40B4-BE49-F238E27FC236}">
                <a16:creationId xmlns:a16="http://schemas.microsoft.com/office/drawing/2014/main" id="{AAA5168F-EFD8-42D8-F6BB-F99BFA455F05}"/>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2" name="テキスト ボックス 1">
            <a:extLst>
              <a:ext uri="{FF2B5EF4-FFF2-40B4-BE49-F238E27FC236}">
                <a16:creationId xmlns:a16="http://schemas.microsoft.com/office/drawing/2014/main" id="{1ED05223-B157-EAF3-BC53-CBC9F424AD08}"/>
              </a:ext>
            </a:extLst>
          </p:cNvPr>
          <p:cNvSpPr txBox="1"/>
          <p:nvPr/>
        </p:nvSpPr>
        <p:spPr>
          <a:xfrm>
            <a:off x="830766" y="2627997"/>
            <a:ext cx="5140187" cy="1077218"/>
          </a:xfrm>
          <a:prstGeom prst="rect">
            <a:avLst/>
          </a:prstGeom>
          <a:noFill/>
        </p:spPr>
        <p:txBody>
          <a:bodyPr wrap="square" rtlCol="0">
            <a:spAutoFit/>
          </a:bodyPr>
          <a:lstStyle/>
          <a:p>
            <a:r>
              <a:rPr kumimoji="1" lang="ja-JP" altLang="en-US" sz="1600" b="1"/>
              <a:t>■</a:t>
            </a:r>
            <a:r>
              <a:rPr kumimoji="1" lang="en-US" altLang="ja-JP" sz="1600" b="1" dirty="0"/>
              <a:t> </a:t>
            </a:r>
            <a:r>
              <a:rPr kumimoji="1" lang="ja-JP" altLang="en-US" sz="1600" b="1"/>
              <a:t>シミュレータ（古典</a:t>
            </a:r>
            <a:r>
              <a:rPr kumimoji="1" lang="en-US" altLang="ja-JP" sz="1600" b="1" dirty="0"/>
              <a:t>PC</a:t>
            </a:r>
            <a:r>
              <a:rPr kumimoji="1" lang="ja-JP" altLang="en-US" sz="1600" b="1"/>
              <a:t>ワークステーション）</a:t>
            </a:r>
            <a:endParaRPr kumimoji="1" lang="en-US" altLang="ja-JP" sz="1600" b="1" dirty="0"/>
          </a:p>
          <a:p>
            <a:r>
              <a:rPr kumimoji="1" lang="ja-JP" altLang="en-US" sz="1600"/>
              <a:t>エネルギー</a:t>
            </a:r>
            <a:r>
              <a:rPr kumimoji="1" lang="en-US" altLang="ja-JP" sz="1600" dirty="0"/>
              <a:t>: -1.2412</a:t>
            </a:r>
          </a:p>
          <a:p>
            <a:r>
              <a:rPr kumimoji="1" lang="ja-JP" altLang="en-US" sz="1600"/>
              <a:t>選択特徴量数</a:t>
            </a:r>
            <a:r>
              <a:rPr kumimoji="1" lang="en-US" altLang="ja-JP" sz="1600" dirty="0"/>
              <a:t>: 13</a:t>
            </a:r>
          </a:p>
          <a:p>
            <a:r>
              <a:rPr kumimoji="1" lang="ja-JP" altLang="en-US" sz="1600"/>
              <a:t>選択特徴量</a:t>
            </a:r>
            <a:r>
              <a:rPr kumimoji="1" lang="en-US" altLang="ja-JP" sz="1600" dirty="0"/>
              <a:t>:</a:t>
            </a:r>
          </a:p>
        </p:txBody>
      </p:sp>
      <p:sp>
        <p:nvSpPr>
          <p:cNvPr id="5" name="テキスト ボックス 4">
            <a:extLst>
              <a:ext uri="{FF2B5EF4-FFF2-40B4-BE49-F238E27FC236}">
                <a16:creationId xmlns:a16="http://schemas.microsoft.com/office/drawing/2014/main" id="{FDA8B5B7-DFBA-6362-BE94-BE86DD25B7D1}"/>
              </a:ext>
            </a:extLst>
          </p:cNvPr>
          <p:cNvSpPr txBox="1"/>
          <p:nvPr/>
        </p:nvSpPr>
        <p:spPr>
          <a:xfrm>
            <a:off x="6578983" y="2627997"/>
            <a:ext cx="5140187" cy="1077218"/>
          </a:xfrm>
          <a:prstGeom prst="rect">
            <a:avLst/>
          </a:prstGeom>
          <a:noFill/>
        </p:spPr>
        <p:txBody>
          <a:bodyPr wrap="square" rtlCol="0">
            <a:spAutoFit/>
          </a:bodyPr>
          <a:lstStyle/>
          <a:p>
            <a:r>
              <a:rPr kumimoji="1" lang="ja-JP" altLang="en-US" sz="1600" b="1"/>
              <a:t>■</a:t>
            </a:r>
            <a:r>
              <a:rPr kumimoji="1" lang="en-US" altLang="ja-JP" sz="1600" b="1" dirty="0"/>
              <a:t> </a:t>
            </a:r>
            <a:r>
              <a:rPr kumimoji="1" lang="ja-JP" altLang="en-US" sz="1600" b="1"/>
              <a:t>量子アニーリング実機（</a:t>
            </a:r>
            <a:r>
              <a:rPr kumimoji="1" lang="en-US" altLang="ja-JP" sz="1600" b="1" dirty="0"/>
              <a:t>D-Wave</a:t>
            </a:r>
            <a:r>
              <a:rPr kumimoji="1" lang="ja-JP" altLang="en-US" sz="1600" b="1"/>
              <a:t>）</a:t>
            </a:r>
            <a:endParaRPr kumimoji="1" lang="en-US" altLang="ja-JP" sz="1600" b="1" dirty="0"/>
          </a:p>
          <a:p>
            <a:r>
              <a:rPr kumimoji="1" lang="ja-JP" altLang="en-US" sz="1600"/>
              <a:t>エネルギー</a:t>
            </a:r>
            <a:r>
              <a:rPr kumimoji="1" lang="en-US" altLang="ja-JP" sz="1600" dirty="0"/>
              <a:t>: -1.2353</a:t>
            </a:r>
          </a:p>
          <a:p>
            <a:r>
              <a:rPr kumimoji="1" lang="ja-JP" altLang="en-US" sz="1600"/>
              <a:t>選択特徴量数</a:t>
            </a:r>
            <a:r>
              <a:rPr kumimoji="1" lang="en-US" altLang="ja-JP" sz="1600" dirty="0"/>
              <a:t>: 15</a:t>
            </a:r>
          </a:p>
          <a:p>
            <a:r>
              <a:rPr kumimoji="1" lang="ja-JP" altLang="en-US" sz="1600"/>
              <a:t>選択特徴量</a:t>
            </a:r>
            <a:r>
              <a:rPr kumimoji="1" lang="en-US" altLang="ja-JP" sz="1600" dirty="0"/>
              <a:t>:</a:t>
            </a:r>
          </a:p>
        </p:txBody>
      </p:sp>
      <p:sp>
        <p:nvSpPr>
          <p:cNvPr id="6" name="テキスト ボックス 5">
            <a:extLst>
              <a:ext uri="{FF2B5EF4-FFF2-40B4-BE49-F238E27FC236}">
                <a16:creationId xmlns:a16="http://schemas.microsoft.com/office/drawing/2014/main" id="{EFC24081-0F97-5608-32BA-842CC77F20BF}"/>
              </a:ext>
            </a:extLst>
          </p:cNvPr>
          <p:cNvSpPr txBox="1"/>
          <p:nvPr/>
        </p:nvSpPr>
        <p:spPr>
          <a:xfrm>
            <a:off x="830766" y="3629504"/>
            <a:ext cx="2291008" cy="2062103"/>
          </a:xfrm>
          <a:prstGeom prst="rect">
            <a:avLst/>
          </a:prstGeom>
          <a:noFill/>
        </p:spPr>
        <p:txBody>
          <a:bodyPr wrap="square" numCol="1" rtlCol="0">
            <a:spAutoFit/>
          </a:bodyPr>
          <a:lstStyle/>
          <a:p>
            <a:pPr marL="285750" indent="-285750">
              <a:buFont typeface="Arial" panose="020B0604020202020204" pitchFamily="34" charset="0"/>
              <a:buChar char="•"/>
            </a:pPr>
            <a:r>
              <a:rPr kumimoji="1" lang="ja-JP" altLang="en-US" sz="1600">
                <a:solidFill>
                  <a:srgbClr val="C00000"/>
                </a:solidFill>
              </a:rPr>
              <a:t>電気代引落額</a:t>
            </a:r>
          </a:p>
          <a:p>
            <a:pPr marL="285750" indent="-285750">
              <a:buFont typeface="Arial" panose="020B0604020202020204" pitchFamily="34" charset="0"/>
              <a:buChar char="•"/>
            </a:pPr>
            <a:r>
              <a:rPr kumimoji="1" lang="ja-JP" altLang="en-US" sz="1600">
                <a:solidFill>
                  <a:srgbClr val="C00000"/>
                </a:solidFill>
              </a:rPr>
              <a:t>新卒社会人</a:t>
            </a:r>
          </a:p>
          <a:p>
            <a:pPr marL="285750" indent="-285750">
              <a:buFont typeface="Arial" panose="020B0604020202020204" pitchFamily="34" charset="0"/>
              <a:buChar char="•"/>
            </a:pPr>
            <a:r>
              <a:rPr kumimoji="1" lang="ja-JP" altLang="en-US" sz="1600">
                <a:solidFill>
                  <a:srgbClr val="C00000"/>
                </a:solidFill>
              </a:rPr>
              <a:t>子ども大学卒業</a:t>
            </a:r>
          </a:p>
          <a:p>
            <a:pPr marL="285750" indent="-285750">
              <a:buFont typeface="Arial" panose="020B0604020202020204" pitchFamily="34" charset="0"/>
              <a:buChar char="•"/>
            </a:pPr>
            <a:r>
              <a:rPr kumimoji="1" lang="ja-JP" altLang="en-US" sz="1600">
                <a:solidFill>
                  <a:srgbClr val="C00000"/>
                </a:solidFill>
              </a:rPr>
              <a:t>出産</a:t>
            </a:r>
          </a:p>
          <a:p>
            <a:pPr marL="285750" indent="-285750">
              <a:buFont typeface="Arial" panose="020B0604020202020204" pitchFamily="34" charset="0"/>
              <a:buChar char="•"/>
            </a:pPr>
            <a:r>
              <a:rPr kumimoji="1" lang="ja-JP" altLang="en-US" sz="1600">
                <a:solidFill>
                  <a:srgbClr val="C00000"/>
                </a:solidFill>
              </a:rPr>
              <a:t>就職</a:t>
            </a:r>
          </a:p>
          <a:p>
            <a:pPr marL="285750" indent="-285750">
              <a:buFont typeface="Arial" panose="020B0604020202020204" pitchFamily="34" charset="0"/>
              <a:buChar char="•"/>
            </a:pPr>
            <a:r>
              <a:rPr kumimoji="1" lang="ja-JP" altLang="en-US" sz="1600">
                <a:solidFill>
                  <a:srgbClr val="C00000"/>
                </a:solidFill>
              </a:rPr>
              <a:t>旅行</a:t>
            </a:r>
          </a:p>
          <a:p>
            <a:pPr marL="285750" indent="-285750">
              <a:buFont typeface="Arial" panose="020B0604020202020204" pitchFamily="34" charset="0"/>
              <a:buChar char="•"/>
            </a:pPr>
            <a:r>
              <a:rPr kumimoji="1" lang="ja-JP" altLang="en-US" sz="1600"/>
              <a:t>ガス代引落額</a:t>
            </a:r>
          </a:p>
          <a:p>
            <a:pPr marL="285750" indent="-285750">
              <a:buFont typeface="Arial" panose="020B0604020202020204" pitchFamily="34" charset="0"/>
              <a:buChar char="•"/>
            </a:pPr>
            <a:r>
              <a:rPr kumimoji="1" lang="ja-JP" altLang="en-US" sz="1600">
                <a:solidFill>
                  <a:srgbClr val="C00000"/>
                </a:solidFill>
              </a:rPr>
              <a:t>居住地</a:t>
            </a:r>
            <a:r>
              <a:rPr kumimoji="1" lang="en-US" altLang="ja-JP" sz="1600" dirty="0">
                <a:solidFill>
                  <a:srgbClr val="C00000"/>
                </a:solidFill>
              </a:rPr>
              <a:t>(</a:t>
            </a:r>
            <a:r>
              <a:rPr kumimoji="1" lang="ja-JP" altLang="en-US" sz="1600">
                <a:solidFill>
                  <a:srgbClr val="C00000"/>
                </a:solidFill>
              </a:rPr>
              <a:t>県</a:t>
            </a:r>
            <a:r>
              <a:rPr kumimoji="1" lang="en-US" altLang="ja-JP" sz="1600" dirty="0">
                <a:solidFill>
                  <a:srgbClr val="C00000"/>
                </a:solidFill>
              </a:rPr>
              <a:t>)</a:t>
            </a:r>
            <a:endParaRPr kumimoji="1" lang="ja-JP" altLang="en-US" sz="1600" dirty="0" err="1"/>
          </a:p>
        </p:txBody>
      </p:sp>
      <p:sp>
        <p:nvSpPr>
          <p:cNvPr id="8" name="テキスト ボックス 7">
            <a:extLst>
              <a:ext uri="{FF2B5EF4-FFF2-40B4-BE49-F238E27FC236}">
                <a16:creationId xmlns:a16="http://schemas.microsoft.com/office/drawing/2014/main" id="{ED087B44-A322-69A1-3F14-1D9FE36F2A6C}"/>
              </a:ext>
            </a:extLst>
          </p:cNvPr>
          <p:cNvSpPr txBox="1"/>
          <p:nvPr/>
        </p:nvSpPr>
        <p:spPr>
          <a:xfrm>
            <a:off x="6578982" y="3629505"/>
            <a:ext cx="2491246" cy="2062103"/>
          </a:xfrm>
          <a:prstGeom prst="rect">
            <a:avLst/>
          </a:prstGeom>
          <a:noFill/>
        </p:spPr>
        <p:txBody>
          <a:bodyPr wrap="square" numCol="1" rtlCol="0">
            <a:spAutoFit/>
          </a:bodyPr>
          <a:lstStyle/>
          <a:p>
            <a:pPr marL="285750" indent="-285750">
              <a:buFont typeface="Arial" panose="020B0604020202020204" pitchFamily="34" charset="0"/>
              <a:buChar char="•"/>
            </a:pPr>
            <a:r>
              <a:rPr kumimoji="1" lang="ja-JP" altLang="en-US" sz="1600">
                <a:solidFill>
                  <a:srgbClr val="C00000"/>
                </a:solidFill>
              </a:rPr>
              <a:t>電気代引落額</a:t>
            </a:r>
          </a:p>
          <a:p>
            <a:pPr marL="285750" indent="-285750">
              <a:buFont typeface="Arial" panose="020B0604020202020204" pitchFamily="34" charset="0"/>
              <a:buChar char="•"/>
            </a:pPr>
            <a:r>
              <a:rPr kumimoji="1" lang="ja-JP" altLang="en-US" sz="1600">
                <a:solidFill>
                  <a:srgbClr val="C00000"/>
                </a:solidFill>
              </a:rPr>
              <a:t>新卒社会人</a:t>
            </a:r>
          </a:p>
          <a:p>
            <a:pPr marL="285750" indent="-285750">
              <a:buFont typeface="Arial" panose="020B0604020202020204" pitchFamily="34" charset="0"/>
              <a:buChar char="•"/>
            </a:pPr>
            <a:r>
              <a:rPr kumimoji="1" lang="ja-JP" altLang="en-US" sz="1600">
                <a:solidFill>
                  <a:srgbClr val="C00000"/>
                </a:solidFill>
              </a:rPr>
              <a:t>子ども大学卒業</a:t>
            </a:r>
          </a:p>
          <a:p>
            <a:pPr marL="285750" indent="-285750">
              <a:buFont typeface="Arial" panose="020B0604020202020204" pitchFamily="34" charset="0"/>
              <a:buChar char="•"/>
            </a:pPr>
            <a:r>
              <a:rPr kumimoji="1" lang="ja-JP" altLang="en-US" sz="1600">
                <a:solidFill>
                  <a:srgbClr val="C00000"/>
                </a:solidFill>
              </a:rPr>
              <a:t>出産</a:t>
            </a:r>
          </a:p>
          <a:p>
            <a:pPr marL="285750" indent="-285750">
              <a:buFont typeface="Arial" panose="020B0604020202020204" pitchFamily="34" charset="0"/>
              <a:buChar char="•"/>
            </a:pPr>
            <a:r>
              <a:rPr kumimoji="1" lang="ja-JP" altLang="en-US" sz="1600">
                <a:solidFill>
                  <a:srgbClr val="C00000"/>
                </a:solidFill>
              </a:rPr>
              <a:t>就職</a:t>
            </a:r>
          </a:p>
          <a:p>
            <a:pPr marL="285750" indent="-285750">
              <a:buFont typeface="Arial" panose="020B0604020202020204" pitchFamily="34" charset="0"/>
              <a:buChar char="•"/>
            </a:pPr>
            <a:r>
              <a:rPr kumimoji="1" lang="ja-JP" altLang="en-US" sz="1600">
                <a:solidFill>
                  <a:srgbClr val="C00000"/>
                </a:solidFill>
              </a:rPr>
              <a:t>旅行</a:t>
            </a:r>
          </a:p>
          <a:p>
            <a:pPr marL="285750" indent="-285750">
              <a:buFont typeface="Arial" panose="020B0604020202020204" pitchFamily="34" charset="0"/>
              <a:buChar char="•"/>
            </a:pPr>
            <a:r>
              <a:rPr kumimoji="1" lang="ja-JP" altLang="en-US" sz="1600">
                <a:solidFill>
                  <a:srgbClr val="C00000"/>
                </a:solidFill>
              </a:rPr>
              <a:t>居住地</a:t>
            </a:r>
            <a:r>
              <a:rPr kumimoji="1" lang="en-US" altLang="ja-JP" sz="1600" dirty="0">
                <a:solidFill>
                  <a:srgbClr val="C00000"/>
                </a:solidFill>
              </a:rPr>
              <a:t>(</a:t>
            </a:r>
            <a:r>
              <a:rPr kumimoji="1" lang="ja-JP" altLang="en-US" sz="1600">
                <a:solidFill>
                  <a:srgbClr val="C00000"/>
                </a:solidFill>
              </a:rPr>
              <a:t>県</a:t>
            </a:r>
            <a:r>
              <a:rPr kumimoji="1" lang="en-US" altLang="ja-JP" sz="1600" dirty="0">
                <a:solidFill>
                  <a:srgbClr val="C00000"/>
                </a:solidFill>
              </a:rPr>
              <a:t>)</a:t>
            </a:r>
          </a:p>
          <a:p>
            <a:pPr marL="285750" indent="-285750">
              <a:buFont typeface="Arial" panose="020B0604020202020204" pitchFamily="34" charset="0"/>
              <a:buChar char="•"/>
            </a:pPr>
            <a:r>
              <a:rPr kumimoji="1" lang="ja-JP" altLang="en-US" sz="1600">
                <a:solidFill>
                  <a:srgbClr val="C00000"/>
                </a:solidFill>
              </a:rPr>
              <a:t>年齢</a:t>
            </a:r>
          </a:p>
        </p:txBody>
      </p:sp>
      <p:sp>
        <p:nvSpPr>
          <p:cNvPr id="9" name="テキスト ボックス 8">
            <a:extLst>
              <a:ext uri="{FF2B5EF4-FFF2-40B4-BE49-F238E27FC236}">
                <a16:creationId xmlns:a16="http://schemas.microsoft.com/office/drawing/2014/main" id="{CF741925-3F4F-BA08-2ACC-27895E7C7F17}"/>
              </a:ext>
            </a:extLst>
          </p:cNvPr>
          <p:cNvSpPr txBox="1"/>
          <p:nvPr/>
        </p:nvSpPr>
        <p:spPr>
          <a:xfrm>
            <a:off x="8533683" y="6056921"/>
            <a:ext cx="3185487" cy="369332"/>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kumimoji="1" lang="ja-JP" altLang="en-US" b="1">
                <a:solidFill>
                  <a:srgbClr val="C00000"/>
                </a:solidFill>
              </a:rPr>
              <a:t>赤字</a:t>
            </a:r>
            <a:r>
              <a:rPr kumimoji="1" lang="ja-JP" altLang="en-US"/>
              <a:t>は両者共通の選択特徴量</a:t>
            </a:r>
          </a:p>
        </p:txBody>
      </p:sp>
      <p:sp>
        <p:nvSpPr>
          <p:cNvPr id="10" name="テキスト ボックス 9">
            <a:extLst>
              <a:ext uri="{FF2B5EF4-FFF2-40B4-BE49-F238E27FC236}">
                <a16:creationId xmlns:a16="http://schemas.microsoft.com/office/drawing/2014/main" id="{BF9AC294-9955-92B2-D355-49B4AEF114C5}"/>
              </a:ext>
            </a:extLst>
          </p:cNvPr>
          <p:cNvSpPr txBox="1"/>
          <p:nvPr/>
        </p:nvSpPr>
        <p:spPr>
          <a:xfrm>
            <a:off x="885473" y="5766754"/>
            <a:ext cx="3086101" cy="830997"/>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kumimoji="1" lang="en-US" altLang="ja-JP" sz="1600" b="1" dirty="0">
                <a:solidFill>
                  <a:schemeClr val="tx1"/>
                </a:solidFill>
              </a:rPr>
              <a:t>13</a:t>
            </a:r>
            <a:r>
              <a:rPr kumimoji="1" lang="ja-JP" altLang="en-US" sz="1600" b="1">
                <a:solidFill>
                  <a:schemeClr val="tx1"/>
                </a:solidFill>
              </a:rPr>
              <a:t>個の特徴量が選択されたとき</a:t>
            </a:r>
            <a:endParaRPr kumimoji="1" lang="en-US" altLang="ja-JP" sz="1600" b="1" dirty="0">
              <a:solidFill>
                <a:schemeClr val="tx1"/>
              </a:solidFill>
            </a:endParaRPr>
          </a:p>
          <a:p>
            <a:r>
              <a:rPr kumimoji="1" lang="ja-JP" altLang="en-US" sz="1600" b="1">
                <a:solidFill>
                  <a:schemeClr val="tx1"/>
                </a:solidFill>
              </a:rPr>
              <a:t>に機械学習モデルの性能が最大</a:t>
            </a:r>
            <a:endParaRPr kumimoji="1" lang="en-US" altLang="ja-JP" sz="1600" b="1" dirty="0">
              <a:solidFill>
                <a:schemeClr val="tx1"/>
              </a:solidFill>
            </a:endParaRPr>
          </a:p>
          <a:p>
            <a:r>
              <a:rPr kumimoji="1" lang="ja-JP" altLang="en-US" sz="1600">
                <a:solidFill>
                  <a:schemeClr val="tx1"/>
                </a:solidFill>
              </a:rPr>
              <a:t>参照</a:t>
            </a:r>
            <a:r>
              <a:rPr kumimoji="1" lang="en-US" altLang="ja-JP" sz="1600" dirty="0">
                <a:solidFill>
                  <a:schemeClr val="tx1"/>
                </a:solidFill>
              </a:rPr>
              <a:t>: P12</a:t>
            </a:r>
            <a:endParaRPr kumimoji="1" lang="ja-JP" altLang="en-US" sz="1600">
              <a:solidFill>
                <a:schemeClr val="tx1"/>
              </a:solidFill>
            </a:endParaRPr>
          </a:p>
        </p:txBody>
      </p:sp>
      <p:sp>
        <p:nvSpPr>
          <p:cNvPr id="12" name="テキスト ボックス 11">
            <a:extLst>
              <a:ext uri="{FF2B5EF4-FFF2-40B4-BE49-F238E27FC236}">
                <a16:creationId xmlns:a16="http://schemas.microsoft.com/office/drawing/2014/main" id="{D02CFA7D-6040-647F-76DD-89B4A07720BD}"/>
              </a:ext>
            </a:extLst>
          </p:cNvPr>
          <p:cNvSpPr txBox="1"/>
          <p:nvPr/>
        </p:nvSpPr>
        <p:spPr>
          <a:xfrm>
            <a:off x="3322010" y="3629503"/>
            <a:ext cx="2291008" cy="1323439"/>
          </a:xfrm>
          <a:prstGeom prst="rect">
            <a:avLst/>
          </a:prstGeom>
          <a:noFill/>
        </p:spPr>
        <p:txBody>
          <a:bodyPr wrap="square" numCol="1" rtlCol="0">
            <a:spAutoFit/>
          </a:bodyPr>
          <a:lstStyle/>
          <a:p>
            <a:pPr marL="285750" indent="-285750">
              <a:buFont typeface="Arial" panose="020B0604020202020204" pitchFamily="34" charset="0"/>
              <a:buChar char="•"/>
            </a:pPr>
            <a:r>
              <a:rPr kumimoji="1" lang="ja-JP" altLang="en-US" sz="1600">
                <a:solidFill>
                  <a:srgbClr val="C00000"/>
                </a:solidFill>
              </a:rPr>
              <a:t>年齢</a:t>
            </a:r>
          </a:p>
          <a:p>
            <a:pPr marL="285750" indent="-285750">
              <a:buFont typeface="Arial" panose="020B0604020202020204" pitchFamily="34" charset="0"/>
              <a:buChar char="•"/>
            </a:pPr>
            <a:r>
              <a:rPr kumimoji="1" lang="ja-JP" altLang="en-US" sz="1600">
                <a:solidFill>
                  <a:srgbClr val="C00000"/>
                </a:solidFill>
              </a:rPr>
              <a:t>世帯の年間収入</a:t>
            </a:r>
          </a:p>
          <a:p>
            <a:pPr marL="285750" indent="-285750">
              <a:buFont typeface="Arial" panose="020B0604020202020204" pitchFamily="34" charset="0"/>
              <a:buChar char="•"/>
            </a:pPr>
            <a:r>
              <a:rPr kumimoji="1" lang="ja-JP" altLang="en-US" sz="1600">
                <a:solidFill>
                  <a:srgbClr val="C00000"/>
                </a:solidFill>
              </a:rPr>
              <a:t>性別</a:t>
            </a:r>
          </a:p>
          <a:p>
            <a:pPr marL="285750" indent="-285750">
              <a:buFont typeface="Arial" panose="020B0604020202020204" pitchFamily="34" charset="0"/>
              <a:buChar char="•"/>
            </a:pPr>
            <a:r>
              <a:rPr kumimoji="1" lang="ja-JP" altLang="en-US" sz="1600">
                <a:solidFill>
                  <a:srgbClr val="C00000"/>
                </a:solidFill>
              </a:rPr>
              <a:t>個人資産</a:t>
            </a:r>
          </a:p>
          <a:p>
            <a:pPr marL="285750" indent="-285750">
              <a:buFont typeface="Arial" panose="020B0604020202020204" pitchFamily="34" charset="0"/>
              <a:buChar char="•"/>
            </a:pPr>
            <a:r>
              <a:rPr kumimoji="1" lang="ja-JP" altLang="en-US" sz="1600">
                <a:solidFill>
                  <a:srgbClr val="C00000"/>
                </a:solidFill>
              </a:rPr>
              <a:t>電話代引落額</a:t>
            </a:r>
            <a:endParaRPr kumimoji="1" lang="ja-JP" altLang="en-US" sz="1600" dirty="0" err="1"/>
          </a:p>
        </p:txBody>
      </p:sp>
      <p:sp>
        <p:nvSpPr>
          <p:cNvPr id="14" name="テキスト ボックス 13">
            <a:extLst>
              <a:ext uri="{FF2B5EF4-FFF2-40B4-BE49-F238E27FC236}">
                <a16:creationId xmlns:a16="http://schemas.microsoft.com/office/drawing/2014/main" id="{62277343-E0FB-CA77-1CB3-F80584DA6B4F}"/>
              </a:ext>
            </a:extLst>
          </p:cNvPr>
          <p:cNvSpPr txBox="1"/>
          <p:nvPr/>
        </p:nvSpPr>
        <p:spPr>
          <a:xfrm>
            <a:off x="9149076" y="3629505"/>
            <a:ext cx="2491246" cy="1815882"/>
          </a:xfrm>
          <a:prstGeom prst="rect">
            <a:avLst/>
          </a:prstGeom>
          <a:noFill/>
        </p:spPr>
        <p:txBody>
          <a:bodyPr wrap="square" numCol="1" rtlCol="0">
            <a:spAutoFit/>
          </a:bodyPr>
          <a:lstStyle/>
          <a:p>
            <a:pPr marL="285750" indent="-285750">
              <a:buFont typeface="Arial" panose="020B0604020202020204" pitchFamily="34" charset="0"/>
              <a:buChar char="•"/>
            </a:pPr>
            <a:r>
              <a:rPr kumimoji="1" lang="ja-JP" altLang="en-US" sz="1600">
                <a:solidFill>
                  <a:srgbClr val="C00000"/>
                </a:solidFill>
              </a:rPr>
              <a:t>世帯の年間収入</a:t>
            </a:r>
          </a:p>
          <a:p>
            <a:pPr marL="285750" indent="-285750">
              <a:buFont typeface="Arial" panose="020B0604020202020204" pitchFamily="34" charset="0"/>
              <a:buChar char="•"/>
            </a:pPr>
            <a:r>
              <a:rPr kumimoji="1" lang="ja-JP" altLang="en-US" sz="1600">
                <a:solidFill>
                  <a:srgbClr val="C00000"/>
                </a:solidFill>
              </a:rPr>
              <a:t>性別</a:t>
            </a:r>
          </a:p>
          <a:p>
            <a:pPr marL="285750" indent="-285750">
              <a:buFont typeface="Arial" panose="020B0604020202020204" pitchFamily="34" charset="0"/>
              <a:buChar char="•"/>
            </a:pPr>
            <a:r>
              <a:rPr kumimoji="1" lang="ja-JP" altLang="en-US" sz="1600"/>
              <a:t>生命保険残高</a:t>
            </a:r>
          </a:p>
          <a:p>
            <a:pPr marL="285750" indent="-285750">
              <a:buFont typeface="Arial" panose="020B0604020202020204" pitchFamily="34" charset="0"/>
              <a:buChar char="•"/>
            </a:pPr>
            <a:r>
              <a:rPr kumimoji="1" lang="ja-JP" altLang="en-US" sz="1600">
                <a:solidFill>
                  <a:srgbClr val="C00000"/>
                </a:solidFill>
              </a:rPr>
              <a:t>個人資産</a:t>
            </a:r>
          </a:p>
          <a:p>
            <a:pPr marL="285750" indent="-285750">
              <a:buFont typeface="Arial" panose="020B0604020202020204" pitchFamily="34" charset="0"/>
              <a:buChar char="•"/>
            </a:pPr>
            <a:r>
              <a:rPr kumimoji="1" lang="ja-JP" altLang="en-US" sz="1600">
                <a:solidFill>
                  <a:srgbClr val="C00000"/>
                </a:solidFill>
              </a:rPr>
              <a:t>電話代引落額</a:t>
            </a:r>
          </a:p>
          <a:p>
            <a:pPr marL="285750" indent="-285750">
              <a:buFont typeface="Arial" panose="020B0604020202020204" pitchFamily="34" charset="0"/>
              <a:buChar char="•"/>
            </a:pPr>
            <a:r>
              <a:rPr kumimoji="1" lang="ja-JP" altLang="en-US" sz="1600"/>
              <a:t>投信残高</a:t>
            </a:r>
          </a:p>
          <a:p>
            <a:pPr marL="285750" indent="-285750">
              <a:buFont typeface="Arial" panose="020B0604020202020204" pitchFamily="34" charset="0"/>
              <a:buChar char="•"/>
            </a:pPr>
            <a:r>
              <a:rPr kumimoji="1" lang="ja-JP" altLang="en-US" sz="1600"/>
              <a:t>家賃引落額</a:t>
            </a:r>
            <a:endParaRPr kumimoji="1" lang="ja-JP" altLang="en-US" sz="1600" dirty="0" err="1"/>
          </a:p>
        </p:txBody>
      </p:sp>
      <p:sp>
        <p:nvSpPr>
          <p:cNvPr id="15" name="テキスト ボックス 14">
            <a:extLst>
              <a:ext uri="{FF2B5EF4-FFF2-40B4-BE49-F238E27FC236}">
                <a16:creationId xmlns:a16="http://schemas.microsoft.com/office/drawing/2014/main" id="{42BD4298-17E1-A9A5-A379-2700F5266A56}"/>
              </a:ext>
            </a:extLst>
          </p:cNvPr>
          <p:cNvSpPr txBox="1"/>
          <p:nvPr/>
        </p:nvSpPr>
        <p:spPr>
          <a:xfrm>
            <a:off x="822598" y="1085711"/>
            <a:ext cx="11350240" cy="1231106"/>
          </a:xfrm>
          <a:prstGeom prst="rect">
            <a:avLst/>
          </a:prstGeom>
          <a:noFill/>
        </p:spPr>
        <p:txBody>
          <a:bodyPr wrap="square" rtlCol="0">
            <a:spAutoFit/>
          </a:bodyPr>
          <a:lstStyle/>
          <a:p>
            <a:pPr>
              <a:spcAft>
                <a:spcPts val="400"/>
              </a:spcAft>
            </a:pPr>
            <a:r>
              <a:rPr kumimoji="1" lang="ja-JP" altLang="en-US" sz="1600" b="1"/>
              <a:t>■</a:t>
            </a:r>
            <a:r>
              <a:rPr kumimoji="1" lang="en-US" altLang="ja-JP" sz="1600" b="1" dirty="0"/>
              <a:t> </a:t>
            </a:r>
            <a:r>
              <a:rPr kumimoji="1" lang="ja-JP" altLang="en-US" sz="1600" b="1"/>
              <a:t>計算環境</a:t>
            </a:r>
            <a:endParaRPr kumimoji="1" lang="en-US" altLang="ja-JP" sz="1600" b="1" dirty="0"/>
          </a:p>
          <a:p>
            <a:pPr marL="285750" indent="-285750">
              <a:spcAft>
                <a:spcPts val="400"/>
              </a:spcAft>
              <a:buFont typeface="Arial" panose="020B0604020202020204" pitchFamily="34" charset="0"/>
              <a:buChar char="•"/>
            </a:pPr>
            <a:r>
              <a:rPr kumimoji="1" lang="ja-JP" altLang="en-US" sz="1600" b="1"/>
              <a:t>対象キャンペーン：</a:t>
            </a:r>
            <a:r>
              <a:rPr kumimoji="1" lang="en-US" altLang="ja-JP" sz="1600" b="1" dirty="0"/>
              <a:t>	</a:t>
            </a:r>
            <a:r>
              <a:rPr kumimoji="1" lang="ja-JP" altLang="en-US" sz="1600" b="1"/>
              <a:t>ふるさと納税</a:t>
            </a:r>
            <a:endParaRPr kumimoji="1" lang="en-US" altLang="ja-JP" sz="1600" dirty="0"/>
          </a:p>
          <a:p>
            <a:pPr marL="285750" indent="-285750">
              <a:spcAft>
                <a:spcPts val="400"/>
              </a:spcAft>
              <a:buFont typeface="Arial" panose="020B0604020202020204" pitchFamily="34" charset="0"/>
              <a:buChar char="•"/>
            </a:pPr>
            <a:r>
              <a:rPr kumimoji="1" lang="ja-JP" altLang="en-US" sz="1600" b="1"/>
              <a:t>量子計算機：</a:t>
            </a:r>
            <a:r>
              <a:rPr kumimoji="1" lang="en-US" altLang="ja-JP" sz="1600" b="1" dirty="0"/>
              <a:t>		D-Wave QPU (</a:t>
            </a:r>
            <a:r>
              <a:rPr kumimoji="1" lang="en-US" altLang="ja-JP" sz="1600" b="1" i="1" dirty="0"/>
              <a:t>Advantage2_system1.6 </a:t>
            </a:r>
            <a:r>
              <a:rPr kumimoji="1" lang="en-US" altLang="ja-JP" sz="1600" b="1" dirty="0"/>
              <a:t>) </a:t>
            </a:r>
            <a:r>
              <a:rPr kumimoji="1" lang="en-US" altLang="ja-JP" sz="1400" dirty="0"/>
              <a:t>※ D-Wave</a:t>
            </a:r>
            <a:r>
              <a:rPr kumimoji="1" lang="ja-JP" altLang="en-US" sz="1400"/>
              <a:t>社の最新</a:t>
            </a:r>
            <a:r>
              <a:rPr kumimoji="1" lang="en-US" altLang="ja-JP" sz="1400" dirty="0"/>
              <a:t>QPU</a:t>
            </a:r>
            <a:r>
              <a:rPr kumimoji="1" lang="ja-JP" altLang="en-US" sz="1400"/>
              <a:t>プロセッサ・超伝導タイプ</a:t>
            </a:r>
            <a:endParaRPr kumimoji="1" lang="en-US" altLang="ja-JP" sz="1600" dirty="0"/>
          </a:p>
          <a:p>
            <a:pPr marL="285750" indent="-285750">
              <a:spcAft>
                <a:spcPts val="400"/>
              </a:spcAft>
              <a:buFont typeface="Arial" panose="020B0604020202020204" pitchFamily="34" charset="0"/>
              <a:buChar char="•"/>
            </a:pPr>
            <a:r>
              <a:rPr kumimoji="1" lang="ja-JP" altLang="en-US" sz="1600" b="1"/>
              <a:t>アニーリング時間：</a:t>
            </a:r>
            <a:r>
              <a:rPr kumimoji="1" lang="en-US" altLang="ja-JP" sz="1600" b="1" dirty="0"/>
              <a:t>	20μs</a:t>
            </a:r>
            <a:r>
              <a:rPr kumimoji="1" lang="en-US" altLang="ja-JP" sz="1600" dirty="0"/>
              <a:t>  </a:t>
            </a:r>
            <a:r>
              <a:rPr kumimoji="1" lang="en-US" altLang="ja-JP" sz="1400" dirty="0"/>
              <a:t>※D-Wave QPU</a:t>
            </a:r>
            <a:r>
              <a:rPr kumimoji="1" lang="ja-JP" altLang="en-US" sz="1400"/>
              <a:t>の標準設定</a:t>
            </a:r>
            <a:endParaRPr kumimoji="1" lang="en-US" altLang="ja-JP" sz="1600" dirty="0"/>
          </a:p>
        </p:txBody>
      </p:sp>
      <p:sp>
        <p:nvSpPr>
          <p:cNvPr id="16" name="テキスト ボックス 15">
            <a:extLst>
              <a:ext uri="{FF2B5EF4-FFF2-40B4-BE49-F238E27FC236}">
                <a16:creationId xmlns:a16="http://schemas.microsoft.com/office/drawing/2014/main" id="{FF2660E8-2B51-FC09-31A7-21F3549C6F79}"/>
              </a:ext>
            </a:extLst>
          </p:cNvPr>
          <p:cNvSpPr txBox="1"/>
          <p:nvPr/>
        </p:nvSpPr>
        <p:spPr>
          <a:xfrm>
            <a:off x="3611031" y="2148116"/>
            <a:ext cx="978494" cy="343299"/>
          </a:xfrm>
          <a:prstGeom prst="rect">
            <a:avLst/>
          </a:prstGeom>
          <a:noFill/>
        </p:spPr>
        <p:txBody>
          <a:bodyPr wrap="square" rtlCol="0">
            <a:spAutoFit/>
          </a:bodyPr>
          <a:lstStyle/>
          <a:p>
            <a:pPr>
              <a:lnSpc>
                <a:spcPct val="150000"/>
              </a:lnSpc>
            </a:pPr>
            <a:r>
              <a:rPr kumimoji="1" lang="ja-JP" altLang="en-US" sz="1200" b="1"/>
              <a:t>マイクロ秒</a:t>
            </a:r>
            <a:endParaRPr kumimoji="1" lang="en-US" altLang="ja-JP" sz="1050" dirty="0"/>
          </a:p>
        </p:txBody>
      </p:sp>
    </p:spTree>
    <p:extLst>
      <p:ext uri="{BB962C8B-B14F-4D97-AF65-F5344CB8AC3E}">
        <p14:creationId xmlns:p14="http://schemas.microsoft.com/office/powerpoint/2010/main" val="2720667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86095-3EC7-BAE7-A9FD-20EED90DBF65}"/>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4DB7E400-6174-0B7F-8210-427C892EAD54}"/>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4DB7E400-6174-0B7F-8210-427C892EAD5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42E10DF3-951C-55A0-EC09-6CF54DCA8372}"/>
              </a:ext>
            </a:extLst>
          </p:cNvPr>
          <p:cNvSpPr>
            <a:spLocks noGrp="1"/>
          </p:cNvSpPr>
          <p:nvPr>
            <p:ph type="body" sz="quarter" idx="10"/>
          </p:nvPr>
        </p:nvSpPr>
        <p:spPr/>
        <p:txBody>
          <a:bodyPr>
            <a:normAutofit fontScale="92500" lnSpcReduction="10000"/>
          </a:bodyPr>
          <a:lstStyle/>
          <a:p>
            <a:r>
              <a:rPr lang="ja-JP" altLang="en-US"/>
              <a:t>従来コンピュータでのシミュレータ </a:t>
            </a:r>
            <a:r>
              <a:rPr lang="en-US" altLang="ja-JP" dirty="0"/>
              <a:t>vs </a:t>
            </a:r>
            <a:r>
              <a:rPr lang="ja-JP" altLang="en-US"/>
              <a:t>量子アニーリング実機の比較：</a:t>
            </a:r>
            <a:br>
              <a:rPr lang="ja-JP" altLang="en-US"/>
            </a:br>
            <a:r>
              <a:rPr lang="ja-JP" altLang="en-US"/>
              <a:t>比較結果の共通点・相違点・考察、特に計算速度で実機に強みあり</a:t>
            </a:r>
          </a:p>
        </p:txBody>
      </p:sp>
      <p:sp>
        <p:nvSpPr>
          <p:cNvPr id="3" name="Slide Number Placeholder 2">
            <a:extLst>
              <a:ext uri="{FF2B5EF4-FFF2-40B4-BE49-F238E27FC236}">
                <a16:creationId xmlns:a16="http://schemas.microsoft.com/office/drawing/2014/main" id="{D44179B3-8F4D-3D37-853E-962CE89480AD}"/>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4" name="テキスト ボックス 3">
            <a:extLst>
              <a:ext uri="{FF2B5EF4-FFF2-40B4-BE49-F238E27FC236}">
                <a16:creationId xmlns:a16="http://schemas.microsoft.com/office/drawing/2014/main" id="{FD095207-8A9D-7A7E-C3B8-824FD5DF97BB}"/>
              </a:ext>
            </a:extLst>
          </p:cNvPr>
          <p:cNvSpPr txBox="1"/>
          <p:nvPr/>
        </p:nvSpPr>
        <p:spPr>
          <a:xfrm>
            <a:off x="439998" y="1156624"/>
            <a:ext cx="5280864" cy="1909369"/>
          </a:xfrm>
          <a:prstGeom prst="rect">
            <a:avLst/>
          </a:prstGeom>
          <a:noFill/>
        </p:spPr>
        <p:txBody>
          <a:bodyPr wrap="square" rtlCol="0">
            <a:spAutoFit/>
          </a:bodyPr>
          <a:lstStyle/>
          <a:p>
            <a:pPr>
              <a:lnSpc>
                <a:spcPct val="110000"/>
              </a:lnSpc>
            </a:pPr>
            <a:r>
              <a:rPr kumimoji="1" lang="ja-JP" altLang="en-US" b="1"/>
              <a:t>■</a:t>
            </a:r>
            <a:r>
              <a:rPr kumimoji="1" lang="en-US" altLang="ja-JP" b="1" dirty="0"/>
              <a:t> </a:t>
            </a:r>
            <a:r>
              <a:rPr kumimoji="1" lang="ja-JP" altLang="en-US" b="1"/>
              <a:t>共通点</a:t>
            </a:r>
            <a:endParaRPr kumimoji="1" lang="en-US" altLang="ja-JP" b="1" dirty="0"/>
          </a:p>
          <a:p>
            <a:pPr marL="285750" indent="-285750">
              <a:lnSpc>
                <a:spcPct val="110000"/>
              </a:lnSpc>
              <a:buFont typeface="Arial" panose="020B0604020202020204" pitchFamily="34" charset="0"/>
              <a:buChar char="•"/>
            </a:pPr>
            <a:r>
              <a:rPr kumimoji="1" lang="ja-JP" altLang="en-US"/>
              <a:t>両者とも、</a:t>
            </a:r>
            <a:r>
              <a:rPr kumimoji="1" lang="en-US" altLang="ja-JP" u="sng" dirty="0"/>
              <a:t>α</a:t>
            </a:r>
            <a:r>
              <a:rPr kumimoji="1" lang="ja-JP" altLang="en-US" u="sng"/>
              <a:t>を増やすと選択される特徴量数は増加</a:t>
            </a:r>
            <a:endParaRPr kumimoji="1" lang="en-US" altLang="ja-JP" u="sng" dirty="0"/>
          </a:p>
          <a:p>
            <a:pPr marL="285750" indent="-285750">
              <a:lnSpc>
                <a:spcPct val="110000"/>
              </a:lnSpc>
              <a:buFont typeface="Arial" panose="020B0604020202020204" pitchFamily="34" charset="0"/>
              <a:buChar char="•"/>
            </a:pPr>
            <a:r>
              <a:rPr kumimoji="1" lang="ja-JP" altLang="en-US" u="sng"/>
              <a:t>エネルギー値の傾向は両者で概ね一致</a:t>
            </a:r>
            <a:endParaRPr kumimoji="1" lang="en-US" altLang="ja-JP" u="sng" dirty="0"/>
          </a:p>
          <a:p>
            <a:pPr marL="285750" indent="-285750">
              <a:lnSpc>
                <a:spcPct val="110000"/>
              </a:lnSpc>
              <a:buFont typeface="Arial" panose="020B0604020202020204" pitchFamily="34" charset="0"/>
              <a:buChar char="•"/>
            </a:pPr>
            <a:r>
              <a:rPr kumimoji="1" lang="ja-JP" altLang="en-US" u="sng"/>
              <a:t>選択される特徴量集合は概ね一致する</a:t>
            </a:r>
            <a:r>
              <a:rPr kumimoji="1" lang="en-US" altLang="ja-JP" dirty="0"/>
              <a:t> (</a:t>
            </a:r>
            <a:r>
              <a:rPr kumimoji="1" lang="el-GR" altLang="ja-JP" dirty="0"/>
              <a:t>α</a:t>
            </a:r>
            <a:r>
              <a:rPr kumimoji="1" lang="ja-JP" altLang="en-US"/>
              <a:t>が大きいとき特に</a:t>
            </a:r>
            <a:r>
              <a:rPr kumimoji="1" lang="en-US" altLang="ja-JP" dirty="0"/>
              <a:t>)</a:t>
            </a:r>
          </a:p>
        </p:txBody>
      </p:sp>
      <p:sp>
        <p:nvSpPr>
          <p:cNvPr id="11" name="テキスト ボックス 10">
            <a:extLst>
              <a:ext uri="{FF2B5EF4-FFF2-40B4-BE49-F238E27FC236}">
                <a16:creationId xmlns:a16="http://schemas.microsoft.com/office/drawing/2014/main" id="{1231EFC2-859D-FBD4-A007-DE9BDCDB6A57}"/>
              </a:ext>
            </a:extLst>
          </p:cNvPr>
          <p:cNvSpPr txBox="1"/>
          <p:nvPr/>
        </p:nvSpPr>
        <p:spPr>
          <a:xfrm>
            <a:off x="5904578" y="1156624"/>
            <a:ext cx="5791466" cy="2518766"/>
          </a:xfrm>
          <a:prstGeom prst="rect">
            <a:avLst/>
          </a:prstGeom>
          <a:noFill/>
        </p:spPr>
        <p:txBody>
          <a:bodyPr wrap="square" rtlCol="0">
            <a:spAutoFit/>
          </a:bodyPr>
          <a:lstStyle/>
          <a:p>
            <a:pPr>
              <a:lnSpc>
                <a:spcPct val="110000"/>
              </a:lnSpc>
            </a:pPr>
            <a:r>
              <a:rPr kumimoji="1" lang="ja-JP" altLang="en-US" b="1"/>
              <a:t>■</a:t>
            </a:r>
            <a:r>
              <a:rPr kumimoji="1" lang="en-US" altLang="ja-JP" b="1" dirty="0"/>
              <a:t> </a:t>
            </a:r>
            <a:r>
              <a:rPr kumimoji="1" lang="ja-JP" altLang="en-US" b="1"/>
              <a:t>相違点</a:t>
            </a:r>
            <a:endParaRPr kumimoji="1" lang="en-US" altLang="ja-JP" b="1" dirty="0"/>
          </a:p>
          <a:p>
            <a:pPr marL="285750" indent="-285750">
              <a:lnSpc>
                <a:spcPct val="110000"/>
              </a:lnSpc>
              <a:buFont typeface="Arial" panose="020B0604020202020204" pitchFamily="34" charset="0"/>
              <a:buChar char="•"/>
            </a:pPr>
            <a:r>
              <a:rPr kumimoji="1" lang="ja-JP" altLang="en-US"/>
              <a:t>実機はシミュレータと比較して、</a:t>
            </a:r>
            <a:r>
              <a:rPr kumimoji="1" lang="en-US" altLang="ja-JP" dirty="0"/>
              <a:t>1~2</a:t>
            </a:r>
            <a:r>
              <a:rPr kumimoji="1" lang="ja-JP" altLang="en-US"/>
              <a:t>個程度</a:t>
            </a:r>
            <a:br>
              <a:rPr kumimoji="1" lang="en-US" altLang="ja-JP" dirty="0"/>
            </a:br>
            <a:r>
              <a:rPr kumimoji="1" lang="ja-JP" altLang="en-US" u="sng"/>
              <a:t>多めの特徴量を選択する</a:t>
            </a:r>
            <a:r>
              <a:rPr kumimoji="1" lang="ja-JP" altLang="en-US"/>
              <a:t>傾向</a:t>
            </a:r>
            <a:endParaRPr kumimoji="1" lang="en-US" altLang="ja-JP" dirty="0"/>
          </a:p>
          <a:p>
            <a:pPr marL="285750" indent="-285750">
              <a:lnSpc>
                <a:spcPct val="110000"/>
              </a:lnSpc>
              <a:buFont typeface="Arial" panose="020B0604020202020204" pitchFamily="34" charset="0"/>
              <a:buChar char="•"/>
            </a:pPr>
            <a:r>
              <a:rPr kumimoji="1" lang="ja-JP" altLang="en-US"/>
              <a:t>エネルギー値：特に</a:t>
            </a:r>
            <a:r>
              <a:rPr kumimoji="1" lang="en-US" altLang="ja-JP" dirty="0"/>
              <a:t>α</a:t>
            </a:r>
            <a:r>
              <a:rPr kumimoji="1" lang="ja-JP" altLang="en-US"/>
              <a:t>が小さいとき、</a:t>
            </a:r>
            <a:br>
              <a:rPr kumimoji="1" lang="en-US" altLang="ja-JP" dirty="0"/>
            </a:br>
            <a:r>
              <a:rPr kumimoji="1" lang="ja-JP" altLang="en-US" u="sng"/>
              <a:t>シミュレータのほうが小さい（</a:t>
            </a:r>
            <a:r>
              <a:rPr kumimoji="1" lang="en-US" altLang="ja-JP" u="sng" dirty="0"/>
              <a:t>=</a:t>
            </a:r>
            <a:r>
              <a:rPr kumimoji="1" lang="ja-JP" altLang="en-US" u="sng"/>
              <a:t>良い）</a:t>
            </a:r>
            <a:endParaRPr kumimoji="1" lang="en-US" altLang="ja-JP" u="sng" dirty="0"/>
          </a:p>
          <a:p>
            <a:pPr marL="285750" indent="-285750">
              <a:lnSpc>
                <a:spcPct val="110000"/>
              </a:lnSpc>
              <a:buFont typeface="Arial" panose="020B0604020202020204" pitchFamily="34" charset="0"/>
              <a:buChar char="•"/>
            </a:pPr>
            <a:r>
              <a:rPr kumimoji="1" lang="ja-JP" altLang="en-US"/>
              <a:t>計算速度：</a:t>
            </a:r>
            <a:r>
              <a:rPr kumimoji="1" lang="ja-JP" altLang="en-US" b="1" u="sng">
                <a:solidFill>
                  <a:srgbClr val="C00000"/>
                </a:solidFill>
              </a:rPr>
              <a:t>実機のアニーリングは</a:t>
            </a:r>
            <a:r>
              <a:rPr kumimoji="1" lang="el-GR" altLang="ja-JP" b="1" u="sng" dirty="0">
                <a:solidFill>
                  <a:srgbClr val="C00000"/>
                </a:solidFill>
              </a:rPr>
              <a:t>μ</a:t>
            </a:r>
            <a:r>
              <a:rPr kumimoji="1" lang="en-US" altLang="ja-JP" b="1" u="sng" dirty="0">
                <a:solidFill>
                  <a:srgbClr val="C00000"/>
                </a:solidFill>
              </a:rPr>
              <a:t>s</a:t>
            </a:r>
            <a:r>
              <a:rPr kumimoji="1" lang="ja-JP" altLang="en-US" b="1" u="sng">
                <a:solidFill>
                  <a:srgbClr val="C00000"/>
                </a:solidFill>
              </a:rPr>
              <a:t>オーダーと高速な計算</a:t>
            </a:r>
            <a:r>
              <a:rPr kumimoji="1" lang="ja-JP" altLang="en-US"/>
              <a:t>、対してシミュレータは一般に</a:t>
            </a:r>
            <a:r>
              <a:rPr kumimoji="1" lang="en-US" altLang="ja-JP" dirty="0" err="1"/>
              <a:t>ms</a:t>
            </a:r>
            <a:r>
              <a:rPr kumimoji="1" lang="en-US" altLang="ja-JP" dirty="0"/>
              <a:t>〜</a:t>
            </a:r>
            <a:r>
              <a:rPr kumimoji="1" lang="ja-JP" altLang="en-US"/>
              <a:t>数秒オーダーと遅い</a:t>
            </a:r>
            <a:endParaRPr kumimoji="1" lang="en-US" altLang="ja-JP" dirty="0"/>
          </a:p>
        </p:txBody>
      </p:sp>
      <p:sp>
        <p:nvSpPr>
          <p:cNvPr id="15" name="テキスト ボックス 14">
            <a:extLst>
              <a:ext uri="{FF2B5EF4-FFF2-40B4-BE49-F238E27FC236}">
                <a16:creationId xmlns:a16="http://schemas.microsoft.com/office/drawing/2014/main" id="{25514C1B-743F-7DBD-F0C7-68E122E388A3}"/>
              </a:ext>
            </a:extLst>
          </p:cNvPr>
          <p:cNvSpPr txBox="1"/>
          <p:nvPr/>
        </p:nvSpPr>
        <p:spPr>
          <a:xfrm>
            <a:off x="439997" y="3723191"/>
            <a:ext cx="11192761" cy="2822760"/>
          </a:xfrm>
          <a:prstGeom prst="rect">
            <a:avLst/>
          </a:prstGeom>
          <a:noFill/>
        </p:spPr>
        <p:txBody>
          <a:bodyPr wrap="square" rtlCol="0">
            <a:spAutoFit/>
          </a:bodyPr>
          <a:lstStyle/>
          <a:p>
            <a:pPr>
              <a:lnSpc>
                <a:spcPct val="110000"/>
              </a:lnSpc>
            </a:pPr>
            <a:r>
              <a:rPr kumimoji="1" lang="ja-JP" altLang="en-US" b="1"/>
              <a:t>■</a:t>
            </a:r>
            <a:r>
              <a:rPr kumimoji="1" lang="en-US" altLang="ja-JP" b="1" dirty="0"/>
              <a:t> </a:t>
            </a:r>
            <a:r>
              <a:rPr kumimoji="1" lang="ja-JP" altLang="en-US" b="1"/>
              <a:t>考察</a:t>
            </a:r>
            <a:r>
              <a:rPr kumimoji="1" lang="en-US" altLang="ja-JP" b="1" dirty="0"/>
              <a:t> ― </a:t>
            </a:r>
            <a:r>
              <a:rPr kumimoji="1" lang="ja-JP" altLang="en-US" b="1"/>
              <a:t>なぜ計算結果に差が出るのか</a:t>
            </a:r>
            <a:endParaRPr kumimoji="1" lang="en-US" altLang="ja-JP" b="1" dirty="0"/>
          </a:p>
          <a:p>
            <a:pPr marL="285750" indent="-285750">
              <a:lnSpc>
                <a:spcPct val="110000"/>
              </a:lnSpc>
              <a:buFont typeface="Arial" panose="020B0604020202020204" pitchFamily="34" charset="0"/>
              <a:buChar char="•"/>
            </a:pPr>
            <a:r>
              <a:rPr kumimoji="1" lang="ja-JP" altLang="en-US" b="1"/>
              <a:t>スケール＆分解能の制限：</a:t>
            </a:r>
            <a:r>
              <a:rPr kumimoji="1" lang="ja-JP" altLang="en-US"/>
              <a:t>実機では、</a:t>
            </a:r>
            <a:r>
              <a:rPr kumimoji="1" lang="en-US" altLang="ja-JP" dirty="0"/>
              <a:t>QUBO</a:t>
            </a:r>
            <a:r>
              <a:rPr kumimoji="1" lang="ja-JP" altLang="en-US"/>
              <a:t>モデルの係数は特定の範囲と有限分解能で実装される。今回の特徴量選択の</a:t>
            </a:r>
            <a:r>
              <a:rPr kumimoji="1" lang="en-US" altLang="ja-JP" dirty="0"/>
              <a:t>QUBO</a:t>
            </a:r>
            <a:r>
              <a:rPr kumimoji="1" lang="ja-JP" altLang="en-US"/>
              <a:t>問題は相互情報量を係数にとっており、</a:t>
            </a:r>
            <a:r>
              <a:rPr kumimoji="1" lang="el-GR" altLang="ja-JP" dirty="0"/>
              <a:t>α=0.99</a:t>
            </a:r>
            <a:r>
              <a:rPr kumimoji="1" lang="ja-JP" altLang="en-US"/>
              <a:t>のとき</a:t>
            </a:r>
            <a:r>
              <a:rPr kumimoji="1" lang="ja-JP" altLang="en-US" u="sng"/>
              <a:t>最大≈</a:t>
            </a:r>
            <a:r>
              <a:rPr kumimoji="1" lang="en-US" altLang="ja-JP" u="sng" dirty="0"/>
              <a:t>5</a:t>
            </a:r>
            <a:r>
              <a:rPr kumimoji="1" lang="ja-JP" altLang="en-US" u="sng"/>
              <a:t>／最小≈</a:t>
            </a:r>
            <a:r>
              <a:rPr kumimoji="1" lang="en-US" altLang="ja-JP" u="sng" dirty="0"/>
              <a:t>1e-16</a:t>
            </a:r>
            <a:r>
              <a:rPr kumimoji="1" lang="ja-JP" altLang="en-US" u="sng"/>
              <a:t>まで分布</a:t>
            </a:r>
            <a:r>
              <a:rPr kumimoji="1" lang="ja-JP" altLang="en-US"/>
              <a:t>する。このダイナミックレンジは実機にそのまま載らず、</a:t>
            </a:r>
            <a:r>
              <a:rPr kumimoji="1" lang="ja-JP" altLang="en-US" u="sng"/>
              <a:t>微小係数が無視される点が計算誤差として生じている可能性</a:t>
            </a:r>
            <a:r>
              <a:rPr kumimoji="1" lang="ja-JP" altLang="en-US"/>
              <a:t>がある。</a:t>
            </a:r>
            <a:endParaRPr kumimoji="1" lang="en-US" altLang="ja-JP" dirty="0"/>
          </a:p>
          <a:p>
            <a:pPr marL="285750" indent="-285750">
              <a:lnSpc>
                <a:spcPct val="110000"/>
              </a:lnSpc>
              <a:buFont typeface="Arial" panose="020B0604020202020204" pitchFamily="34" charset="0"/>
              <a:buChar char="•"/>
            </a:pPr>
            <a:r>
              <a:rPr kumimoji="1" lang="ja-JP" altLang="en-US" b="1"/>
              <a:t>確認検証：</a:t>
            </a:r>
            <a:r>
              <a:rPr kumimoji="1" lang="ja-JP" altLang="en-US"/>
              <a:t>実際、</a:t>
            </a:r>
            <a:r>
              <a:rPr kumimoji="1" lang="en-US" altLang="ja-JP" dirty="0"/>
              <a:t>D-Wave</a:t>
            </a:r>
            <a:r>
              <a:rPr kumimoji="1" lang="ja-JP" altLang="en-US"/>
              <a:t>のハイブリッドソルバ（</a:t>
            </a:r>
            <a:r>
              <a:rPr kumimoji="1" lang="en-US" altLang="ja-JP" dirty="0"/>
              <a:t>QA</a:t>
            </a:r>
            <a:r>
              <a:rPr kumimoji="1" lang="ja-JP" altLang="en-US"/>
              <a:t>＋古典最適化）を用いると、シミュレータの結果と一致し、安定に計算できることを確認した。</a:t>
            </a:r>
            <a:endParaRPr kumimoji="1" lang="en-US" altLang="ja-JP" b="1" dirty="0">
              <a:solidFill>
                <a:schemeClr val="accent1"/>
              </a:solidFill>
            </a:endParaRPr>
          </a:p>
          <a:p>
            <a:pPr>
              <a:lnSpc>
                <a:spcPct val="110000"/>
              </a:lnSpc>
            </a:pPr>
            <a:r>
              <a:rPr kumimoji="1" lang="ja-JP" altLang="en-US" b="1">
                <a:solidFill>
                  <a:schemeClr val="accent1"/>
                </a:solidFill>
              </a:rPr>
              <a:t>⇒実機をフル活用するには、古典計算と組合せての精度向上の活用または適切な係数のスケーリングが必要。</a:t>
            </a:r>
            <a:br>
              <a:rPr kumimoji="1" lang="en-US" altLang="ja-JP" b="1" dirty="0">
                <a:solidFill>
                  <a:schemeClr val="accent1"/>
                </a:solidFill>
              </a:rPr>
            </a:br>
            <a:r>
              <a:rPr kumimoji="1" lang="ja-JP" altLang="en-US" b="1">
                <a:solidFill>
                  <a:schemeClr val="accent1"/>
                </a:solidFill>
              </a:rPr>
              <a:t>　また、計算が速いことは大きな強みであるため、問題規模がより大きくなったときに効果を発揮する。</a:t>
            </a:r>
            <a:endParaRPr kumimoji="1" lang="en-US" altLang="ja-JP" b="1" dirty="0">
              <a:solidFill>
                <a:schemeClr val="accent1"/>
              </a:solidFill>
            </a:endParaRPr>
          </a:p>
        </p:txBody>
      </p:sp>
    </p:spTree>
    <p:extLst>
      <p:ext uri="{BB962C8B-B14F-4D97-AF65-F5344CB8AC3E}">
        <p14:creationId xmlns:p14="http://schemas.microsoft.com/office/powerpoint/2010/main" val="3240805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7A581-F82D-58B4-2038-897D8D229083}"/>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5CFA54BA-9308-C479-0653-CF4A500977AA}"/>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5CFA54BA-9308-C479-0653-CF4A500977A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1E02CE61-50F9-E1CE-740A-D265AEE78378}"/>
              </a:ext>
            </a:extLst>
          </p:cNvPr>
          <p:cNvSpPr>
            <a:spLocks noGrp="1"/>
          </p:cNvSpPr>
          <p:nvPr>
            <p:ph type="body" sz="quarter" idx="10"/>
          </p:nvPr>
        </p:nvSpPr>
        <p:spPr/>
        <p:txBody>
          <a:bodyPr/>
          <a:lstStyle/>
          <a:p>
            <a:r>
              <a:rPr lang="en-US" altLang="ja-JP" dirty="0"/>
              <a:t>PoC</a:t>
            </a:r>
            <a:r>
              <a:rPr lang="ja-JP" altLang="en-US"/>
              <a:t>で実施した項目の概要および結果のサマリー</a:t>
            </a:r>
            <a:r>
              <a:rPr lang="en-US" altLang="ja-JP" dirty="0"/>
              <a:t>【</a:t>
            </a:r>
            <a:r>
              <a:rPr lang="ja-JP" altLang="en-US"/>
              <a:t>再掲</a:t>
            </a:r>
            <a:r>
              <a:rPr lang="en-US" altLang="ja-JP" dirty="0"/>
              <a:t>】</a:t>
            </a:r>
            <a:endParaRPr lang="ja-JP" altLang="en-US" dirty="0"/>
          </a:p>
        </p:txBody>
      </p:sp>
      <p:sp>
        <p:nvSpPr>
          <p:cNvPr id="3" name="Slide Number Placeholder 2">
            <a:extLst>
              <a:ext uri="{FF2B5EF4-FFF2-40B4-BE49-F238E27FC236}">
                <a16:creationId xmlns:a16="http://schemas.microsoft.com/office/drawing/2014/main" id="{A1AFD82C-9F03-D0C2-81D4-919FC0D6A07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4" name="TextBox 3">
            <a:extLst>
              <a:ext uri="{FF2B5EF4-FFF2-40B4-BE49-F238E27FC236}">
                <a16:creationId xmlns:a16="http://schemas.microsoft.com/office/drawing/2014/main" id="{0F7740E5-5A9E-4C3A-E66D-E0CCA047F941}"/>
              </a:ext>
            </a:extLst>
          </p:cNvPr>
          <p:cNvSpPr txBox="1"/>
          <p:nvPr/>
        </p:nvSpPr>
        <p:spPr>
          <a:xfrm>
            <a:off x="937093" y="1195527"/>
            <a:ext cx="10845870" cy="5170646"/>
          </a:xfrm>
          <a:prstGeom prst="rect">
            <a:avLst/>
          </a:prstGeom>
          <a:noFill/>
        </p:spPr>
        <p:txBody>
          <a:bodyPr wrap="square" rtlCol="0">
            <a:spAutoFit/>
          </a:bodyPr>
          <a:lstStyle/>
          <a:p>
            <a:r>
              <a:rPr lang="en-US" altLang="ja-JP" b="1" dirty="0"/>
              <a:t>[1] </a:t>
            </a:r>
            <a:r>
              <a:rPr lang="ja-JP" altLang="en-US" b="1"/>
              <a:t>量子計算を活用したアルゴリズム・機械学習パイプラインの設計・開発</a:t>
            </a:r>
            <a:endParaRPr lang="en-US" altLang="ja-JP" b="1" dirty="0"/>
          </a:p>
          <a:p>
            <a:pPr marL="285750" indent="-285750">
              <a:buFont typeface="Arial" panose="020B0604020202020204" pitchFamily="34" charset="0"/>
              <a:buChar char="•"/>
            </a:pPr>
            <a:r>
              <a:rPr lang="ja-JP" altLang="en-US" b="1">
                <a:solidFill>
                  <a:schemeClr val="accent1"/>
                </a:solidFill>
              </a:rPr>
              <a:t>概要</a:t>
            </a:r>
            <a:r>
              <a:rPr lang="en-US" altLang="ja-JP" b="1" dirty="0">
                <a:solidFill>
                  <a:schemeClr val="accent1"/>
                </a:solidFill>
              </a:rPr>
              <a:t>:</a:t>
            </a:r>
            <a:r>
              <a:rPr lang="en-US" altLang="ja-JP" dirty="0"/>
              <a:t> </a:t>
            </a:r>
            <a:r>
              <a:rPr lang="ja-JP" altLang="en-US"/>
              <a:t>量子アニーリングを用いた特徴量選択手法（</a:t>
            </a:r>
            <a:r>
              <a:rPr lang="en-US" altLang="ja-JP" dirty="0"/>
              <a:t>QFS</a:t>
            </a:r>
            <a:r>
              <a:rPr lang="ja-JP" altLang="en-US"/>
              <a:t>）を核に、クリック予測モデルおよび評価・可視化ダッシュボードを構築した。</a:t>
            </a:r>
            <a:endParaRPr lang="en-US" altLang="ja-JP" dirty="0"/>
          </a:p>
          <a:p>
            <a:pPr marL="285750" indent="-285750">
              <a:buFont typeface="Arial" panose="020B0604020202020204" pitchFamily="34" charset="0"/>
              <a:buChar char="•"/>
            </a:pPr>
            <a:r>
              <a:rPr lang="ja-JP" altLang="en-US" b="1">
                <a:solidFill>
                  <a:srgbClr val="C00000"/>
                </a:solidFill>
              </a:rPr>
              <a:t>結果サマリー</a:t>
            </a:r>
            <a:r>
              <a:rPr lang="en-US" altLang="ja-JP" b="1" dirty="0">
                <a:solidFill>
                  <a:srgbClr val="C00000"/>
                </a:solidFill>
              </a:rPr>
              <a:t>:</a:t>
            </a:r>
            <a:r>
              <a:rPr lang="en-US" altLang="ja-JP" dirty="0"/>
              <a:t> QFS</a:t>
            </a:r>
            <a:r>
              <a:rPr lang="ja-JP" altLang="en-US"/>
              <a:t>法により重要かつ非冗長な特徴量を自動選択し、機械学習モデルの性能を一貫して向上。学習・分析を一気通貫で実行可能なパイプラインを確立した。</a:t>
            </a:r>
            <a:endParaRPr lang="en-US" altLang="ja-JP" dirty="0"/>
          </a:p>
          <a:p>
            <a:endParaRPr lang="en-US" altLang="ja-JP" sz="800" dirty="0"/>
          </a:p>
          <a:p>
            <a:r>
              <a:rPr lang="en-US" altLang="ja-JP" b="1" dirty="0"/>
              <a:t>[2] </a:t>
            </a:r>
            <a:r>
              <a:rPr lang="ja-JP" altLang="en-US" b="1"/>
              <a:t>実データセットでの効果測定</a:t>
            </a:r>
            <a:endParaRPr lang="en-US" altLang="ja-JP" dirty="0"/>
          </a:p>
          <a:p>
            <a:pPr marL="285750" indent="-285750">
              <a:buFont typeface="Arial" panose="020B0604020202020204" pitchFamily="34" charset="0"/>
              <a:buChar char="•"/>
            </a:pPr>
            <a:r>
              <a:rPr lang="ja-JP" altLang="en-US" b="1"/>
              <a:t>対象広告案件</a:t>
            </a:r>
            <a:r>
              <a:rPr lang="en-US" altLang="ja-JP" b="1" dirty="0"/>
              <a:t>:</a:t>
            </a:r>
            <a:r>
              <a:rPr lang="en-US" altLang="ja-JP" dirty="0"/>
              <a:t> </a:t>
            </a:r>
            <a:r>
              <a:rPr lang="ja-JP" altLang="en-US"/>
              <a:t>ふるさと納税リリースプロモーション、</a:t>
            </a:r>
            <a:r>
              <a:rPr lang="en-US" altLang="ja-JP" dirty="0"/>
              <a:t>JRA (</a:t>
            </a:r>
            <a:r>
              <a:rPr lang="ja-JP" altLang="en-US"/>
              <a:t>年末</a:t>
            </a:r>
            <a:r>
              <a:rPr lang="en-US" altLang="ja-JP" dirty="0"/>
              <a:t>)</a:t>
            </a:r>
            <a:r>
              <a:rPr lang="ja-JP" altLang="en-US"/>
              <a:t>、</a:t>
            </a:r>
            <a:r>
              <a:rPr lang="en-US" altLang="ja-JP" dirty="0"/>
              <a:t>JRA (</a:t>
            </a:r>
            <a:r>
              <a:rPr lang="ja-JP" altLang="en-US"/>
              <a:t>春</a:t>
            </a:r>
            <a:r>
              <a:rPr lang="en-US" altLang="ja-JP" dirty="0"/>
              <a:t>)</a:t>
            </a:r>
            <a:r>
              <a:rPr lang="ja-JP" altLang="en-US"/>
              <a:t>、ユニセフ</a:t>
            </a:r>
            <a:r>
              <a:rPr lang="en-US" altLang="ja-JP" dirty="0"/>
              <a:t> (</a:t>
            </a:r>
            <a:r>
              <a:rPr lang="en-US" altLang="ja-JP" dirty="0" err="1"/>
              <a:t>iPS</a:t>
            </a:r>
            <a:r>
              <a:rPr lang="ja-JP" altLang="en-US"/>
              <a:t>細胞</a:t>
            </a:r>
            <a:r>
              <a:rPr lang="en-US" altLang="ja-JP" dirty="0"/>
              <a:t>)</a:t>
            </a:r>
          </a:p>
          <a:p>
            <a:pPr marL="285750" indent="-285750">
              <a:buFont typeface="Arial" panose="020B0604020202020204" pitchFamily="34" charset="0"/>
              <a:buChar char="•"/>
            </a:pPr>
            <a:r>
              <a:rPr lang="ja-JP" altLang="en-US" b="1">
                <a:solidFill>
                  <a:schemeClr val="accent1"/>
                </a:solidFill>
              </a:rPr>
              <a:t>概要</a:t>
            </a:r>
            <a:r>
              <a:rPr lang="en-US" altLang="ja-JP" b="1" dirty="0">
                <a:solidFill>
                  <a:schemeClr val="accent1"/>
                </a:solidFill>
              </a:rPr>
              <a:t>:</a:t>
            </a:r>
            <a:r>
              <a:rPr lang="en-US" altLang="ja-JP" dirty="0"/>
              <a:t> 4</a:t>
            </a:r>
            <a:r>
              <a:rPr lang="ja-JP" altLang="en-US"/>
              <a:t>案件で実データを用いた学習・評価を実施した。</a:t>
            </a:r>
            <a:endParaRPr lang="en-US" altLang="ja-JP" dirty="0"/>
          </a:p>
          <a:p>
            <a:pPr marL="285750" indent="-285750">
              <a:buFont typeface="Arial" panose="020B0604020202020204" pitchFamily="34" charset="0"/>
              <a:buChar char="•"/>
            </a:pPr>
            <a:r>
              <a:rPr lang="ja-JP" altLang="en-US" b="1">
                <a:solidFill>
                  <a:srgbClr val="C00000"/>
                </a:solidFill>
              </a:rPr>
              <a:t>結果サマリー</a:t>
            </a:r>
            <a:r>
              <a:rPr lang="en-US" altLang="ja-JP" b="1" dirty="0">
                <a:solidFill>
                  <a:srgbClr val="C00000"/>
                </a:solidFill>
              </a:rPr>
              <a:t>:</a:t>
            </a:r>
            <a:r>
              <a:rPr lang="en-US" altLang="ja-JP" dirty="0"/>
              <a:t> </a:t>
            </a:r>
            <a:r>
              <a:rPr lang="ja-JP" altLang="en-US"/>
              <a:t>実データで全特徴使用時より</a:t>
            </a:r>
            <a:r>
              <a:rPr lang="en-US" altLang="ja-JP" dirty="0"/>
              <a:t>QFS</a:t>
            </a:r>
            <a:r>
              <a:rPr lang="ja-JP" altLang="en-US"/>
              <a:t>特徴量にて精度向上を確認。予測</a:t>
            </a:r>
            <a:r>
              <a:rPr lang="en-US" altLang="ja-JP" dirty="0"/>
              <a:t>CTR</a:t>
            </a:r>
            <a:r>
              <a:rPr lang="ja-JP" altLang="en-US"/>
              <a:t>は</a:t>
            </a:r>
            <a:r>
              <a:rPr lang="en-US" altLang="ja-JP" dirty="0"/>
              <a:t>+1%pt</a:t>
            </a:r>
            <a:r>
              <a:rPr lang="ja-JP" altLang="en-US"/>
              <a:t>前後向上。各広告でクリックが高いと期待される顧客セグメントを分析した。</a:t>
            </a:r>
            <a:endParaRPr lang="en-US" altLang="ja-JP" dirty="0"/>
          </a:p>
          <a:p>
            <a:endParaRPr lang="en-US" altLang="ja-JP" sz="800" dirty="0"/>
          </a:p>
          <a:p>
            <a:r>
              <a:rPr lang="en-US" altLang="ja-JP" b="1" dirty="0"/>
              <a:t>[3] </a:t>
            </a:r>
            <a:r>
              <a:rPr lang="ja-JP" altLang="en-US" b="1"/>
              <a:t>実量子計算機を用いた検証と評価</a:t>
            </a:r>
            <a:endParaRPr lang="ja-JP" altLang="en-US"/>
          </a:p>
          <a:p>
            <a:pPr marL="285750" indent="-285750">
              <a:buFont typeface="Arial" panose="020B0604020202020204" pitchFamily="34" charset="0"/>
              <a:buChar char="•"/>
            </a:pPr>
            <a:r>
              <a:rPr lang="ja-JP" altLang="en-US" b="1">
                <a:solidFill>
                  <a:schemeClr val="accent1"/>
                </a:solidFill>
              </a:rPr>
              <a:t>概要</a:t>
            </a:r>
            <a:r>
              <a:rPr lang="en-US" altLang="ja-JP" b="1" dirty="0">
                <a:solidFill>
                  <a:schemeClr val="accent1"/>
                </a:solidFill>
              </a:rPr>
              <a:t>:</a:t>
            </a:r>
            <a:r>
              <a:rPr lang="en-US" altLang="ja-JP" dirty="0"/>
              <a:t> D-Wave</a:t>
            </a:r>
            <a:r>
              <a:rPr lang="ja-JP" altLang="en-US"/>
              <a:t>実機を用いて、シミュレータとの比較検証を実施した。</a:t>
            </a:r>
            <a:endParaRPr lang="en-US" altLang="ja-JP" dirty="0"/>
          </a:p>
          <a:p>
            <a:pPr marL="285750" indent="-285750">
              <a:buFont typeface="Arial" panose="020B0604020202020204" pitchFamily="34" charset="0"/>
              <a:buChar char="•"/>
            </a:pPr>
            <a:r>
              <a:rPr lang="ja-JP" altLang="en-US" b="1">
                <a:solidFill>
                  <a:srgbClr val="C00000"/>
                </a:solidFill>
              </a:rPr>
              <a:t>結果サマリー</a:t>
            </a:r>
            <a:r>
              <a:rPr lang="en-US" altLang="ja-JP" b="1" dirty="0">
                <a:solidFill>
                  <a:srgbClr val="C00000"/>
                </a:solidFill>
              </a:rPr>
              <a:t>: </a:t>
            </a:r>
            <a:r>
              <a:rPr lang="ja-JP" altLang="en-US"/>
              <a:t>実機とシミュレータで選択特徴量・エネルギー傾向が概ね一致。実機はマイクロ秒オーダーの高速性を示した。</a:t>
            </a:r>
            <a:endParaRPr lang="en-US" altLang="ja-JP" dirty="0"/>
          </a:p>
          <a:p>
            <a:endParaRPr lang="en-US" altLang="ja-JP" sz="800" dirty="0"/>
          </a:p>
          <a:p>
            <a:r>
              <a:rPr lang="en-US" altLang="ja-JP" b="1" dirty="0"/>
              <a:t>PoC</a:t>
            </a:r>
            <a:r>
              <a:rPr lang="ja-JP" altLang="en-US" b="1"/>
              <a:t>成果の要約</a:t>
            </a:r>
            <a:r>
              <a:rPr lang="en-US" altLang="ja-JP" b="1" dirty="0"/>
              <a:t>:</a:t>
            </a:r>
            <a:br>
              <a:rPr lang="en-US" altLang="ja-JP" b="1" dirty="0"/>
            </a:br>
            <a:r>
              <a:rPr lang="ja-JP" altLang="en-US"/>
              <a:t>量子計算を用いた広告レコメンド手法を構築し、実データでの性能向上・期待顧客セグメント評価・実機検証を通じて、量子技術の実用性を確認した。</a:t>
            </a:r>
            <a:endParaRPr lang="en-US" altLang="ja-JP" dirty="0"/>
          </a:p>
        </p:txBody>
      </p:sp>
      <p:pic>
        <p:nvPicPr>
          <p:cNvPr id="9" name="グラフィックス 8" descr="チェックマークを付けたチェック ボックス 単色塗りつぶし">
            <a:extLst>
              <a:ext uri="{FF2B5EF4-FFF2-40B4-BE49-F238E27FC236}">
                <a16:creationId xmlns:a16="http://schemas.microsoft.com/office/drawing/2014/main" id="{C5B87EE7-F4A4-1CC8-A68E-AC84AE234E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9183" y="2579844"/>
            <a:ext cx="540328" cy="540328"/>
          </a:xfrm>
          <a:prstGeom prst="rect">
            <a:avLst/>
          </a:prstGeom>
        </p:spPr>
      </p:pic>
      <p:pic>
        <p:nvPicPr>
          <p:cNvPr id="10" name="グラフィックス 9" descr="チェックマークを付けたチェック ボックス 単色塗りつぶし">
            <a:extLst>
              <a:ext uri="{FF2B5EF4-FFF2-40B4-BE49-F238E27FC236}">
                <a16:creationId xmlns:a16="http://schemas.microsoft.com/office/drawing/2014/main" id="{314DC60D-6711-BF43-7C3B-E4FBCC8D31D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9183" y="1125981"/>
            <a:ext cx="540328" cy="540328"/>
          </a:xfrm>
          <a:prstGeom prst="rect">
            <a:avLst/>
          </a:prstGeom>
        </p:spPr>
      </p:pic>
      <p:pic>
        <p:nvPicPr>
          <p:cNvPr id="11" name="グラフィックス 10" descr="チェックマークを付けたチェック ボックス 単色塗りつぶし">
            <a:extLst>
              <a:ext uri="{FF2B5EF4-FFF2-40B4-BE49-F238E27FC236}">
                <a16:creationId xmlns:a16="http://schemas.microsoft.com/office/drawing/2014/main" id="{EA9AC4BE-7115-C0AF-423F-DB3DA913E3C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9183" y="4092304"/>
            <a:ext cx="540328" cy="540328"/>
          </a:xfrm>
          <a:prstGeom prst="rect">
            <a:avLst/>
          </a:prstGeom>
        </p:spPr>
      </p:pic>
      <p:pic>
        <p:nvPicPr>
          <p:cNvPr id="12" name="グラフィックス 11" descr="チェックマークを付けたチェック ボックス 単色塗りつぶし">
            <a:extLst>
              <a:ext uri="{FF2B5EF4-FFF2-40B4-BE49-F238E27FC236}">
                <a16:creationId xmlns:a16="http://schemas.microsoft.com/office/drawing/2014/main" id="{5BA05D48-2D27-56A8-A9CB-EE62826CA9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6952" y="5329287"/>
            <a:ext cx="540328" cy="540328"/>
          </a:xfrm>
          <a:prstGeom prst="rect">
            <a:avLst/>
          </a:prstGeom>
        </p:spPr>
      </p:pic>
    </p:spTree>
    <p:extLst>
      <p:ext uri="{BB962C8B-B14F-4D97-AF65-F5344CB8AC3E}">
        <p14:creationId xmlns:p14="http://schemas.microsoft.com/office/powerpoint/2010/main" val="4153776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83206-98B9-72EE-CC6B-C124116BD497}"/>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FAD836D0-6472-A519-8ADC-B9AE01DC2DE4}"/>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FAD836D0-6472-A519-8ADC-B9AE01DC2DE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7" name="Text Placeholder 6">
            <a:extLst>
              <a:ext uri="{FF2B5EF4-FFF2-40B4-BE49-F238E27FC236}">
                <a16:creationId xmlns:a16="http://schemas.microsoft.com/office/drawing/2014/main" id="{DEE97333-FE83-CDDA-C5F1-FD9BF6286C0C}"/>
              </a:ext>
            </a:extLst>
          </p:cNvPr>
          <p:cNvSpPr>
            <a:spLocks noGrp="1"/>
          </p:cNvSpPr>
          <p:nvPr>
            <p:ph type="body" sz="quarter" idx="10"/>
          </p:nvPr>
        </p:nvSpPr>
        <p:spPr/>
        <p:txBody>
          <a:bodyPr/>
          <a:lstStyle/>
          <a:p>
            <a:r>
              <a:rPr lang="ja-JP" altLang="en-US"/>
              <a:t>本</a:t>
            </a:r>
            <a:r>
              <a:rPr lang="en-US" altLang="ja-JP" dirty="0"/>
              <a:t>PoC</a:t>
            </a:r>
            <a:r>
              <a:rPr lang="ja-JP" altLang="en-US"/>
              <a:t>成果の今後の展望案</a:t>
            </a:r>
            <a:endParaRPr lang="ja-JP" altLang="en-US" dirty="0"/>
          </a:p>
        </p:txBody>
      </p:sp>
      <p:sp>
        <p:nvSpPr>
          <p:cNvPr id="3" name="Slide Number Placeholder 2">
            <a:extLst>
              <a:ext uri="{FF2B5EF4-FFF2-40B4-BE49-F238E27FC236}">
                <a16:creationId xmlns:a16="http://schemas.microsoft.com/office/drawing/2014/main" id="{F8C12B87-2A73-F609-7974-676E1679E4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US" altLang="ja-US" sz="1200" b="0" i="0" u="none" strike="noStrike" kern="1200" cap="none" spc="0" normalizeH="0" baseline="0" noProof="0" smtClean="0">
                <a:ln>
                  <a:noFill/>
                </a:ln>
                <a:solidFill>
                  <a:prstClr val="black"/>
                </a:solidFill>
                <a:effectLst/>
                <a:uLnTx/>
                <a:uFillTx/>
                <a:latin typeface="Arial" panose="020B0604020202020204"/>
                <a:ea typeface="ＭＳ Ｐゴシック" panose="020B0600070205080204" pitchFamily="34"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ja-US" altLang="en-US" sz="1200" b="0" i="0" u="none" strike="noStrike" kern="1200" cap="none" spc="0" normalizeH="0" baseline="0" noProof="0">
              <a:ln>
                <a:noFill/>
              </a:ln>
              <a:solidFill>
                <a:prstClr val="black"/>
              </a:solidFill>
              <a:effectLst/>
              <a:uLnTx/>
              <a:uFillTx/>
              <a:latin typeface="Arial" panose="020B0604020202020204"/>
              <a:ea typeface="ＭＳ Ｐゴシック" panose="020B0600070205080204" pitchFamily="34" charset="-128"/>
              <a:cs typeface="+mn-cs"/>
            </a:endParaRPr>
          </a:p>
        </p:txBody>
      </p:sp>
      <p:sp>
        <p:nvSpPr>
          <p:cNvPr id="4" name="テキスト ボックス 3">
            <a:extLst>
              <a:ext uri="{FF2B5EF4-FFF2-40B4-BE49-F238E27FC236}">
                <a16:creationId xmlns:a16="http://schemas.microsoft.com/office/drawing/2014/main" id="{93BD54DE-ECCB-7788-599F-4A8213603077}"/>
              </a:ext>
            </a:extLst>
          </p:cNvPr>
          <p:cNvSpPr txBox="1"/>
          <p:nvPr/>
        </p:nvSpPr>
        <p:spPr>
          <a:xfrm>
            <a:off x="527176" y="1199098"/>
            <a:ext cx="11383321" cy="5221942"/>
          </a:xfrm>
          <a:prstGeom prst="rect">
            <a:avLst/>
          </a:prstGeom>
          <a:noFill/>
        </p:spPr>
        <p:txBody>
          <a:bodyPr wrap="square" rtlCol="0">
            <a:spAutoFit/>
          </a:bodyPr>
          <a:lstStyle/>
          <a:p>
            <a:pPr>
              <a:spcBef>
                <a:spcPts val="800"/>
              </a:spcBef>
            </a:pPr>
            <a:r>
              <a:rPr kumimoji="1" lang="en-US" altLang="ja-JP" b="1" dirty="0"/>
              <a:t>(1) </a:t>
            </a:r>
            <a:r>
              <a:rPr kumimoji="1" lang="ja-JP" altLang="en-US" b="1"/>
              <a:t>実活用へ向けて</a:t>
            </a:r>
            <a:endParaRPr kumimoji="1" lang="en-US" altLang="ja-JP" b="1" dirty="0"/>
          </a:p>
          <a:p>
            <a:pPr marL="285750" indent="-285750">
              <a:spcBef>
                <a:spcPts val="800"/>
              </a:spcBef>
              <a:buFont typeface="Arial" panose="020B0604020202020204" pitchFamily="34" charset="0"/>
              <a:buChar char="•"/>
            </a:pPr>
            <a:r>
              <a:rPr kumimoji="1" lang="ja-JP" altLang="en-US" b="1"/>
              <a:t>実効果測定：</a:t>
            </a:r>
            <a:r>
              <a:rPr kumimoji="1" lang="ja-JP" altLang="en-US"/>
              <a:t>実際の広告案件での効果テスト</a:t>
            </a:r>
            <a:endParaRPr kumimoji="1" lang="en-US" altLang="ja-JP" dirty="0"/>
          </a:p>
          <a:p>
            <a:pPr marL="742950" lvl="1" indent="-285750">
              <a:spcBef>
                <a:spcPts val="800"/>
              </a:spcBef>
              <a:buFont typeface="Arial" panose="020B0604020202020204" pitchFamily="34" charset="0"/>
              <a:buChar char="•"/>
            </a:pPr>
            <a:r>
              <a:rPr kumimoji="1" lang="ja-JP" altLang="en-US"/>
              <a:t>実配信での検証を通じて、量子特徴量選択による顧客セグメント抽出の有効性をさらに確認</a:t>
            </a:r>
            <a:endParaRPr kumimoji="1" lang="en-US" altLang="ja-JP" dirty="0"/>
          </a:p>
          <a:p>
            <a:pPr marL="742950" lvl="1" indent="-285750">
              <a:spcBef>
                <a:spcPts val="800"/>
              </a:spcBef>
              <a:buFont typeface="Arial" panose="020B0604020202020204" pitchFamily="34" charset="0"/>
              <a:buChar char="•"/>
            </a:pPr>
            <a:r>
              <a:rPr kumimoji="1" lang="ja-JP" altLang="en-US"/>
              <a:t>例</a:t>
            </a:r>
            <a:r>
              <a:rPr kumimoji="1" lang="en-US" altLang="ja-JP" dirty="0"/>
              <a:t>: </a:t>
            </a:r>
            <a:r>
              <a:rPr kumimoji="1" lang="ja-JP" altLang="en-US"/>
              <a:t>競馬</a:t>
            </a:r>
            <a:r>
              <a:rPr kumimoji="1" lang="en-US" altLang="ja-JP" dirty="0"/>
              <a:t> (JRA) </a:t>
            </a:r>
            <a:r>
              <a:rPr kumimoji="1" lang="ja-JP" altLang="en-US"/>
              <a:t>案件に</a:t>
            </a:r>
            <a:r>
              <a:rPr kumimoji="1" lang="en-US" altLang="ja-JP" dirty="0"/>
              <a:t>PoC</a:t>
            </a:r>
            <a:r>
              <a:rPr kumimoji="1" lang="ja-JP" altLang="en-US"/>
              <a:t>での検証結果を組み込んでいただけないか年末へ向けて推進する</a:t>
            </a:r>
            <a:endParaRPr kumimoji="1" lang="en-US" altLang="ja-JP" dirty="0"/>
          </a:p>
          <a:p>
            <a:pPr marL="285750" indent="-285750">
              <a:spcBef>
                <a:spcPts val="800"/>
              </a:spcBef>
              <a:buFont typeface="Arial" panose="020B0604020202020204" pitchFamily="34" charset="0"/>
              <a:buChar char="•"/>
            </a:pPr>
            <a:r>
              <a:rPr kumimoji="1" lang="ja-JP" altLang="en-US" b="1"/>
              <a:t>製品実装：</a:t>
            </a:r>
            <a:r>
              <a:rPr kumimoji="1" lang="ja-JP" altLang="en-US"/>
              <a:t>本</a:t>
            </a:r>
            <a:r>
              <a:rPr kumimoji="1" lang="en-US" altLang="ja-JP" dirty="0"/>
              <a:t>PoC</a:t>
            </a:r>
            <a:r>
              <a:rPr kumimoji="1" lang="ja-JP" altLang="en-US"/>
              <a:t>で開発したアルゴリズム・ダッシュボードアプリケーションを拡張し、</a:t>
            </a:r>
            <a:br>
              <a:rPr kumimoji="1" lang="en-US" altLang="ja-JP" dirty="0"/>
            </a:br>
            <a:r>
              <a:rPr kumimoji="1" lang="ja-JP" altLang="en-US"/>
              <a:t>今後の実案件で広く使っていただけるようなプロトタイピング＆本番実装</a:t>
            </a:r>
            <a:endParaRPr kumimoji="1" lang="en-US" altLang="ja-JP" dirty="0"/>
          </a:p>
          <a:p>
            <a:pPr>
              <a:spcBef>
                <a:spcPts val="800"/>
              </a:spcBef>
            </a:pPr>
            <a:endParaRPr kumimoji="1" lang="en-US" altLang="ja-JP" sz="800" dirty="0"/>
          </a:p>
          <a:p>
            <a:pPr>
              <a:spcBef>
                <a:spcPts val="800"/>
              </a:spcBef>
            </a:pPr>
            <a:r>
              <a:rPr kumimoji="1" lang="en-US" altLang="ja-JP" b="1" dirty="0"/>
              <a:t>(2) </a:t>
            </a:r>
            <a:r>
              <a:rPr kumimoji="1" lang="ja-JP" altLang="en-US" b="1"/>
              <a:t>量子計算の効果をより発揮するような性能検証へ向けて</a:t>
            </a:r>
            <a:endParaRPr kumimoji="1" lang="en-US" altLang="ja-JP" b="1" dirty="0"/>
          </a:p>
          <a:p>
            <a:pPr marL="285750" indent="-285750">
              <a:spcBef>
                <a:spcPts val="800"/>
              </a:spcBef>
              <a:buFont typeface="Arial" panose="020B0604020202020204" pitchFamily="34" charset="0"/>
              <a:buChar char="•"/>
            </a:pPr>
            <a:r>
              <a:rPr kumimoji="1" lang="ja-JP" altLang="en-US"/>
              <a:t>量子計算により</a:t>
            </a:r>
            <a:r>
              <a:rPr kumimoji="1" lang="en-US" altLang="ja-JP" dirty="0"/>
              <a:t>QFS</a:t>
            </a:r>
            <a:r>
              <a:rPr kumimoji="1" lang="ja-JP" altLang="en-US"/>
              <a:t>法で解く問題が複雑であればあるほど、量子計算の効果が発揮され、また予測の精度が向上すると期待される。そこで以下のようなアイデアが考えられる。</a:t>
            </a:r>
            <a:endParaRPr kumimoji="1" lang="en-US" altLang="ja-JP" dirty="0"/>
          </a:p>
          <a:p>
            <a:pPr marL="285750" indent="-285750">
              <a:spcBef>
                <a:spcPts val="800"/>
              </a:spcBef>
              <a:buFont typeface="Arial" panose="020B0604020202020204" pitchFamily="34" charset="0"/>
              <a:buChar char="•"/>
            </a:pPr>
            <a:r>
              <a:rPr kumimoji="1" lang="ja-JP" altLang="en-US"/>
              <a:t>特徴量としてユーザ属性を増やす</a:t>
            </a:r>
            <a:endParaRPr kumimoji="1" lang="en-US" altLang="ja-JP" dirty="0"/>
          </a:p>
          <a:p>
            <a:pPr marL="742950" lvl="1" indent="-285750">
              <a:spcBef>
                <a:spcPts val="800"/>
              </a:spcBef>
              <a:buFont typeface="Arial" panose="020B0604020202020204" pitchFamily="34" charset="0"/>
              <a:buChar char="•"/>
            </a:pPr>
            <a:r>
              <a:rPr kumimoji="1" lang="ja-JP" altLang="en-US"/>
              <a:t>銀行口座から入手可能な顧客属性を超えて、例えばクレジットカード情報とのデータ結合など。</a:t>
            </a:r>
            <a:endParaRPr kumimoji="1" lang="en-US" altLang="ja-JP" dirty="0"/>
          </a:p>
          <a:p>
            <a:pPr marL="285750" indent="-285750">
              <a:spcBef>
                <a:spcPts val="800"/>
              </a:spcBef>
              <a:buFont typeface="Arial" panose="020B0604020202020204" pitchFamily="34" charset="0"/>
              <a:buChar char="•"/>
            </a:pPr>
            <a:r>
              <a:rPr kumimoji="1" lang="ja-JP" altLang="en-US"/>
              <a:t>特徴量エンジニアリングの活用</a:t>
            </a:r>
            <a:endParaRPr kumimoji="1" lang="en-US" altLang="ja-JP" dirty="0"/>
          </a:p>
          <a:p>
            <a:pPr marL="742950" lvl="1" indent="-285750">
              <a:spcBef>
                <a:spcPts val="800"/>
              </a:spcBef>
              <a:buFont typeface="Arial" panose="020B0604020202020204" pitchFamily="34" charset="0"/>
              <a:buChar char="•"/>
            </a:pPr>
            <a:r>
              <a:rPr kumimoji="1" lang="ja-JP" altLang="en-US"/>
              <a:t>複数の特徴の組み合わせを事前計算し、新規のユーザの属性として扱う。そこから量子計算による特徴量選択を適用することで、量子計算の効果を発揮しながら高精度の予測モデルの構築を狙う。</a:t>
            </a:r>
            <a:endParaRPr kumimoji="1" lang="ja-JP" altLang="en-US" dirty="0"/>
          </a:p>
        </p:txBody>
      </p:sp>
    </p:spTree>
    <p:extLst>
      <p:ext uri="{BB962C8B-B14F-4D97-AF65-F5344CB8AC3E}">
        <p14:creationId xmlns:p14="http://schemas.microsoft.com/office/powerpoint/2010/main" val="3247671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AE4A41F-1DA1-7EE0-EF47-1531A12DABB5}"/>
              </a:ext>
            </a:extLst>
          </p:cNvPr>
          <p:cNvSpPr>
            <a:spLocks noGrp="1"/>
          </p:cNvSpPr>
          <p:nvPr>
            <p:ph type="body" sz="quarter" idx="10"/>
          </p:nvPr>
        </p:nvSpPr>
        <p:spPr/>
        <p:txBody>
          <a:bodyPr/>
          <a:lstStyle/>
          <a:p>
            <a:r>
              <a:rPr kumimoji="1" lang="ja-JP" altLang="en-US"/>
              <a:t>入力データ</a:t>
            </a:r>
          </a:p>
        </p:txBody>
      </p:sp>
      <p:graphicFrame>
        <p:nvGraphicFramePr>
          <p:cNvPr id="3" name="表 2">
            <a:extLst>
              <a:ext uri="{FF2B5EF4-FFF2-40B4-BE49-F238E27FC236}">
                <a16:creationId xmlns:a16="http://schemas.microsoft.com/office/drawing/2014/main" id="{BE93A62B-1972-024C-7F3C-09A0C4E95447}"/>
              </a:ext>
            </a:extLst>
          </p:cNvPr>
          <p:cNvGraphicFramePr>
            <a:graphicFrameLocks noGrp="1"/>
          </p:cNvGraphicFramePr>
          <p:nvPr>
            <p:extLst>
              <p:ext uri="{D42A27DB-BD31-4B8C-83A1-F6EECF244321}">
                <p14:modId xmlns:p14="http://schemas.microsoft.com/office/powerpoint/2010/main" val="3531750648"/>
              </p:ext>
            </p:extLst>
          </p:nvPr>
        </p:nvGraphicFramePr>
        <p:xfrm>
          <a:off x="709083" y="1256867"/>
          <a:ext cx="10956444" cy="2141593"/>
        </p:xfrm>
        <a:graphic>
          <a:graphicData uri="http://schemas.openxmlformats.org/drawingml/2006/table">
            <a:tbl>
              <a:tblPr/>
              <a:tblGrid>
                <a:gridCol w="2837681">
                  <a:extLst>
                    <a:ext uri="{9D8B030D-6E8A-4147-A177-3AD203B41FA5}">
                      <a16:colId xmlns:a16="http://schemas.microsoft.com/office/drawing/2014/main" val="1860217629"/>
                    </a:ext>
                  </a:extLst>
                </a:gridCol>
                <a:gridCol w="8118763">
                  <a:extLst>
                    <a:ext uri="{9D8B030D-6E8A-4147-A177-3AD203B41FA5}">
                      <a16:colId xmlns:a16="http://schemas.microsoft.com/office/drawing/2014/main" val="2598594059"/>
                    </a:ext>
                  </a:extLst>
                </a:gridCol>
              </a:tblGrid>
              <a:tr h="415003">
                <a:tc>
                  <a:txBody>
                    <a:bodyPr/>
                    <a:lstStyle/>
                    <a:p>
                      <a:pPr algn="ctr" fontAlgn="base">
                        <a:lnSpc>
                          <a:spcPts val="1425"/>
                        </a:lnSpc>
                        <a:buNone/>
                      </a:pPr>
                      <a:r>
                        <a:rPr lang="ja-JP" altLang="en-US" sz="1400" b="1" i="0">
                          <a:solidFill>
                            <a:srgbClr val="209EA4"/>
                          </a:solidFill>
                          <a:effectLst/>
                          <a:ea typeface="游ゴシック" panose="020B0400000000000000" pitchFamily="34" charset="-128"/>
                        </a:rPr>
                        <a:t>データ</a:t>
                      </a:r>
                      <a:r>
                        <a:rPr lang="ja-JP" altLang="en-US" sz="1400" b="0" i="0">
                          <a:solidFill>
                            <a:srgbClr val="000000"/>
                          </a:solidFill>
                          <a:effectLst/>
                          <a:latin typeface="游ゴシック" panose="020B0400000000000000" pitchFamily="34" charset="-128"/>
                        </a:rPr>
                        <a:t>​</a:t>
                      </a:r>
                      <a:endParaRPr lang="ja-JP" altLang="en-US" sz="2000" b="0" i="0">
                        <a:solidFill>
                          <a:srgbClr val="000000"/>
                        </a:solidFill>
                        <a:effectLst/>
                      </a:endParaRPr>
                    </a:p>
                  </a:txBody>
                  <a:tcPr marL="81588" marR="81588" marT="40794" marB="4079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1425"/>
                        </a:lnSpc>
                        <a:buNone/>
                      </a:pPr>
                      <a:r>
                        <a:rPr lang="ja-JP" altLang="en-US" sz="1400" b="1" i="0">
                          <a:solidFill>
                            <a:srgbClr val="209EA4"/>
                          </a:solidFill>
                          <a:effectLst/>
                          <a:ea typeface="游ゴシック" panose="020B0400000000000000" pitchFamily="34" charset="-128"/>
                        </a:rPr>
                        <a:t>概要</a:t>
                      </a:r>
                      <a:endParaRPr lang="ja-JP" altLang="en-US" sz="2000" b="0" i="0">
                        <a:solidFill>
                          <a:srgbClr val="000000"/>
                        </a:solidFill>
                        <a:effectLst/>
                      </a:endParaRPr>
                    </a:p>
                  </a:txBody>
                  <a:tcPr marL="81588" marR="81588" marT="40794" marB="4079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30388067"/>
                  </a:ext>
                </a:extLst>
              </a:tr>
              <a:tr h="575530">
                <a:tc>
                  <a:txBody>
                    <a:bodyPr/>
                    <a:lstStyle/>
                    <a:p>
                      <a:pPr algn="ctr" fontAlgn="base">
                        <a:lnSpc>
                          <a:spcPct val="100000"/>
                        </a:lnSpc>
                        <a:buNone/>
                      </a:pPr>
                      <a:r>
                        <a:rPr lang="ja-JP" altLang="en-US" sz="1400" b="1" i="0">
                          <a:solidFill>
                            <a:srgbClr val="030C40"/>
                          </a:solidFill>
                          <a:effectLst/>
                          <a:ea typeface="游ゴシック" panose="020B0400000000000000" pitchFamily="34" charset="-128"/>
                        </a:rPr>
                        <a:t>顧客マスタ</a:t>
                      </a:r>
                      <a:endParaRPr lang="ja-JP" altLang="en-US" sz="2000" b="0" i="0">
                        <a:solidFill>
                          <a:srgbClr val="000000"/>
                        </a:solidFill>
                        <a:effectLst/>
                      </a:endParaRPr>
                    </a:p>
                  </a:txBody>
                  <a:tcPr marL="81588" marR="81588" marT="40794" marB="40794" anchor="ctr">
                    <a:lnL w="12700"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algn="l" fontAlgn="base">
                        <a:lnSpc>
                          <a:spcPct val="100000"/>
                        </a:lnSpc>
                        <a:buNone/>
                      </a:pPr>
                      <a:r>
                        <a:rPr lang="ja-JP" altLang="en-US" sz="1400" b="0" i="0">
                          <a:solidFill>
                            <a:srgbClr val="000000"/>
                          </a:solidFill>
                          <a:effectLst/>
                          <a:latin typeface="+mn-ea"/>
                          <a:ea typeface="+mn-ea"/>
                        </a:rPr>
                        <a:t>年齢や性別等のデモグラフィックデータや引落額等の口座に紐づく顧客データ</a:t>
                      </a:r>
                    </a:p>
                  </a:txBody>
                  <a:tcPr marL="81588" marR="81588" marT="40794" marB="40794" anchor="ctr">
                    <a:lnL w="9525" cap="flat" cmpd="sng" algn="ctr">
                      <a:solidFill>
                        <a:srgbClr val="80808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541950213"/>
                  </a:ext>
                </a:extLst>
              </a:tr>
              <a:tr h="575530">
                <a:tc>
                  <a:txBody>
                    <a:bodyPr/>
                    <a:lstStyle/>
                    <a:p>
                      <a:pPr algn="ctr" fontAlgn="base">
                        <a:lnSpc>
                          <a:spcPct val="100000"/>
                        </a:lnSpc>
                        <a:buNone/>
                      </a:pPr>
                      <a:r>
                        <a:rPr lang="ja-JP" altLang="en-US" sz="1400" b="1" i="0">
                          <a:solidFill>
                            <a:srgbClr val="030C40"/>
                          </a:solidFill>
                          <a:effectLst/>
                          <a:latin typeface="游ゴシック" panose="020B0400000000000000" pitchFamily="34" charset="-128"/>
                          <a:ea typeface="游ゴシック" panose="020B0400000000000000" pitchFamily="34" charset="-128"/>
                        </a:rPr>
                        <a:t>過去配信実績反応履歴</a:t>
                      </a:r>
                      <a:endParaRPr lang="ja-JP" altLang="en-US" sz="2000" b="0" i="0">
                        <a:solidFill>
                          <a:srgbClr val="000000"/>
                        </a:solidFill>
                        <a:effectLst/>
                      </a:endParaRPr>
                    </a:p>
                  </a:txBody>
                  <a:tcPr marL="81588" marR="81588" marT="40794" marB="40794" anchor="ctr">
                    <a:lnL w="12700"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algn="l" fontAlgn="base">
                        <a:lnSpc>
                          <a:spcPct val="100000"/>
                        </a:lnSpc>
                        <a:buNone/>
                      </a:pPr>
                      <a:r>
                        <a:rPr lang="ja-JP" altLang="en-US" sz="1400" b="0" i="0">
                          <a:solidFill>
                            <a:srgbClr val="000000"/>
                          </a:solidFill>
                          <a:effectLst/>
                          <a:latin typeface="+mn-ea"/>
                          <a:ea typeface="+mn-ea"/>
                        </a:rPr>
                        <a:t>顧客</a:t>
                      </a:r>
                      <a:r>
                        <a:rPr lang="en-US" altLang="ja-JP" sz="1400" b="0" i="0" dirty="0">
                          <a:solidFill>
                            <a:srgbClr val="000000"/>
                          </a:solidFill>
                          <a:effectLst/>
                          <a:latin typeface="+mn-ea"/>
                          <a:ea typeface="+mn-ea"/>
                        </a:rPr>
                        <a:t>ID</a:t>
                      </a:r>
                      <a:r>
                        <a:rPr lang="ja-JP" altLang="en-US" sz="1400" b="0" i="0">
                          <a:solidFill>
                            <a:srgbClr val="000000"/>
                          </a:solidFill>
                          <a:effectLst/>
                          <a:latin typeface="+mn-ea"/>
                          <a:ea typeface="+mn-ea"/>
                        </a:rPr>
                        <a:t>と広告案件</a:t>
                      </a:r>
                      <a:r>
                        <a:rPr lang="en-US" altLang="ja-JP" sz="1400" b="0" i="0" dirty="0">
                          <a:solidFill>
                            <a:srgbClr val="000000"/>
                          </a:solidFill>
                          <a:effectLst/>
                          <a:latin typeface="+mn-ea"/>
                          <a:ea typeface="+mn-ea"/>
                        </a:rPr>
                        <a:t>ID</a:t>
                      </a:r>
                      <a:r>
                        <a:rPr lang="ja-JP" altLang="en-US" sz="1400" b="0" i="0">
                          <a:solidFill>
                            <a:srgbClr val="000000"/>
                          </a:solidFill>
                          <a:effectLst/>
                          <a:latin typeface="+mn-ea"/>
                          <a:ea typeface="+mn-ea"/>
                        </a:rPr>
                        <a:t>を紐づけて、広告を閲覧・クリックした反応回数を記録したデータ</a:t>
                      </a:r>
                    </a:p>
                  </a:txBody>
                  <a:tcPr marL="81588" marR="81588" marT="40794" marB="40794" anchor="ctr">
                    <a:lnL w="9525" cap="flat" cmpd="sng" algn="ctr">
                      <a:solidFill>
                        <a:srgbClr val="80808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2945659551"/>
                  </a:ext>
                </a:extLst>
              </a:tr>
              <a:tr h="575530">
                <a:tc>
                  <a:txBody>
                    <a:bodyPr/>
                    <a:lstStyle/>
                    <a:p>
                      <a:pPr algn="ctr" fontAlgn="base">
                        <a:lnSpc>
                          <a:spcPct val="100000"/>
                        </a:lnSpc>
                        <a:buNone/>
                      </a:pPr>
                      <a:r>
                        <a:rPr lang="ja-JP" altLang="en-US" sz="1400" b="1" i="0">
                          <a:solidFill>
                            <a:srgbClr val="030C40"/>
                          </a:solidFill>
                          <a:effectLst/>
                          <a:ea typeface="游ゴシック" panose="020B0400000000000000" pitchFamily="34" charset="-128"/>
                        </a:rPr>
                        <a:t>広告案件マスタ</a:t>
                      </a:r>
                      <a:endParaRPr lang="ja-JP" altLang="en-US" sz="2000" b="0" i="0">
                        <a:solidFill>
                          <a:srgbClr val="000000"/>
                        </a:solidFill>
                        <a:effectLst/>
                      </a:endParaRPr>
                    </a:p>
                  </a:txBody>
                  <a:tcPr marL="81588" marR="81588" marT="40794" marB="40794" anchor="ctr">
                    <a:lnL w="12700"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algn="l" fontAlgn="base">
                        <a:lnSpc>
                          <a:spcPct val="100000"/>
                        </a:lnSpc>
                        <a:buNone/>
                      </a:pPr>
                      <a:r>
                        <a:rPr lang="ja-JP" altLang="en-US" sz="1400" b="0" i="0">
                          <a:solidFill>
                            <a:srgbClr val="000000"/>
                          </a:solidFill>
                          <a:effectLst/>
                          <a:latin typeface="+mn-ea"/>
                          <a:ea typeface="+mn-ea"/>
                        </a:rPr>
                        <a:t>広告案件のマスタデータで</a:t>
                      </a:r>
                      <a:r>
                        <a:rPr lang="en-US" altLang="ja-JP" sz="1400" b="0" i="0" dirty="0">
                          <a:solidFill>
                            <a:srgbClr val="000000"/>
                          </a:solidFill>
                          <a:effectLst/>
                          <a:latin typeface="+mn-ea"/>
                          <a:ea typeface="+mn-ea"/>
                        </a:rPr>
                        <a:t>ID</a:t>
                      </a:r>
                      <a:r>
                        <a:rPr lang="ja-JP" altLang="en-US" sz="1400" b="0" i="0">
                          <a:solidFill>
                            <a:srgbClr val="000000"/>
                          </a:solidFill>
                          <a:effectLst/>
                          <a:latin typeface="+mn-ea"/>
                          <a:ea typeface="+mn-ea"/>
                        </a:rPr>
                        <a:t>で識別</a:t>
                      </a:r>
                      <a:r>
                        <a:rPr lang="en-US" altLang="ja-JP" sz="1400" b="0" i="0" dirty="0">
                          <a:solidFill>
                            <a:srgbClr val="000000"/>
                          </a:solidFill>
                          <a:effectLst/>
                          <a:latin typeface="+mn-ea"/>
                          <a:ea typeface="+mn-ea"/>
                        </a:rPr>
                        <a:t>ID</a:t>
                      </a:r>
                      <a:r>
                        <a:rPr lang="ja-JP" altLang="en-US" sz="1400" b="0" i="0">
                          <a:solidFill>
                            <a:srgbClr val="000000"/>
                          </a:solidFill>
                          <a:effectLst/>
                          <a:latin typeface="+mn-ea"/>
                          <a:ea typeface="+mn-ea"/>
                        </a:rPr>
                        <a:t>や業種の情報を含む</a:t>
                      </a:r>
                    </a:p>
                  </a:txBody>
                  <a:tcPr marL="81588" marR="81588" marT="40794" marB="40794" anchor="ctr">
                    <a:lnL w="9525" cap="flat" cmpd="sng" algn="ctr">
                      <a:solidFill>
                        <a:srgbClr val="80808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44932527"/>
                  </a:ext>
                </a:extLst>
              </a:tr>
            </a:tbl>
          </a:graphicData>
        </a:graphic>
      </p:graphicFrame>
    </p:spTree>
    <p:extLst>
      <p:ext uri="{BB962C8B-B14F-4D97-AF65-F5344CB8AC3E}">
        <p14:creationId xmlns:p14="http://schemas.microsoft.com/office/powerpoint/2010/main" val="215327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21E37-1266-B9DD-17E2-355F79434AEE}"/>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481FB3E-180D-6E33-589F-3D6144C34F8E}"/>
              </a:ext>
            </a:extLst>
          </p:cNvPr>
          <p:cNvSpPr>
            <a:spLocks noGrp="1"/>
          </p:cNvSpPr>
          <p:nvPr>
            <p:ph type="body" sz="quarter" idx="10"/>
          </p:nvPr>
        </p:nvSpPr>
        <p:spPr/>
        <p:txBody>
          <a:bodyPr/>
          <a:lstStyle/>
          <a:p>
            <a:r>
              <a:rPr kumimoji="1" lang="ja-JP" altLang="en-US"/>
              <a:t>入力データ（顧客マスタ）</a:t>
            </a:r>
          </a:p>
        </p:txBody>
      </p:sp>
      <p:graphicFrame>
        <p:nvGraphicFramePr>
          <p:cNvPr id="3" name="表 2">
            <a:extLst>
              <a:ext uri="{FF2B5EF4-FFF2-40B4-BE49-F238E27FC236}">
                <a16:creationId xmlns:a16="http://schemas.microsoft.com/office/drawing/2014/main" id="{CC88BA87-F044-B88F-A78F-01539028E365}"/>
              </a:ext>
            </a:extLst>
          </p:cNvPr>
          <p:cNvGraphicFramePr>
            <a:graphicFrameLocks noGrp="1"/>
          </p:cNvGraphicFramePr>
          <p:nvPr>
            <p:extLst>
              <p:ext uri="{D42A27DB-BD31-4B8C-83A1-F6EECF244321}">
                <p14:modId xmlns:p14="http://schemas.microsoft.com/office/powerpoint/2010/main" val="537294061"/>
              </p:ext>
            </p:extLst>
          </p:nvPr>
        </p:nvGraphicFramePr>
        <p:xfrm>
          <a:off x="510631" y="1143535"/>
          <a:ext cx="5386917" cy="5542915"/>
        </p:xfrm>
        <a:graphic>
          <a:graphicData uri="http://schemas.openxmlformats.org/drawingml/2006/table">
            <a:tbl>
              <a:tblPr/>
              <a:tblGrid>
                <a:gridCol w="3190057">
                  <a:extLst>
                    <a:ext uri="{9D8B030D-6E8A-4147-A177-3AD203B41FA5}">
                      <a16:colId xmlns:a16="http://schemas.microsoft.com/office/drawing/2014/main" val="1860217629"/>
                    </a:ext>
                  </a:extLst>
                </a:gridCol>
                <a:gridCol w="2196860">
                  <a:extLst>
                    <a:ext uri="{9D8B030D-6E8A-4147-A177-3AD203B41FA5}">
                      <a16:colId xmlns:a16="http://schemas.microsoft.com/office/drawing/2014/main" val="2598594059"/>
                    </a:ext>
                  </a:extLst>
                </a:gridCol>
              </a:tblGrid>
              <a:tr h="211297">
                <a:tc>
                  <a:txBody>
                    <a:bodyPr/>
                    <a:lstStyle/>
                    <a:p>
                      <a:pPr algn="ctr" fontAlgn="base">
                        <a:lnSpc>
                          <a:spcPts val="1425"/>
                        </a:lnSpc>
                        <a:buNone/>
                      </a:pPr>
                      <a:r>
                        <a:rPr lang="en-US" altLang="ja-JP" sz="1050" b="1" i="0" dirty="0">
                          <a:solidFill>
                            <a:srgbClr val="209EA4"/>
                          </a:solidFill>
                          <a:effectLst/>
                          <a:ea typeface="游ゴシック" panose="020B0400000000000000" pitchFamily="34" charset="-128"/>
                        </a:rPr>
                        <a:t>Column</a:t>
                      </a:r>
                      <a:endParaRPr lang="ja-JP" altLang="en-US" sz="1400" b="0" i="0">
                        <a:solidFill>
                          <a:srgbClr val="000000"/>
                        </a:solidFill>
                        <a:effectLst/>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ctr" fontAlgn="base">
                        <a:lnSpc>
                          <a:spcPts val="1425"/>
                        </a:lnSpc>
                        <a:buNone/>
                      </a:pPr>
                      <a:r>
                        <a:rPr lang="en-US" altLang="ja-JP" sz="1050" b="1" i="0" dirty="0">
                          <a:solidFill>
                            <a:srgbClr val="209EA4"/>
                          </a:solidFill>
                          <a:effectLst/>
                          <a:ea typeface="游ゴシック" panose="020B0400000000000000" pitchFamily="34" charset="-128"/>
                        </a:rPr>
                        <a:t>Description</a:t>
                      </a:r>
                      <a:endParaRPr lang="ja-JP" altLang="en-US" sz="1400" b="0" i="0">
                        <a:solidFill>
                          <a:srgbClr val="000000"/>
                        </a:solidFill>
                        <a:effectLst/>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30388067"/>
                  </a:ext>
                </a:extLst>
              </a:tr>
              <a:tr h="234394">
                <a:tc>
                  <a:txBody>
                    <a:bodyPr/>
                    <a:lstStyle/>
                    <a:p>
                      <a:pPr algn="l" fontAlgn="b">
                        <a:buNone/>
                      </a:pPr>
                      <a:r>
                        <a:rPr lang="en-US" sz="1050" u="none" strike="noStrike" dirty="0">
                          <a:effectLst/>
                        </a:rPr>
                        <a:t>CUST_ID</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顧客</a:t>
                      </a:r>
                      <a:r>
                        <a:rPr lang="en-US" sz="1050" u="none" strike="noStrike" dirty="0">
                          <a:effectLst/>
                        </a:rPr>
                        <a:t>ID</a:t>
                      </a:r>
                      <a:endParaRPr lang="en-US" sz="1050" b="0" i="0" u="none" strike="noStrike" dirty="0">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41950213"/>
                  </a:ext>
                </a:extLst>
              </a:tr>
              <a:tr h="234394">
                <a:tc>
                  <a:txBody>
                    <a:bodyPr/>
                    <a:lstStyle/>
                    <a:p>
                      <a:pPr algn="l" fontAlgn="b">
                        <a:buNone/>
                      </a:pPr>
                      <a:r>
                        <a:rPr lang="en-US" sz="1050" u="none" strike="noStrike" dirty="0">
                          <a:effectLst/>
                        </a:rPr>
                        <a:t>GETUMATUNENREI</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年齢</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353698089"/>
                  </a:ext>
                </a:extLst>
              </a:tr>
              <a:tr h="234394">
                <a:tc>
                  <a:txBody>
                    <a:bodyPr/>
                    <a:lstStyle/>
                    <a:p>
                      <a:pPr algn="l" fontAlgn="b">
                        <a:buNone/>
                      </a:pPr>
                      <a:r>
                        <a:rPr lang="en-US" sz="1050" u="none" strike="noStrike" dirty="0">
                          <a:effectLst/>
                        </a:rPr>
                        <a:t>SEIBETU</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性別</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723364090"/>
                  </a:ext>
                </a:extLst>
              </a:tr>
              <a:tr h="234394">
                <a:tc>
                  <a:txBody>
                    <a:bodyPr/>
                    <a:lstStyle/>
                    <a:p>
                      <a:pPr algn="l" fontAlgn="b">
                        <a:buNone/>
                      </a:pPr>
                      <a:r>
                        <a:rPr lang="en-US" sz="1050" u="none" strike="noStrike" dirty="0">
                          <a:effectLst/>
                        </a:rPr>
                        <a:t>JUSHO_KEN</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居住地</a:t>
                      </a:r>
                      <a:r>
                        <a:rPr lang="en-US" altLang="ja-JP" sz="1050" u="none" strike="noStrike" dirty="0">
                          <a:effectLst/>
                        </a:rPr>
                        <a:t>(</a:t>
                      </a:r>
                      <a:r>
                        <a:rPr lang="ja-JP" altLang="en-US" sz="1050" u="none" strike="noStrike">
                          <a:effectLst/>
                        </a:rPr>
                        <a:t>県</a:t>
                      </a:r>
                      <a:r>
                        <a:rPr lang="en-US" altLang="ja-JP" sz="1050" u="none" strike="noStrike" dirty="0">
                          <a:effectLst/>
                        </a:rPr>
                        <a:t>)</a:t>
                      </a:r>
                      <a:endParaRPr lang="en-US" altLang="ja-JP" sz="1050" b="0" i="0" u="none" strike="noStrike" dirty="0">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1762266"/>
                  </a:ext>
                </a:extLst>
              </a:tr>
              <a:tr h="234394">
                <a:tc>
                  <a:txBody>
                    <a:bodyPr/>
                    <a:lstStyle/>
                    <a:p>
                      <a:pPr algn="l" fontAlgn="b">
                        <a:buNone/>
                      </a:pPr>
                      <a:r>
                        <a:rPr lang="en-US" sz="1050" u="none" strike="noStrike">
                          <a:effectLst/>
                        </a:rPr>
                        <a:t>JUSHO_SHI</a:t>
                      </a:r>
                      <a:endParaRPr lang="en-US" sz="1050" b="0" i="0" u="none" strike="noStrike">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居住地</a:t>
                      </a:r>
                      <a:r>
                        <a:rPr lang="en-US" altLang="ja-JP" sz="1050" u="none" strike="noStrike" dirty="0">
                          <a:effectLst/>
                        </a:rPr>
                        <a:t>(</a:t>
                      </a:r>
                      <a:r>
                        <a:rPr lang="ja-JP" altLang="en-US" sz="1050" u="none" strike="noStrike">
                          <a:effectLst/>
                        </a:rPr>
                        <a:t>市区町村</a:t>
                      </a:r>
                      <a:r>
                        <a:rPr lang="en-US" altLang="ja-JP" sz="1050" u="none" strike="noStrike" dirty="0">
                          <a:effectLst/>
                        </a:rPr>
                        <a:t>)</a:t>
                      </a:r>
                      <a:endParaRPr lang="en-US" altLang="ja-JP" sz="1050" b="0" i="0" u="none" strike="noStrike" dirty="0">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550991874"/>
                  </a:ext>
                </a:extLst>
              </a:tr>
              <a:tr h="234394">
                <a:tc>
                  <a:txBody>
                    <a:bodyPr/>
                    <a:lstStyle/>
                    <a:p>
                      <a:pPr algn="l" fontAlgn="b">
                        <a:buNone/>
                      </a:pPr>
                      <a:r>
                        <a:rPr lang="en-US" sz="1050" u="none" strike="noStrike" dirty="0">
                          <a:effectLst/>
                        </a:rPr>
                        <a:t>JUSHO_AZA</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居住地</a:t>
                      </a:r>
                      <a:r>
                        <a:rPr lang="en-US" altLang="ja-JP" sz="1050" u="none" strike="noStrike" dirty="0">
                          <a:effectLst/>
                        </a:rPr>
                        <a:t>(</a:t>
                      </a:r>
                      <a:r>
                        <a:rPr lang="ja-JP" altLang="en-US" sz="1050" u="none" strike="noStrike">
                          <a:effectLst/>
                        </a:rPr>
                        <a:t>町以下</a:t>
                      </a:r>
                      <a:r>
                        <a:rPr lang="en-US" altLang="ja-JP" sz="1050" u="none" strike="noStrike" dirty="0">
                          <a:effectLst/>
                        </a:rPr>
                        <a:t>)</a:t>
                      </a:r>
                      <a:endParaRPr lang="en-US" altLang="ja-JP" sz="1050" b="0" i="0" u="none" strike="noStrike" dirty="0">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42381698"/>
                  </a:ext>
                </a:extLst>
              </a:tr>
              <a:tr h="234394">
                <a:tc>
                  <a:txBody>
                    <a:bodyPr/>
                    <a:lstStyle/>
                    <a:p>
                      <a:pPr algn="l" fontAlgn="b">
                        <a:buNone/>
                      </a:pPr>
                      <a:r>
                        <a:rPr lang="en-US" sz="1050" u="none" strike="noStrike" dirty="0">
                          <a:effectLst/>
                        </a:rPr>
                        <a:t>KODOMO_FLG</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子供有</a:t>
                      </a:r>
                      <a:r>
                        <a:rPr lang="en-US" sz="1050" u="none" strike="noStrike" dirty="0">
                          <a:effectLst/>
                        </a:rPr>
                        <a:t>FLG</a:t>
                      </a:r>
                      <a:endParaRPr lang="en-US" sz="1050" b="0" i="0" u="none" strike="noStrike" dirty="0">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26592339"/>
                  </a:ext>
                </a:extLst>
              </a:tr>
              <a:tr h="234394">
                <a:tc>
                  <a:txBody>
                    <a:bodyPr/>
                    <a:lstStyle/>
                    <a:p>
                      <a:pPr algn="l" fontAlgn="b">
                        <a:buNone/>
                      </a:pPr>
                      <a:r>
                        <a:rPr lang="en-US" sz="1050" u="none" strike="noStrike" dirty="0">
                          <a:effectLst/>
                        </a:rPr>
                        <a:t>MARRY_FLG</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既婚</a:t>
                      </a:r>
                      <a:r>
                        <a:rPr lang="en-US" sz="1050" u="none" strike="noStrike" dirty="0">
                          <a:effectLst/>
                        </a:rPr>
                        <a:t>FLG</a:t>
                      </a:r>
                      <a:endParaRPr lang="en-US" sz="1050" b="0" i="0" u="none" strike="noStrike" dirty="0">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413246478"/>
                  </a:ext>
                </a:extLst>
              </a:tr>
              <a:tr h="234394">
                <a:tc>
                  <a:txBody>
                    <a:bodyPr/>
                    <a:lstStyle/>
                    <a:p>
                      <a:pPr algn="l" fontAlgn="b">
                        <a:buNone/>
                      </a:pPr>
                      <a:r>
                        <a:rPr lang="en-US" sz="1050" u="none" strike="noStrike" dirty="0">
                          <a:effectLst/>
                        </a:rPr>
                        <a:t>NYUKIN_SUM</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個人の年間収入</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499591425"/>
                  </a:ext>
                </a:extLst>
              </a:tr>
              <a:tr h="234394">
                <a:tc>
                  <a:txBody>
                    <a:bodyPr/>
                    <a:lstStyle/>
                    <a:p>
                      <a:pPr algn="l" fontAlgn="b">
                        <a:buNone/>
                      </a:pPr>
                      <a:r>
                        <a:rPr lang="en-US" sz="1050" u="none" strike="noStrike" dirty="0">
                          <a:effectLst/>
                        </a:rPr>
                        <a:t>NYUKIN_SETAI_SUM_TRUE</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世帯の年間収入</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721671365"/>
                  </a:ext>
                </a:extLst>
              </a:tr>
              <a:tr h="234394">
                <a:tc>
                  <a:txBody>
                    <a:bodyPr/>
                    <a:lstStyle/>
                    <a:p>
                      <a:pPr algn="l" fontAlgn="b">
                        <a:buNone/>
                      </a:pPr>
                      <a:r>
                        <a:rPr lang="en-US" sz="1050" u="none" strike="noStrike" dirty="0">
                          <a:effectLst/>
                        </a:rPr>
                        <a:t>SOAZUKARISANKOMM</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個人資産</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039799082"/>
                  </a:ext>
                </a:extLst>
              </a:tr>
              <a:tr h="234394">
                <a:tc>
                  <a:txBody>
                    <a:bodyPr/>
                    <a:lstStyle/>
                    <a:p>
                      <a:pPr algn="l" fontAlgn="b">
                        <a:buNone/>
                      </a:pPr>
                      <a:r>
                        <a:rPr lang="en-US" sz="1050" u="none" strike="noStrike">
                          <a:effectLst/>
                        </a:rPr>
                        <a:t>AZUKARI_SETAI_SUM_TRUE</a:t>
                      </a:r>
                      <a:endParaRPr lang="en-US" sz="1050" b="0" i="0" u="none" strike="noStrike">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世帯資産</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92650573"/>
                  </a:ext>
                </a:extLst>
              </a:tr>
              <a:tr h="234394">
                <a:tc>
                  <a:txBody>
                    <a:bodyPr/>
                    <a:lstStyle/>
                    <a:p>
                      <a:pPr algn="l" fontAlgn="b">
                        <a:buNone/>
                      </a:pPr>
                      <a:r>
                        <a:rPr lang="en-US" sz="1050" u="none" strike="noStrike" dirty="0">
                          <a:effectLst/>
                        </a:rPr>
                        <a:t>EVENT_ADMISSION_HS_CHILD</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子ども高校入学</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957974040"/>
                  </a:ext>
                </a:extLst>
              </a:tr>
              <a:tr h="234394">
                <a:tc>
                  <a:txBody>
                    <a:bodyPr/>
                    <a:lstStyle/>
                    <a:p>
                      <a:pPr algn="l" fontAlgn="b">
                        <a:buNone/>
                      </a:pPr>
                      <a:r>
                        <a:rPr lang="en-US" sz="1050" u="none" strike="noStrike">
                          <a:effectLst/>
                        </a:rPr>
                        <a:t>EVENT_ADMISSION_UNIV</a:t>
                      </a:r>
                      <a:endParaRPr lang="en-US" sz="1050" b="0" i="0" u="none" strike="noStrike">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大学入学</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029226378"/>
                  </a:ext>
                </a:extLst>
              </a:tr>
              <a:tr h="234394">
                <a:tc>
                  <a:txBody>
                    <a:bodyPr/>
                    <a:lstStyle/>
                    <a:p>
                      <a:pPr algn="l" fontAlgn="b">
                        <a:buNone/>
                      </a:pPr>
                      <a:r>
                        <a:rPr lang="en-US" sz="1050" u="none" strike="noStrike">
                          <a:effectLst/>
                        </a:rPr>
                        <a:t>EVENT_ADMISSION_UNIV_CHILD</a:t>
                      </a:r>
                      <a:endParaRPr lang="en-US" sz="1050" b="0" i="0" u="none" strike="noStrike">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子ども大学入学</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402451174"/>
                  </a:ext>
                </a:extLst>
              </a:tr>
              <a:tr h="234394">
                <a:tc>
                  <a:txBody>
                    <a:bodyPr/>
                    <a:lstStyle/>
                    <a:p>
                      <a:pPr algn="l" fontAlgn="b">
                        <a:buNone/>
                      </a:pPr>
                      <a:r>
                        <a:rPr lang="en-US" sz="1050" u="none" strike="noStrike">
                          <a:effectLst/>
                        </a:rPr>
                        <a:t>EVENT_ARBAIT</a:t>
                      </a:r>
                      <a:endParaRPr lang="en-US" sz="1050" b="0" i="0" u="none" strike="noStrike">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アルバイト</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328852852"/>
                  </a:ext>
                </a:extLst>
              </a:tr>
              <a:tr h="234394">
                <a:tc>
                  <a:txBody>
                    <a:bodyPr/>
                    <a:lstStyle/>
                    <a:p>
                      <a:pPr algn="l" fontAlgn="b">
                        <a:buNone/>
                      </a:pPr>
                      <a:r>
                        <a:rPr lang="en-US" sz="1050" u="none" strike="noStrike">
                          <a:effectLst/>
                        </a:rPr>
                        <a:t>EVENT_FRESHMAN</a:t>
                      </a:r>
                      <a:endParaRPr lang="en-US" sz="1050" b="0" i="0" u="none" strike="noStrike">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新卒社会人</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3721989"/>
                  </a:ext>
                </a:extLst>
              </a:tr>
              <a:tr h="234394">
                <a:tc>
                  <a:txBody>
                    <a:bodyPr/>
                    <a:lstStyle/>
                    <a:p>
                      <a:pPr algn="l" fontAlgn="b">
                        <a:buNone/>
                      </a:pPr>
                      <a:r>
                        <a:rPr lang="en-US" sz="1050" u="none" strike="noStrike">
                          <a:effectLst/>
                        </a:rPr>
                        <a:t>EVENT_GRAD_UNIV_CHILD</a:t>
                      </a:r>
                      <a:endParaRPr lang="en-US" sz="1050" b="0" i="0" u="none" strike="noStrike">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子ども大学卒業</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466515882"/>
                  </a:ext>
                </a:extLst>
              </a:tr>
              <a:tr h="234394">
                <a:tc>
                  <a:txBody>
                    <a:bodyPr/>
                    <a:lstStyle/>
                    <a:p>
                      <a:pPr algn="l" fontAlgn="b">
                        <a:buNone/>
                      </a:pPr>
                      <a:r>
                        <a:rPr lang="en-US" sz="1050" u="none" strike="noStrike">
                          <a:effectLst/>
                        </a:rPr>
                        <a:t>EVENT_HIKKOSI</a:t>
                      </a:r>
                      <a:endParaRPr lang="en-US" sz="1050" b="0" i="0" u="none" strike="noStrike">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引っ越し</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666184078"/>
                  </a:ext>
                </a:extLst>
              </a:tr>
              <a:tr h="234394">
                <a:tc>
                  <a:txBody>
                    <a:bodyPr/>
                    <a:lstStyle/>
                    <a:p>
                      <a:pPr algn="l" fontAlgn="b">
                        <a:buNone/>
                      </a:pPr>
                      <a:r>
                        <a:rPr lang="en-US" sz="1050" u="none" strike="noStrike" dirty="0">
                          <a:effectLst/>
                        </a:rPr>
                        <a:t>EVENT_JOB_CHANGE</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転職</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55888043"/>
                  </a:ext>
                </a:extLst>
              </a:tr>
              <a:tr h="234394">
                <a:tc>
                  <a:txBody>
                    <a:bodyPr/>
                    <a:lstStyle/>
                    <a:p>
                      <a:pPr algn="l" fontAlgn="b">
                        <a:buNone/>
                      </a:pPr>
                      <a:r>
                        <a:rPr lang="en-US" sz="1050" u="none" strike="noStrike" dirty="0">
                          <a:effectLst/>
                        </a:rPr>
                        <a:t>EVENT_JUTAKU</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住宅購入</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445278772"/>
                  </a:ext>
                </a:extLst>
              </a:tr>
            </a:tbl>
          </a:graphicData>
        </a:graphic>
      </p:graphicFrame>
      <p:graphicFrame>
        <p:nvGraphicFramePr>
          <p:cNvPr id="8" name="表 7">
            <a:extLst>
              <a:ext uri="{FF2B5EF4-FFF2-40B4-BE49-F238E27FC236}">
                <a16:creationId xmlns:a16="http://schemas.microsoft.com/office/drawing/2014/main" id="{1F0C67C1-C85B-4364-A781-183321F9BA41}"/>
              </a:ext>
            </a:extLst>
          </p:cNvPr>
          <p:cNvGraphicFramePr>
            <a:graphicFrameLocks noGrp="1"/>
          </p:cNvGraphicFramePr>
          <p:nvPr>
            <p:extLst>
              <p:ext uri="{D42A27DB-BD31-4B8C-83A1-F6EECF244321}">
                <p14:modId xmlns:p14="http://schemas.microsoft.com/office/powerpoint/2010/main" val="381176146"/>
              </p:ext>
            </p:extLst>
          </p:nvPr>
        </p:nvGraphicFramePr>
        <p:xfrm>
          <a:off x="6294453" y="1143535"/>
          <a:ext cx="5386917" cy="5542915"/>
        </p:xfrm>
        <a:graphic>
          <a:graphicData uri="http://schemas.openxmlformats.org/drawingml/2006/table">
            <a:tbl>
              <a:tblPr/>
              <a:tblGrid>
                <a:gridCol w="3190057">
                  <a:extLst>
                    <a:ext uri="{9D8B030D-6E8A-4147-A177-3AD203B41FA5}">
                      <a16:colId xmlns:a16="http://schemas.microsoft.com/office/drawing/2014/main" val="1860217629"/>
                    </a:ext>
                  </a:extLst>
                </a:gridCol>
                <a:gridCol w="2196860">
                  <a:extLst>
                    <a:ext uri="{9D8B030D-6E8A-4147-A177-3AD203B41FA5}">
                      <a16:colId xmlns:a16="http://schemas.microsoft.com/office/drawing/2014/main" val="2598594059"/>
                    </a:ext>
                  </a:extLst>
                </a:gridCol>
              </a:tblGrid>
              <a:tr h="252042">
                <a:tc>
                  <a:txBody>
                    <a:bodyPr/>
                    <a:lstStyle/>
                    <a:p>
                      <a:pPr algn="ctr" fontAlgn="base">
                        <a:lnSpc>
                          <a:spcPts val="1425"/>
                        </a:lnSpc>
                        <a:buNone/>
                      </a:pPr>
                      <a:r>
                        <a:rPr lang="en-US" altLang="ja-JP" sz="1050" b="1" i="0" dirty="0">
                          <a:solidFill>
                            <a:srgbClr val="209EA4"/>
                          </a:solidFill>
                          <a:effectLst/>
                          <a:ea typeface="游ゴシック" panose="020B0400000000000000" pitchFamily="34" charset="-128"/>
                        </a:rPr>
                        <a:t>Column</a:t>
                      </a:r>
                      <a:endParaRPr lang="ja-JP" altLang="en-US" sz="1400" b="0" i="0">
                        <a:solidFill>
                          <a:srgbClr val="000000"/>
                        </a:solidFill>
                        <a:effectLst/>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ctr" fontAlgn="base">
                        <a:lnSpc>
                          <a:spcPts val="1425"/>
                        </a:lnSpc>
                        <a:buNone/>
                      </a:pPr>
                      <a:r>
                        <a:rPr lang="en-US" altLang="ja-JP" sz="1050" b="1" i="0" dirty="0">
                          <a:solidFill>
                            <a:srgbClr val="209EA4"/>
                          </a:solidFill>
                          <a:effectLst/>
                          <a:ea typeface="游ゴシック" panose="020B0400000000000000" pitchFamily="34" charset="-128"/>
                        </a:rPr>
                        <a:t>Description</a:t>
                      </a:r>
                      <a:endParaRPr lang="ja-JP" altLang="en-US" sz="1400" b="0" i="0">
                        <a:solidFill>
                          <a:srgbClr val="000000"/>
                        </a:solidFill>
                        <a:effectLst/>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30388067"/>
                  </a:ext>
                </a:extLst>
              </a:tr>
              <a:tr h="247314">
                <a:tc>
                  <a:txBody>
                    <a:bodyPr/>
                    <a:lstStyle/>
                    <a:p>
                      <a:pPr algn="l" fontAlgn="b">
                        <a:buNone/>
                      </a:pPr>
                      <a:r>
                        <a:rPr lang="en-US" sz="1050" u="none" strike="noStrike" dirty="0">
                          <a:effectLst/>
                        </a:rPr>
                        <a:t>EVENT_MARRY</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結婚</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41950213"/>
                  </a:ext>
                </a:extLst>
              </a:tr>
              <a:tr h="247314">
                <a:tc>
                  <a:txBody>
                    <a:bodyPr/>
                    <a:lstStyle/>
                    <a:p>
                      <a:pPr algn="l" fontAlgn="b">
                        <a:buNone/>
                      </a:pPr>
                      <a:r>
                        <a:rPr lang="en-US" sz="1050" u="none" strike="noStrike" dirty="0">
                          <a:effectLst/>
                        </a:rPr>
                        <a:t>EVENT_NARAIGOTO_CHILD</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子ども習い事</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220221155"/>
                  </a:ext>
                </a:extLst>
              </a:tr>
              <a:tr h="247314">
                <a:tc>
                  <a:txBody>
                    <a:bodyPr/>
                    <a:lstStyle/>
                    <a:p>
                      <a:pPr algn="l" fontAlgn="b">
                        <a:buNone/>
                      </a:pPr>
                      <a:r>
                        <a:rPr lang="en-US" sz="1050" u="none" strike="noStrike" dirty="0">
                          <a:effectLst/>
                        </a:rPr>
                        <a:t>EVENT_PROMOTION</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昇進</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353698089"/>
                  </a:ext>
                </a:extLst>
              </a:tr>
              <a:tr h="247314">
                <a:tc>
                  <a:txBody>
                    <a:bodyPr/>
                    <a:lstStyle/>
                    <a:p>
                      <a:pPr algn="l" fontAlgn="b">
                        <a:buNone/>
                      </a:pPr>
                      <a:r>
                        <a:rPr lang="en-US" sz="1050" u="none" strike="noStrike" dirty="0">
                          <a:effectLst/>
                        </a:rPr>
                        <a:t>EVENT_SHUSSAN</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出産</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723364090"/>
                  </a:ext>
                </a:extLst>
              </a:tr>
              <a:tr h="247314">
                <a:tc>
                  <a:txBody>
                    <a:bodyPr/>
                    <a:lstStyle/>
                    <a:p>
                      <a:pPr algn="l" fontAlgn="b">
                        <a:buNone/>
                      </a:pPr>
                      <a:r>
                        <a:rPr lang="en-US" sz="1050" u="none" strike="noStrike" dirty="0">
                          <a:effectLst/>
                        </a:rPr>
                        <a:t>EVENT_SOZOKU</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相続</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1762266"/>
                  </a:ext>
                </a:extLst>
              </a:tr>
              <a:tr h="247314">
                <a:tc>
                  <a:txBody>
                    <a:bodyPr/>
                    <a:lstStyle/>
                    <a:p>
                      <a:pPr algn="l" fontAlgn="b">
                        <a:buNone/>
                      </a:pPr>
                      <a:r>
                        <a:rPr lang="en-US" sz="1050" u="none" strike="noStrike" dirty="0">
                          <a:effectLst/>
                        </a:rPr>
                        <a:t>EVENT_SYUSHOKU</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就職</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550991874"/>
                  </a:ext>
                </a:extLst>
              </a:tr>
              <a:tr h="247314">
                <a:tc>
                  <a:txBody>
                    <a:bodyPr/>
                    <a:lstStyle/>
                    <a:p>
                      <a:pPr algn="l" fontAlgn="b">
                        <a:buNone/>
                      </a:pPr>
                      <a:r>
                        <a:rPr lang="en-US" sz="1050" u="none" strike="noStrike" dirty="0">
                          <a:effectLst/>
                        </a:rPr>
                        <a:t>EVENT_TAISHOKU</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退職</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42381698"/>
                  </a:ext>
                </a:extLst>
              </a:tr>
              <a:tr h="247314">
                <a:tc>
                  <a:txBody>
                    <a:bodyPr/>
                    <a:lstStyle/>
                    <a:p>
                      <a:pPr algn="l" fontAlgn="b">
                        <a:buNone/>
                      </a:pPr>
                      <a:r>
                        <a:rPr lang="en-US" sz="1050" u="none" strike="noStrike" dirty="0">
                          <a:effectLst/>
                        </a:rPr>
                        <a:t>EVENT_TRAVEL</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旅行</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26592339"/>
                  </a:ext>
                </a:extLst>
              </a:tr>
              <a:tr h="247314">
                <a:tc>
                  <a:txBody>
                    <a:bodyPr/>
                    <a:lstStyle/>
                    <a:p>
                      <a:pPr algn="l" fontAlgn="b">
                        <a:buNone/>
                      </a:pPr>
                      <a:r>
                        <a:rPr lang="en-US" sz="1050" u="none" strike="noStrike" dirty="0">
                          <a:effectLst/>
                        </a:rPr>
                        <a:t>LOANMM</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借入残高</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413246478"/>
                  </a:ext>
                </a:extLst>
              </a:tr>
              <a:tr h="247314">
                <a:tc>
                  <a:txBody>
                    <a:bodyPr/>
                    <a:lstStyle/>
                    <a:p>
                      <a:pPr algn="l" fontAlgn="b">
                        <a:buNone/>
                      </a:pPr>
                      <a:r>
                        <a:rPr lang="en-US" sz="1050" u="none" strike="noStrike" dirty="0">
                          <a:effectLst/>
                        </a:rPr>
                        <a:t>TOSINMM</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投信残高</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499591425"/>
                  </a:ext>
                </a:extLst>
              </a:tr>
              <a:tr h="247314">
                <a:tc>
                  <a:txBody>
                    <a:bodyPr/>
                    <a:lstStyle/>
                    <a:p>
                      <a:pPr algn="l" fontAlgn="b">
                        <a:buNone/>
                      </a:pPr>
                      <a:r>
                        <a:rPr lang="en-US" sz="1050" u="none" strike="noStrike" dirty="0">
                          <a:effectLst/>
                        </a:rPr>
                        <a:t>GAIKAMM</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外貨残高</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721671365"/>
                  </a:ext>
                </a:extLst>
              </a:tr>
              <a:tr h="247314">
                <a:tc>
                  <a:txBody>
                    <a:bodyPr/>
                    <a:lstStyle/>
                    <a:p>
                      <a:pPr algn="l" fontAlgn="b">
                        <a:buNone/>
                      </a:pPr>
                      <a:r>
                        <a:rPr lang="en-US" sz="1050" u="none" strike="noStrike" dirty="0">
                          <a:effectLst/>
                        </a:rPr>
                        <a:t>SHOKENKOZASANKOMM</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証券口座残高</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039799082"/>
                  </a:ext>
                </a:extLst>
              </a:tr>
              <a:tr h="247314">
                <a:tc>
                  <a:txBody>
                    <a:bodyPr/>
                    <a:lstStyle/>
                    <a:p>
                      <a:pPr algn="l" fontAlgn="b">
                        <a:buNone/>
                      </a:pPr>
                      <a:r>
                        <a:rPr lang="en-US" sz="1050" u="none" strike="noStrike" dirty="0">
                          <a:effectLst/>
                        </a:rPr>
                        <a:t>SEIMEIHOKENSANKOMM</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生命保険残高</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92650573"/>
                  </a:ext>
                </a:extLst>
              </a:tr>
              <a:tr h="247314">
                <a:tc>
                  <a:txBody>
                    <a:bodyPr/>
                    <a:lstStyle/>
                    <a:p>
                      <a:pPr algn="l" fontAlgn="b">
                        <a:buNone/>
                      </a:pPr>
                      <a:r>
                        <a:rPr lang="en-US" sz="1050" u="none" strike="noStrike" dirty="0">
                          <a:effectLst/>
                        </a:rPr>
                        <a:t>SAIKENHOGOAZUKARIMM</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債券保護預り残高</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957974040"/>
                  </a:ext>
                </a:extLst>
              </a:tr>
              <a:tr h="247314">
                <a:tc>
                  <a:txBody>
                    <a:bodyPr/>
                    <a:lstStyle/>
                    <a:p>
                      <a:pPr algn="l" fontAlgn="b">
                        <a:buNone/>
                      </a:pPr>
                      <a:r>
                        <a:rPr lang="en-US" sz="1050" u="none" strike="noStrike" dirty="0">
                          <a:effectLst/>
                        </a:rPr>
                        <a:t>NHK TORIATUKAIAMTT</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en-US" sz="1050" u="none" strike="noStrike" dirty="0">
                          <a:effectLst/>
                        </a:rPr>
                        <a:t>NHK</a:t>
                      </a:r>
                      <a:r>
                        <a:rPr lang="ja-JP" altLang="en-US" sz="1050" u="none" strike="noStrike">
                          <a:effectLst/>
                        </a:rPr>
                        <a:t>引落額</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029226378"/>
                  </a:ext>
                </a:extLst>
              </a:tr>
              <a:tr h="247314">
                <a:tc>
                  <a:txBody>
                    <a:bodyPr/>
                    <a:lstStyle/>
                    <a:p>
                      <a:pPr algn="l" fontAlgn="b">
                        <a:buNone/>
                      </a:pPr>
                      <a:r>
                        <a:rPr lang="en-US" sz="1050" u="none" strike="noStrike" dirty="0">
                          <a:effectLst/>
                        </a:rPr>
                        <a:t>TELTORIATUKAIAMT</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電話代引落額</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402451174"/>
                  </a:ext>
                </a:extLst>
              </a:tr>
              <a:tr h="247314">
                <a:tc>
                  <a:txBody>
                    <a:bodyPr/>
                    <a:lstStyle/>
                    <a:p>
                      <a:pPr algn="l" fontAlgn="b">
                        <a:buNone/>
                      </a:pPr>
                      <a:r>
                        <a:rPr lang="en-US" sz="1050" u="none" strike="noStrike" dirty="0">
                          <a:effectLst/>
                        </a:rPr>
                        <a:t>DENKITORIATUKAIAMT</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電気代引落額</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328852852"/>
                  </a:ext>
                </a:extLst>
              </a:tr>
              <a:tr h="247314">
                <a:tc>
                  <a:txBody>
                    <a:bodyPr/>
                    <a:lstStyle/>
                    <a:p>
                      <a:pPr algn="l" fontAlgn="b">
                        <a:buNone/>
                      </a:pPr>
                      <a:r>
                        <a:rPr lang="en-US" sz="1050" u="none" strike="noStrike" dirty="0">
                          <a:effectLst/>
                        </a:rPr>
                        <a:t>GASTORIATUKAIAMT</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ガス代引落額</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3721989"/>
                  </a:ext>
                </a:extLst>
              </a:tr>
              <a:tr h="247314">
                <a:tc>
                  <a:txBody>
                    <a:bodyPr/>
                    <a:lstStyle/>
                    <a:p>
                      <a:pPr algn="l" fontAlgn="b">
                        <a:buNone/>
                      </a:pPr>
                      <a:r>
                        <a:rPr lang="en-US" sz="1050" u="none" strike="noStrike" dirty="0">
                          <a:effectLst/>
                        </a:rPr>
                        <a:t>SUIDOTORIATUKAIAMT</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水道料金引落額</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466515882"/>
                  </a:ext>
                </a:extLst>
              </a:tr>
              <a:tr h="247314">
                <a:tc>
                  <a:txBody>
                    <a:bodyPr/>
                    <a:lstStyle/>
                    <a:p>
                      <a:pPr algn="l" fontAlgn="b">
                        <a:buNone/>
                      </a:pPr>
                      <a:r>
                        <a:rPr lang="en-US" sz="1050" u="none" strike="noStrike" dirty="0">
                          <a:effectLst/>
                        </a:rPr>
                        <a:t>YATINTORIATUKAIAMT</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家賃引落額</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666184078"/>
                  </a:ext>
                </a:extLst>
              </a:tr>
              <a:tr h="0">
                <a:tc>
                  <a:txBody>
                    <a:bodyPr/>
                    <a:lstStyle/>
                    <a:p>
                      <a:pPr algn="l" fontAlgn="b">
                        <a:buNone/>
                      </a:pPr>
                      <a:r>
                        <a:rPr lang="en-US" sz="1050" u="none" strike="noStrike" dirty="0">
                          <a:effectLst/>
                        </a:rPr>
                        <a:t>GAKUHITORIATUKAIAMAT</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学費引落額</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155888043"/>
                  </a:ext>
                </a:extLst>
              </a:tr>
            </a:tbl>
          </a:graphicData>
        </a:graphic>
      </p:graphicFrame>
    </p:spTree>
    <p:extLst>
      <p:ext uri="{BB962C8B-B14F-4D97-AF65-F5344CB8AC3E}">
        <p14:creationId xmlns:p14="http://schemas.microsoft.com/office/powerpoint/2010/main" val="2533873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3D7E2-44C5-8090-E2D5-CAB7B740FA0E}"/>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C51EAF1-FD90-DE57-C5A2-69FAAF1B4191}"/>
              </a:ext>
            </a:extLst>
          </p:cNvPr>
          <p:cNvSpPr>
            <a:spLocks noGrp="1"/>
          </p:cNvSpPr>
          <p:nvPr>
            <p:ph type="body" sz="quarter" idx="10"/>
          </p:nvPr>
        </p:nvSpPr>
        <p:spPr/>
        <p:txBody>
          <a:bodyPr>
            <a:normAutofit/>
          </a:bodyPr>
          <a:lstStyle/>
          <a:p>
            <a:r>
              <a:rPr kumimoji="1" lang="ja-JP" altLang="en-US"/>
              <a:t>入力</a:t>
            </a:r>
            <a:r>
              <a:rPr lang="ja-JP" altLang="en-US"/>
              <a:t>データ（過去配信実績反応履歴</a:t>
            </a:r>
            <a:r>
              <a:rPr kumimoji="1" lang="ja-JP" altLang="en-US"/>
              <a:t>）</a:t>
            </a:r>
          </a:p>
        </p:txBody>
      </p:sp>
      <p:graphicFrame>
        <p:nvGraphicFramePr>
          <p:cNvPr id="3" name="表 2">
            <a:extLst>
              <a:ext uri="{FF2B5EF4-FFF2-40B4-BE49-F238E27FC236}">
                <a16:creationId xmlns:a16="http://schemas.microsoft.com/office/drawing/2014/main" id="{32A39DCF-29E4-5E9D-AB5B-F09353E54907}"/>
              </a:ext>
            </a:extLst>
          </p:cNvPr>
          <p:cNvGraphicFramePr>
            <a:graphicFrameLocks noGrp="1"/>
          </p:cNvGraphicFramePr>
          <p:nvPr>
            <p:extLst>
              <p:ext uri="{D42A27DB-BD31-4B8C-83A1-F6EECF244321}">
                <p14:modId xmlns:p14="http://schemas.microsoft.com/office/powerpoint/2010/main" val="1351095132"/>
              </p:ext>
            </p:extLst>
          </p:nvPr>
        </p:nvGraphicFramePr>
        <p:xfrm>
          <a:off x="510631" y="1143535"/>
          <a:ext cx="10941140" cy="1519555"/>
        </p:xfrm>
        <a:graphic>
          <a:graphicData uri="http://schemas.openxmlformats.org/drawingml/2006/table">
            <a:tbl>
              <a:tblPr/>
              <a:tblGrid>
                <a:gridCol w="3713026">
                  <a:extLst>
                    <a:ext uri="{9D8B030D-6E8A-4147-A177-3AD203B41FA5}">
                      <a16:colId xmlns:a16="http://schemas.microsoft.com/office/drawing/2014/main" val="1860217629"/>
                    </a:ext>
                  </a:extLst>
                </a:gridCol>
                <a:gridCol w="7228114">
                  <a:extLst>
                    <a:ext uri="{9D8B030D-6E8A-4147-A177-3AD203B41FA5}">
                      <a16:colId xmlns:a16="http://schemas.microsoft.com/office/drawing/2014/main" val="2598594059"/>
                    </a:ext>
                  </a:extLst>
                </a:gridCol>
              </a:tblGrid>
              <a:tr h="211297">
                <a:tc>
                  <a:txBody>
                    <a:bodyPr/>
                    <a:lstStyle/>
                    <a:p>
                      <a:pPr algn="ctr" fontAlgn="base">
                        <a:lnSpc>
                          <a:spcPts val="1425"/>
                        </a:lnSpc>
                        <a:buNone/>
                      </a:pPr>
                      <a:r>
                        <a:rPr lang="en-US" altLang="ja-JP" sz="1050" b="1" i="0" dirty="0">
                          <a:solidFill>
                            <a:srgbClr val="209EA4"/>
                          </a:solidFill>
                          <a:effectLst/>
                          <a:ea typeface="游ゴシック" panose="020B0400000000000000" pitchFamily="34" charset="-128"/>
                        </a:rPr>
                        <a:t>Column</a:t>
                      </a:r>
                      <a:endParaRPr lang="ja-JP" altLang="en-US" sz="1400" b="0" i="0">
                        <a:solidFill>
                          <a:srgbClr val="000000"/>
                        </a:solidFill>
                        <a:effectLst/>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ctr" fontAlgn="base">
                        <a:lnSpc>
                          <a:spcPts val="1425"/>
                        </a:lnSpc>
                        <a:buNone/>
                      </a:pPr>
                      <a:r>
                        <a:rPr lang="en-US" altLang="ja-JP" sz="1050" b="1" i="0" dirty="0">
                          <a:solidFill>
                            <a:srgbClr val="209EA4"/>
                          </a:solidFill>
                          <a:effectLst/>
                          <a:ea typeface="游ゴシック" panose="020B0400000000000000" pitchFamily="34" charset="-128"/>
                        </a:rPr>
                        <a:t>Description</a:t>
                      </a:r>
                      <a:endParaRPr lang="ja-JP" altLang="en-US" sz="1400" b="0" i="0">
                        <a:solidFill>
                          <a:srgbClr val="000000"/>
                        </a:solidFill>
                        <a:effectLst/>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30388067"/>
                  </a:ext>
                </a:extLst>
              </a:tr>
              <a:tr h="234394">
                <a:tc>
                  <a:txBody>
                    <a:bodyPr/>
                    <a:lstStyle/>
                    <a:p>
                      <a:pPr algn="l" fontAlgn="b">
                        <a:buNone/>
                      </a:pPr>
                      <a:r>
                        <a:rPr lang="en-US" sz="1050" u="none" strike="noStrike" dirty="0">
                          <a:effectLst/>
                        </a:rPr>
                        <a:t>CUST_ID</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顧客</a:t>
                      </a:r>
                      <a:r>
                        <a:rPr lang="en-US" sz="1050" u="none" strike="noStrike" dirty="0">
                          <a:effectLst/>
                        </a:rPr>
                        <a:t>ID</a:t>
                      </a:r>
                      <a:endParaRPr lang="en-US" sz="1050" b="0" i="0" u="none" strike="noStrike" dirty="0">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41950213"/>
                  </a:ext>
                </a:extLst>
              </a:tr>
              <a:tr h="234394">
                <a:tc>
                  <a:txBody>
                    <a:bodyPr/>
                    <a:lstStyle/>
                    <a:p>
                      <a:pPr algn="l" fontAlgn="b">
                        <a:buNone/>
                      </a:pPr>
                      <a:r>
                        <a:rPr lang="en-US" sz="1050" u="none" strike="noStrike" dirty="0">
                          <a:effectLst/>
                        </a:rPr>
                        <a:t>CAMPAIGN_ID</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広告案件</a:t>
                      </a:r>
                      <a:r>
                        <a:rPr lang="en-US" altLang="ja-JP" sz="1050" u="none" strike="noStrike" dirty="0">
                          <a:effectLst/>
                        </a:rPr>
                        <a:t>ID</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353698089"/>
                  </a:ext>
                </a:extLst>
              </a:tr>
              <a:tr h="234394">
                <a:tc>
                  <a:txBody>
                    <a:bodyPr/>
                    <a:lstStyle/>
                    <a:p>
                      <a:pPr algn="l" fontAlgn="b">
                        <a:buNone/>
                      </a:pPr>
                      <a:r>
                        <a:rPr lang="en-US" sz="1050" u="none" strike="noStrike" dirty="0">
                          <a:effectLst/>
                        </a:rPr>
                        <a:t>SHORTEN_ID</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広告案件</a:t>
                      </a:r>
                      <a:r>
                        <a:rPr lang="en-US" altLang="ja-JP" sz="1050" u="none" strike="noStrike" dirty="0">
                          <a:effectLst/>
                        </a:rPr>
                        <a:t>ID</a:t>
                      </a:r>
                      <a:r>
                        <a:rPr lang="ja-JP" altLang="en-US" sz="1050" u="none" strike="noStrike">
                          <a:effectLst/>
                        </a:rPr>
                        <a:t>（ショート）</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723364090"/>
                  </a:ext>
                </a:extLst>
              </a:tr>
              <a:tr h="234394">
                <a:tc>
                  <a:txBody>
                    <a:bodyPr/>
                    <a:lstStyle/>
                    <a:p>
                      <a:pPr algn="l" fontAlgn="b">
                        <a:buNone/>
                      </a:pPr>
                      <a:r>
                        <a:rPr lang="en-US" sz="1050" u="none" strike="noStrike" dirty="0">
                          <a:effectLst/>
                        </a:rPr>
                        <a:t>OPEN_COUNT</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広告閲覧回数</a:t>
                      </a:r>
                      <a:endParaRPr lang="en-US" altLang="ja-JP" sz="1050" b="0" i="0" u="none" strike="noStrike" dirty="0">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1762266"/>
                  </a:ext>
                </a:extLst>
              </a:tr>
              <a:tr h="234394">
                <a:tc>
                  <a:txBody>
                    <a:bodyPr/>
                    <a:lstStyle/>
                    <a:p>
                      <a:pPr algn="l" fontAlgn="b">
                        <a:buNone/>
                      </a:pPr>
                      <a:r>
                        <a:rPr lang="en-US" sz="1050" u="none" strike="noStrike" dirty="0">
                          <a:effectLst/>
                        </a:rPr>
                        <a:t>CLICK_COUNT</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050" u="none" strike="noStrike">
                          <a:effectLst/>
                        </a:rPr>
                        <a:t>広告クリック回数</a:t>
                      </a:r>
                      <a:endParaRPr lang="en-US" altLang="ja-JP" sz="1050" b="0" i="0" u="none" strike="noStrike" dirty="0">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550991874"/>
                  </a:ext>
                </a:extLst>
              </a:tr>
            </a:tbl>
          </a:graphicData>
        </a:graphic>
      </p:graphicFrame>
    </p:spTree>
    <p:extLst>
      <p:ext uri="{BB962C8B-B14F-4D97-AF65-F5344CB8AC3E}">
        <p14:creationId xmlns:p14="http://schemas.microsoft.com/office/powerpoint/2010/main" val="784644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7C32-BFAB-45CB-513E-614E3DC9A279}"/>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B4EA89F-19E6-77DC-E3E5-076D6F68C15F}"/>
              </a:ext>
            </a:extLst>
          </p:cNvPr>
          <p:cNvSpPr>
            <a:spLocks noGrp="1"/>
          </p:cNvSpPr>
          <p:nvPr>
            <p:ph type="body" sz="quarter" idx="10"/>
          </p:nvPr>
        </p:nvSpPr>
        <p:spPr/>
        <p:txBody>
          <a:bodyPr>
            <a:normAutofit/>
          </a:bodyPr>
          <a:lstStyle/>
          <a:p>
            <a:r>
              <a:rPr kumimoji="1" lang="ja-JP" altLang="en-US"/>
              <a:t>入力</a:t>
            </a:r>
            <a:r>
              <a:rPr lang="ja-JP" altLang="en-US"/>
              <a:t>データ（広告案件マスタ</a:t>
            </a:r>
            <a:r>
              <a:rPr kumimoji="1" lang="ja-JP" altLang="en-US"/>
              <a:t>）</a:t>
            </a:r>
          </a:p>
        </p:txBody>
      </p:sp>
      <p:graphicFrame>
        <p:nvGraphicFramePr>
          <p:cNvPr id="3" name="表 2">
            <a:extLst>
              <a:ext uri="{FF2B5EF4-FFF2-40B4-BE49-F238E27FC236}">
                <a16:creationId xmlns:a16="http://schemas.microsoft.com/office/drawing/2014/main" id="{4ED02F35-6F36-87CD-59AB-80FC2FE9D16E}"/>
              </a:ext>
            </a:extLst>
          </p:cNvPr>
          <p:cNvGraphicFramePr>
            <a:graphicFrameLocks noGrp="1"/>
          </p:cNvGraphicFramePr>
          <p:nvPr>
            <p:extLst>
              <p:ext uri="{D42A27DB-BD31-4B8C-83A1-F6EECF244321}">
                <p14:modId xmlns:p14="http://schemas.microsoft.com/office/powerpoint/2010/main" val="4003945327"/>
              </p:ext>
            </p:extLst>
          </p:nvPr>
        </p:nvGraphicFramePr>
        <p:xfrm>
          <a:off x="510631" y="1143535"/>
          <a:ext cx="10941140" cy="1519555"/>
        </p:xfrm>
        <a:graphic>
          <a:graphicData uri="http://schemas.openxmlformats.org/drawingml/2006/table">
            <a:tbl>
              <a:tblPr/>
              <a:tblGrid>
                <a:gridCol w="3713026">
                  <a:extLst>
                    <a:ext uri="{9D8B030D-6E8A-4147-A177-3AD203B41FA5}">
                      <a16:colId xmlns:a16="http://schemas.microsoft.com/office/drawing/2014/main" val="1860217629"/>
                    </a:ext>
                  </a:extLst>
                </a:gridCol>
                <a:gridCol w="7228114">
                  <a:extLst>
                    <a:ext uri="{9D8B030D-6E8A-4147-A177-3AD203B41FA5}">
                      <a16:colId xmlns:a16="http://schemas.microsoft.com/office/drawing/2014/main" val="2598594059"/>
                    </a:ext>
                  </a:extLst>
                </a:gridCol>
              </a:tblGrid>
              <a:tr h="211297">
                <a:tc>
                  <a:txBody>
                    <a:bodyPr/>
                    <a:lstStyle/>
                    <a:p>
                      <a:pPr algn="ctr" fontAlgn="base">
                        <a:lnSpc>
                          <a:spcPts val="1425"/>
                        </a:lnSpc>
                        <a:buNone/>
                      </a:pPr>
                      <a:r>
                        <a:rPr lang="en-US" altLang="ja-JP" sz="1050" b="1" i="0" dirty="0">
                          <a:solidFill>
                            <a:srgbClr val="209EA4"/>
                          </a:solidFill>
                          <a:effectLst/>
                          <a:ea typeface="游ゴシック" panose="020B0400000000000000" pitchFamily="34" charset="-128"/>
                        </a:rPr>
                        <a:t>Column</a:t>
                      </a:r>
                      <a:endParaRPr lang="ja-JP" altLang="en-US" sz="1400" b="0" i="0">
                        <a:solidFill>
                          <a:srgbClr val="000000"/>
                        </a:solidFill>
                        <a:effectLst/>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ctr" fontAlgn="base">
                        <a:lnSpc>
                          <a:spcPts val="1425"/>
                        </a:lnSpc>
                        <a:buNone/>
                      </a:pPr>
                      <a:r>
                        <a:rPr lang="en-US" altLang="ja-JP" sz="1050" b="1" i="0" dirty="0">
                          <a:solidFill>
                            <a:srgbClr val="209EA4"/>
                          </a:solidFill>
                          <a:effectLst/>
                          <a:ea typeface="游ゴシック" panose="020B0400000000000000" pitchFamily="34" charset="-128"/>
                        </a:rPr>
                        <a:t>Description</a:t>
                      </a:r>
                      <a:endParaRPr lang="ja-JP" altLang="en-US" sz="1400" b="0" i="0">
                        <a:solidFill>
                          <a:srgbClr val="000000"/>
                        </a:solidFill>
                        <a:effectLst/>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30388067"/>
                  </a:ext>
                </a:extLst>
              </a:tr>
              <a:tr h="234394">
                <a:tc>
                  <a:txBody>
                    <a:bodyPr/>
                    <a:lstStyle/>
                    <a:p>
                      <a:pPr algn="l" fontAlgn="b">
                        <a:buNone/>
                      </a:pPr>
                      <a:r>
                        <a:rPr lang="en-US" sz="1050" u="none" strike="noStrike" dirty="0">
                          <a:effectLst/>
                        </a:rPr>
                        <a:t>CAMPAIGN_ID</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広告案件</a:t>
                      </a:r>
                      <a:r>
                        <a:rPr lang="en-US" altLang="ja-JP" sz="1050" u="none" strike="noStrike" dirty="0">
                          <a:effectLst/>
                        </a:rPr>
                        <a:t>ID</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353698089"/>
                  </a:ext>
                </a:extLst>
              </a:tr>
              <a:tr h="234394">
                <a:tc>
                  <a:txBody>
                    <a:bodyPr/>
                    <a:lstStyle/>
                    <a:p>
                      <a:pPr algn="l" fontAlgn="b">
                        <a:buNone/>
                      </a:pPr>
                      <a:r>
                        <a:rPr lang="en-US" sz="1050" u="none" strike="noStrike" dirty="0">
                          <a:effectLst/>
                        </a:rPr>
                        <a:t>SHORTEN_ID</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広告案件</a:t>
                      </a:r>
                      <a:r>
                        <a:rPr lang="en-US" altLang="ja-JP" sz="1050" u="none" strike="noStrike" dirty="0">
                          <a:effectLst/>
                        </a:rPr>
                        <a:t>ID</a:t>
                      </a:r>
                      <a:r>
                        <a:rPr lang="ja-JP" altLang="en-US" sz="1050" u="none" strike="noStrike">
                          <a:effectLst/>
                        </a:rPr>
                        <a:t>（ショート）</a:t>
                      </a:r>
                      <a:endParaRPr lang="ja-JP" altLang="en-US" sz="1050" b="0" i="0" u="none" strike="noStrike">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723364090"/>
                  </a:ext>
                </a:extLst>
              </a:tr>
              <a:tr h="234394">
                <a:tc>
                  <a:txBody>
                    <a:bodyPr/>
                    <a:lstStyle/>
                    <a:p>
                      <a:pPr algn="l" fontAlgn="b">
                        <a:buNone/>
                      </a:pPr>
                      <a:r>
                        <a:rPr lang="en-US" sz="1050" u="none" strike="noStrike" dirty="0">
                          <a:effectLst/>
                        </a:rPr>
                        <a:t>KIGYO_NAME</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algn="l" fontAlgn="b">
                        <a:buNone/>
                      </a:pPr>
                      <a:r>
                        <a:rPr lang="ja-JP" altLang="en-US" sz="1050" u="none" strike="noStrike">
                          <a:effectLst/>
                        </a:rPr>
                        <a:t>広告発注主</a:t>
                      </a:r>
                      <a:endParaRPr lang="en-US" altLang="ja-JP" sz="1050" b="0" i="0" u="none" strike="noStrike" dirty="0">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51762266"/>
                  </a:ext>
                </a:extLst>
              </a:tr>
              <a:tr h="234394">
                <a:tc>
                  <a:txBody>
                    <a:bodyPr/>
                    <a:lstStyle/>
                    <a:p>
                      <a:pPr algn="l" fontAlgn="b">
                        <a:buNone/>
                      </a:pPr>
                      <a:r>
                        <a:rPr lang="en-US" sz="1050" u="none" strike="noStrike" dirty="0">
                          <a:effectLst/>
                        </a:rPr>
                        <a:t>NAIYO</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050" u="none" strike="noStrike">
                          <a:effectLst/>
                        </a:rPr>
                        <a:t>広告の訴求内容</a:t>
                      </a:r>
                      <a:endParaRPr lang="en-US" altLang="ja-JP" sz="1050" b="0" i="0" u="none" strike="noStrike" dirty="0">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550991874"/>
                  </a:ext>
                </a:extLst>
              </a:tr>
              <a:tr h="234394">
                <a:tc>
                  <a:txBody>
                    <a:bodyPr/>
                    <a:lstStyle/>
                    <a:p>
                      <a:pPr algn="l" fontAlgn="b">
                        <a:buNone/>
                      </a:pPr>
                      <a:r>
                        <a:rPr lang="en-US" altLang="ja-JP" sz="1050" u="none" strike="noStrike" dirty="0">
                          <a:effectLst/>
                        </a:rPr>
                        <a:t>GYOSHU</a:t>
                      </a:r>
                      <a:endParaRPr lang="en-US" sz="1050" b="0" i="0" u="none" strike="noStrike" dirty="0">
                        <a:solidFill>
                          <a:srgbClr val="000000"/>
                        </a:solidFill>
                        <a:effectLst/>
                        <a:latin typeface="ＭＳ Ｐゴシック" panose="020B0600070205080204" pitchFamily="34" charset="-128"/>
                        <a:ea typeface="ＭＳ Ｐゴシック" panose="020B060007020508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050" u="none" strike="noStrike">
                          <a:effectLst/>
                        </a:rPr>
                        <a:t>業種</a:t>
                      </a:r>
                      <a:endParaRPr lang="en-US" altLang="ja-JP" sz="1050" b="0" i="0" u="none" strike="noStrike" dirty="0">
                        <a:solidFill>
                          <a:srgbClr val="000000"/>
                        </a:solidFill>
                        <a:effectLst/>
                        <a:latin typeface="Meiryo UI" panose="020B0604030504040204" pitchFamily="34" charset="-128"/>
                        <a:ea typeface="Meiryo UI" panose="020B0604030504040204" pitchFamily="34" charset="-128"/>
                      </a:endParaRPr>
                    </a:p>
                  </a:txBody>
                  <a:tcPr marL="45720" marR="45720" anchor="b">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4289447822"/>
                  </a:ext>
                </a:extLst>
              </a:tr>
            </a:tbl>
          </a:graphicData>
        </a:graphic>
      </p:graphicFrame>
    </p:spTree>
    <p:extLst>
      <p:ext uri="{BB962C8B-B14F-4D97-AF65-F5344CB8AC3E}">
        <p14:creationId xmlns:p14="http://schemas.microsoft.com/office/powerpoint/2010/main" val="1441023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61DE5-351A-B15E-EE62-27258FA21541}"/>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F33D2D5-B495-030A-FB5D-7DEFC4405126}"/>
              </a:ext>
            </a:extLst>
          </p:cNvPr>
          <p:cNvSpPr>
            <a:spLocks noGrp="1"/>
          </p:cNvSpPr>
          <p:nvPr>
            <p:ph type="body" sz="quarter" idx="10"/>
          </p:nvPr>
        </p:nvSpPr>
        <p:spPr/>
        <p:txBody>
          <a:bodyPr/>
          <a:lstStyle/>
          <a:p>
            <a:r>
              <a:rPr lang="ja-JP" altLang="en-US"/>
              <a:t>出力</a:t>
            </a:r>
            <a:r>
              <a:rPr kumimoji="1" lang="ja-JP" altLang="en-US"/>
              <a:t>データ</a:t>
            </a:r>
          </a:p>
        </p:txBody>
      </p:sp>
      <p:graphicFrame>
        <p:nvGraphicFramePr>
          <p:cNvPr id="3" name="表 2">
            <a:extLst>
              <a:ext uri="{FF2B5EF4-FFF2-40B4-BE49-F238E27FC236}">
                <a16:creationId xmlns:a16="http://schemas.microsoft.com/office/drawing/2014/main" id="{0424D777-F1AB-55D2-8FBD-32855818E486}"/>
              </a:ext>
            </a:extLst>
          </p:cNvPr>
          <p:cNvGraphicFramePr>
            <a:graphicFrameLocks noGrp="1"/>
          </p:cNvGraphicFramePr>
          <p:nvPr>
            <p:extLst>
              <p:ext uri="{D42A27DB-BD31-4B8C-83A1-F6EECF244321}">
                <p14:modId xmlns:p14="http://schemas.microsoft.com/office/powerpoint/2010/main" val="26666005"/>
              </p:ext>
            </p:extLst>
          </p:nvPr>
        </p:nvGraphicFramePr>
        <p:xfrm>
          <a:off x="709083" y="1256867"/>
          <a:ext cx="10956444" cy="4443713"/>
        </p:xfrm>
        <a:graphic>
          <a:graphicData uri="http://schemas.openxmlformats.org/drawingml/2006/table">
            <a:tbl>
              <a:tblPr/>
              <a:tblGrid>
                <a:gridCol w="2837681">
                  <a:extLst>
                    <a:ext uri="{9D8B030D-6E8A-4147-A177-3AD203B41FA5}">
                      <a16:colId xmlns:a16="http://schemas.microsoft.com/office/drawing/2014/main" val="1860217629"/>
                    </a:ext>
                  </a:extLst>
                </a:gridCol>
                <a:gridCol w="8118763">
                  <a:extLst>
                    <a:ext uri="{9D8B030D-6E8A-4147-A177-3AD203B41FA5}">
                      <a16:colId xmlns:a16="http://schemas.microsoft.com/office/drawing/2014/main" val="2598594059"/>
                    </a:ext>
                  </a:extLst>
                </a:gridCol>
              </a:tblGrid>
              <a:tr h="415003">
                <a:tc>
                  <a:txBody>
                    <a:bodyPr/>
                    <a:lstStyle/>
                    <a:p>
                      <a:pPr algn="ctr" fontAlgn="base">
                        <a:lnSpc>
                          <a:spcPts val="1425"/>
                        </a:lnSpc>
                        <a:buNone/>
                      </a:pPr>
                      <a:r>
                        <a:rPr lang="ja-JP" altLang="en-US" sz="1400" b="1" i="0">
                          <a:solidFill>
                            <a:srgbClr val="209EA4"/>
                          </a:solidFill>
                          <a:effectLst/>
                          <a:ea typeface="游ゴシック" panose="020B0400000000000000" pitchFamily="34" charset="-128"/>
                        </a:rPr>
                        <a:t>データ</a:t>
                      </a:r>
                      <a:r>
                        <a:rPr lang="ja-JP" altLang="en-US" sz="1400" b="0" i="0">
                          <a:solidFill>
                            <a:srgbClr val="000000"/>
                          </a:solidFill>
                          <a:effectLst/>
                          <a:latin typeface="游ゴシック" panose="020B0400000000000000" pitchFamily="34" charset="-128"/>
                        </a:rPr>
                        <a:t>​</a:t>
                      </a:r>
                      <a:endParaRPr lang="ja-JP" altLang="en-US" sz="2000" b="0" i="0">
                        <a:solidFill>
                          <a:srgbClr val="000000"/>
                        </a:solidFill>
                        <a:effectLst/>
                      </a:endParaRPr>
                    </a:p>
                  </a:txBody>
                  <a:tcPr marL="81588" marR="81588" marT="40794" marB="4079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fontAlgn="base">
                        <a:lnSpc>
                          <a:spcPts val="1425"/>
                        </a:lnSpc>
                        <a:buNone/>
                      </a:pPr>
                      <a:r>
                        <a:rPr lang="ja-JP" altLang="en-US" sz="1400" b="1" i="0">
                          <a:solidFill>
                            <a:srgbClr val="209EA4"/>
                          </a:solidFill>
                          <a:effectLst/>
                          <a:ea typeface="游ゴシック" panose="020B0400000000000000" pitchFamily="34" charset="-128"/>
                        </a:rPr>
                        <a:t>内容</a:t>
                      </a:r>
                      <a:r>
                        <a:rPr lang="ja-JP" altLang="en-US" sz="1400" b="0" i="0">
                          <a:solidFill>
                            <a:srgbClr val="000000"/>
                          </a:solidFill>
                          <a:effectLst/>
                          <a:latin typeface="游ゴシック" panose="020B0400000000000000" pitchFamily="34" charset="-128"/>
                        </a:rPr>
                        <a:t>​</a:t>
                      </a:r>
                      <a:endParaRPr lang="ja-JP" altLang="en-US" sz="2000" b="0" i="0">
                        <a:solidFill>
                          <a:srgbClr val="000000"/>
                        </a:solidFill>
                        <a:effectLst/>
                      </a:endParaRPr>
                    </a:p>
                  </a:txBody>
                  <a:tcPr marL="81588" marR="81588" marT="40794" marB="4079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30388067"/>
                  </a:ext>
                </a:extLst>
              </a:tr>
              <a:tr h="575530">
                <a:tc>
                  <a:txBody>
                    <a:bodyPr/>
                    <a:lstStyle/>
                    <a:p>
                      <a:pPr algn="ctr" fontAlgn="base">
                        <a:lnSpc>
                          <a:spcPct val="100000"/>
                        </a:lnSpc>
                        <a:buNone/>
                      </a:pPr>
                      <a:r>
                        <a:rPr lang="ja-JP" altLang="en-US" sz="1400" b="1" i="0">
                          <a:solidFill>
                            <a:srgbClr val="030C40"/>
                          </a:solidFill>
                          <a:effectLst/>
                          <a:ea typeface="游ゴシック" panose="020B0400000000000000" pitchFamily="34" charset="-128"/>
                        </a:rPr>
                        <a:t>選択特徴量リスト</a:t>
                      </a:r>
                      <a:endParaRPr lang="ja-JP" altLang="en-US" sz="2000" b="0" i="0">
                        <a:solidFill>
                          <a:srgbClr val="000000"/>
                        </a:solidFill>
                        <a:effectLst/>
                      </a:endParaRPr>
                    </a:p>
                  </a:txBody>
                  <a:tcPr marL="81588" marR="81588" marT="40794" marB="40794" anchor="ctr">
                    <a:lnL w="12700"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algn="l" fontAlgn="base">
                        <a:lnSpc>
                          <a:spcPct val="100000"/>
                        </a:lnSpc>
                        <a:buNone/>
                      </a:pPr>
                      <a:r>
                        <a:rPr lang="en-US" altLang="ja-JP" sz="1400" b="0" i="0" dirty="0">
                          <a:solidFill>
                            <a:srgbClr val="000000"/>
                          </a:solidFill>
                          <a:effectLst/>
                          <a:latin typeface="+mn-ea"/>
                          <a:ea typeface="+mn-ea"/>
                        </a:rPr>
                        <a:t>QFS</a:t>
                      </a:r>
                      <a:r>
                        <a:rPr lang="ja-JP" altLang="en-US" sz="1400" b="0" i="0">
                          <a:solidFill>
                            <a:srgbClr val="000000"/>
                          </a:solidFill>
                          <a:effectLst/>
                          <a:latin typeface="+mn-ea"/>
                          <a:ea typeface="+mn-ea"/>
                        </a:rPr>
                        <a:t>法により選択された特徴量リスト</a:t>
                      </a:r>
                    </a:p>
                  </a:txBody>
                  <a:tcPr marL="81588" marR="81588" marT="40794" marB="40794" anchor="ctr">
                    <a:lnL w="9525" cap="flat" cmpd="sng" algn="ctr">
                      <a:solidFill>
                        <a:srgbClr val="80808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541950213"/>
                  </a:ext>
                </a:extLst>
              </a:tr>
              <a:tr h="575530">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ja-JP" altLang="en-US" sz="1400" b="1" i="0">
                          <a:solidFill>
                            <a:srgbClr val="030C40"/>
                          </a:solidFill>
                          <a:effectLst/>
                          <a:ea typeface="+mn-ea"/>
                        </a:rPr>
                        <a:t>各選択特徴量の重要度</a:t>
                      </a:r>
                      <a:endParaRPr lang="ja-JP" altLang="en-US" sz="2000" b="0" i="0">
                        <a:solidFill>
                          <a:srgbClr val="000000"/>
                        </a:solidFill>
                        <a:effectLst/>
                      </a:endParaRPr>
                    </a:p>
                  </a:txBody>
                  <a:tcPr marL="81588" marR="81588" marT="40794" marB="40794" anchor="ctr">
                    <a:lnL w="12700"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algn="l" fontAlgn="base">
                        <a:lnSpc>
                          <a:spcPct val="100000"/>
                        </a:lnSpc>
                        <a:buNone/>
                      </a:pPr>
                      <a:r>
                        <a:rPr lang="ja-JP" altLang="en-US" sz="1400" b="0" i="0">
                          <a:solidFill>
                            <a:srgbClr val="000000"/>
                          </a:solidFill>
                          <a:effectLst/>
                          <a:latin typeface="+mn-ea"/>
                          <a:ea typeface="+mn-ea"/>
                        </a:rPr>
                        <a:t>選択特徴量のみを用いた機械学習モデル</a:t>
                      </a:r>
                      <a:r>
                        <a:rPr lang="en-US" altLang="ja-JP" sz="1400" b="0" i="0" dirty="0">
                          <a:solidFill>
                            <a:srgbClr val="000000"/>
                          </a:solidFill>
                          <a:effectLst/>
                          <a:latin typeface="+mn-ea"/>
                          <a:ea typeface="+mn-ea"/>
                        </a:rPr>
                        <a:t> (</a:t>
                      </a:r>
                      <a:r>
                        <a:rPr lang="en-US" altLang="ja-JP" sz="1400" b="0" i="0" dirty="0" err="1">
                          <a:solidFill>
                            <a:srgbClr val="000000"/>
                          </a:solidFill>
                          <a:effectLst/>
                          <a:latin typeface="+mn-ea"/>
                          <a:ea typeface="+mn-ea"/>
                        </a:rPr>
                        <a:t>LightGBM</a:t>
                      </a:r>
                      <a:r>
                        <a:rPr lang="en-US" altLang="ja-JP" sz="1400" b="0" i="0" dirty="0">
                          <a:solidFill>
                            <a:srgbClr val="000000"/>
                          </a:solidFill>
                          <a:effectLst/>
                          <a:latin typeface="+mn-ea"/>
                          <a:ea typeface="+mn-ea"/>
                        </a:rPr>
                        <a:t>) </a:t>
                      </a:r>
                      <a:r>
                        <a:rPr lang="ja-JP" altLang="en-US" sz="1400" b="0" i="0">
                          <a:solidFill>
                            <a:srgbClr val="000000"/>
                          </a:solidFill>
                          <a:effectLst/>
                          <a:latin typeface="+mn-ea"/>
                          <a:ea typeface="+mn-ea"/>
                        </a:rPr>
                        <a:t>での各特徴量の</a:t>
                      </a:r>
                      <a:r>
                        <a:rPr lang="en-US" altLang="ja-JP" sz="1400" b="0" i="0" dirty="0">
                          <a:solidFill>
                            <a:srgbClr val="000000"/>
                          </a:solidFill>
                          <a:effectLst/>
                          <a:latin typeface="+mn-ea"/>
                          <a:ea typeface="+mn-ea"/>
                        </a:rPr>
                        <a:t>SHAP</a:t>
                      </a:r>
                      <a:r>
                        <a:rPr lang="ja-JP" altLang="en-US" sz="1400" b="0" i="0">
                          <a:solidFill>
                            <a:srgbClr val="000000"/>
                          </a:solidFill>
                          <a:effectLst/>
                          <a:latin typeface="+mn-ea"/>
                          <a:ea typeface="+mn-ea"/>
                        </a:rPr>
                        <a:t>値</a:t>
                      </a:r>
                      <a:r>
                        <a:rPr lang="en-US" altLang="ja-JP" sz="1400" b="0" i="0" baseline="30000" dirty="0">
                          <a:solidFill>
                            <a:srgbClr val="000000"/>
                          </a:solidFill>
                          <a:effectLst/>
                          <a:latin typeface="+mn-ea"/>
                          <a:ea typeface="+mn-ea"/>
                        </a:rPr>
                        <a:t>※</a:t>
                      </a:r>
                      <a:r>
                        <a:rPr lang="ja-JP" altLang="en-US" sz="1400" b="0" i="0">
                          <a:solidFill>
                            <a:srgbClr val="000000"/>
                          </a:solidFill>
                          <a:effectLst/>
                          <a:latin typeface="+mn-ea"/>
                          <a:ea typeface="+mn-ea"/>
                        </a:rPr>
                        <a:t>分析された重要度</a:t>
                      </a:r>
                      <a:br>
                        <a:rPr lang="en-US" altLang="ja-JP" sz="1400" b="0" i="0" dirty="0">
                          <a:solidFill>
                            <a:srgbClr val="000000"/>
                          </a:solidFill>
                          <a:effectLst/>
                          <a:latin typeface="+mn-ea"/>
                          <a:ea typeface="+mn-ea"/>
                        </a:rPr>
                      </a:br>
                      <a:r>
                        <a:rPr lang="en-US" altLang="ja-JP" sz="1100" b="0" i="0" dirty="0">
                          <a:solidFill>
                            <a:srgbClr val="000000"/>
                          </a:solidFill>
                          <a:effectLst/>
                          <a:latin typeface="+mn-ea"/>
                          <a:ea typeface="+mn-ea"/>
                        </a:rPr>
                        <a:t>※SHAP</a:t>
                      </a:r>
                      <a:r>
                        <a:rPr lang="ja-JP" altLang="en-US" sz="1100" b="0" i="0">
                          <a:solidFill>
                            <a:srgbClr val="000000"/>
                          </a:solidFill>
                          <a:effectLst/>
                          <a:latin typeface="+mn-ea"/>
                          <a:ea typeface="+mn-ea"/>
                        </a:rPr>
                        <a:t>値</a:t>
                      </a:r>
                      <a:r>
                        <a:rPr lang="en-US" altLang="ja-JP" sz="1100" b="0" i="0" dirty="0">
                          <a:solidFill>
                            <a:srgbClr val="000000"/>
                          </a:solidFill>
                          <a:effectLst/>
                          <a:latin typeface="+mn-ea"/>
                          <a:ea typeface="+mn-ea"/>
                        </a:rPr>
                        <a:t>: </a:t>
                      </a:r>
                      <a:r>
                        <a:rPr lang="ja-JP" altLang="en-US" sz="1100" b="0" i="0">
                          <a:solidFill>
                            <a:srgbClr val="000000"/>
                          </a:solidFill>
                          <a:effectLst/>
                          <a:latin typeface="+mn-ea"/>
                          <a:ea typeface="+mn-ea"/>
                        </a:rPr>
                        <a:t>各特徴量がモデル出力に与える寄与度を定量化した値</a:t>
                      </a:r>
                      <a:endParaRPr lang="ja-JP" altLang="en-US" sz="1400" b="0" i="0">
                        <a:solidFill>
                          <a:srgbClr val="000000"/>
                        </a:solidFill>
                        <a:effectLst/>
                        <a:latin typeface="+mn-ea"/>
                        <a:ea typeface="+mn-ea"/>
                      </a:endParaRPr>
                    </a:p>
                  </a:txBody>
                  <a:tcPr marL="81588" marR="81588" marT="40794" marB="40794" anchor="ctr">
                    <a:lnL w="9525" cap="flat" cmpd="sng" algn="ctr">
                      <a:solidFill>
                        <a:srgbClr val="80808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2945659551"/>
                  </a:ext>
                </a:extLst>
              </a:tr>
              <a:tr h="575530">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030C40"/>
                          </a:solidFill>
                          <a:effectLst/>
                          <a:uLnTx/>
                          <a:uFillTx/>
                          <a:latin typeface="+mn-lt"/>
                          <a:ea typeface="+mn-ea"/>
                          <a:cs typeface="+mn-cs"/>
                        </a:rPr>
                        <a:t>機械学習モデルの評価指標</a:t>
                      </a:r>
                      <a:endParaRPr kumimoji="1" lang="ja-JP" altLang="en-US" sz="2000" b="0" i="0" u="none" strike="noStrike" kern="1200" cap="none" spc="0" normalizeH="0" baseline="0" noProof="0">
                        <a:ln>
                          <a:noFill/>
                        </a:ln>
                        <a:solidFill>
                          <a:srgbClr val="000000"/>
                        </a:solidFill>
                        <a:effectLst/>
                        <a:uLnTx/>
                        <a:uFillTx/>
                        <a:latin typeface="+mn-lt"/>
                        <a:ea typeface="+mn-ea"/>
                        <a:cs typeface="+mn-cs"/>
                      </a:endParaRPr>
                    </a:p>
                  </a:txBody>
                  <a:tcPr marL="81588" marR="81588" marT="40794" marB="40794" anchor="ctr">
                    <a:lnL w="12700"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学習されたモデルを評価するためにテストデータを用いて得られた定量的な指標</a:t>
                      </a:r>
                      <a:br>
                        <a:rPr kumimoji="1" lang="en-US" altLang="ja-JP" sz="14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b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指標</a:t>
                      </a:r>
                      <a:r>
                        <a:rPr kumimoji="1" lang="en-US" altLang="ja-JP" sz="11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 ROC-AUC/PR-AUC (</a:t>
                      </a: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二値分類タスクの評価指標</a:t>
                      </a:r>
                      <a:r>
                        <a:rPr kumimoji="1" lang="en-US" altLang="ja-JP" sz="11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a:t>
                      </a: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、クリック予測確率上位</a:t>
                      </a:r>
                      <a:r>
                        <a:rPr kumimoji="1" lang="en-US" altLang="ja-JP" sz="11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k%</a:t>
                      </a: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の精度</a:t>
                      </a:r>
                      <a:r>
                        <a:rPr kumimoji="1" lang="en-US" altLang="ja-JP" sz="11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 (</a:t>
                      </a: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正答率</a:t>
                      </a:r>
                      <a:r>
                        <a:rPr kumimoji="1" lang="en-US" altLang="ja-JP" sz="11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a:t>
                      </a:r>
                      <a:endParaRPr kumimoji="1" lang="ja-JP" altLang="en-US" sz="14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endParaRPr>
                    </a:p>
                  </a:txBody>
                  <a:tcPr marL="81588" marR="81588" marT="40794" marB="40794" anchor="ctr">
                    <a:lnL w="9525" cap="flat" cmpd="sng" algn="ctr">
                      <a:solidFill>
                        <a:srgbClr val="80808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044932527"/>
                  </a:ext>
                </a:extLst>
              </a:tr>
              <a:tr h="575530">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030C40"/>
                          </a:solidFill>
                          <a:effectLst/>
                          <a:uLnTx/>
                          <a:uFillTx/>
                          <a:latin typeface="+mn-lt"/>
                          <a:ea typeface="+mn-ea"/>
                          <a:cs typeface="+mn-cs"/>
                        </a:rPr>
                        <a:t>ヒストグラム可視化図</a:t>
                      </a:r>
                      <a:endParaRPr kumimoji="1" lang="ja-JP" altLang="en-US" sz="2000" b="0" i="0" u="none" strike="noStrike" kern="1200" cap="none" spc="0" normalizeH="0" baseline="0" noProof="0">
                        <a:ln>
                          <a:noFill/>
                        </a:ln>
                        <a:solidFill>
                          <a:srgbClr val="000000"/>
                        </a:solidFill>
                        <a:effectLst/>
                        <a:uLnTx/>
                        <a:uFillTx/>
                        <a:latin typeface="+mn-lt"/>
                        <a:ea typeface="+mn-ea"/>
                        <a:cs typeface="+mn-cs"/>
                      </a:endParaRPr>
                    </a:p>
                  </a:txBody>
                  <a:tcPr marL="81588" marR="81588" marT="40794" marB="40794" anchor="ctr">
                    <a:lnL w="12700"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algn="l" fontAlgn="base">
                        <a:lnSpc>
                          <a:spcPct val="100000"/>
                        </a:lnSpc>
                        <a:buNone/>
                      </a:pPr>
                      <a:r>
                        <a:rPr lang="ja-JP" altLang="en-US" sz="1400" b="0" i="0">
                          <a:solidFill>
                            <a:srgbClr val="000000"/>
                          </a:solidFill>
                          <a:effectLst/>
                          <a:latin typeface="+mn-ea"/>
                          <a:ea typeface="+mn-ea"/>
                        </a:rPr>
                        <a:t>学習されたモデルが予測するクリック確率ごとの顧客数のヒストグラムのプロット図</a:t>
                      </a:r>
                    </a:p>
                  </a:txBody>
                  <a:tcPr marL="81588" marR="81588" marT="40794" marB="40794" anchor="ctr">
                    <a:lnL w="9525" cap="flat" cmpd="sng" algn="ctr">
                      <a:solidFill>
                        <a:srgbClr val="80808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914053590"/>
                  </a:ext>
                </a:extLst>
              </a:tr>
              <a:tr h="575530">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030C40"/>
                          </a:solidFill>
                          <a:effectLst/>
                          <a:uLnTx/>
                          <a:uFillTx/>
                          <a:latin typeface="+mn-lt"/>
                          <a:ea typeface="+mn-ea"/>
                          <a:cs typeface="+mn-cs"/>
                        </a:rPr>
                        <a:t>予測クリック数可視化図</a:t>
                      </a:r>
                      <a:endParaRPr kumimoji="1" lang="ja-JP" altLang="en-US" sz="2000" b="0" i="0" u="none" strike="noStrike" kern="1200" cap="none" spc="0" normalizeH="0" baseline="0" noProof="0">
                        <a:ln>
                          <a:noFill/>
                        </a:ln>
                        <a:solidFill>
                          <a:srgbClr val="000000"/>
                        </a:solidFill>
                        <a:effectLst/>
                        <a:uLnTx/>
                        <a:uFillTx/>
                        <a:latin typeface="+mn-lt"/>
                        <a:ea typeface="+mn-ea"/>
                        <a:cs typeface="+mn-cs"/>
                      </a:endParaRPr>
                    </a:p>
                  </a:txBody>
                  <a:tcPr marL="81588" marR="81588" marT="40794" marB="40794" anchor="ctr">
                    <a:lnL w="12700"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予測クリック確率上位に配信したと仮定したときのインプレッション数・クリック数・予測</a:t>
                      </a:r>
                      <a:r>
                        <a:rPr kumimoji="1" lang="en-US" altLang="ja-JP" sz="14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CTR</a:t>
                      </a:r>
                      <a:r>
                        <a:rPr kumimoji="1" lang="ja-JP" altLang="en-US" sz="14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のプロット図</a:t>
                      </a:r>
                    </a:p>
                  </a:txBody>
                  <a:tcPr marL="81588" marR="81588" marT="40794" marB="40794" anchor="ctr">
                    <a:lnL w="9525" cap="flat" cmpd="sng" algn="ctr">
                      <a:solidFill>
                        <a:srgbClr val="80808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1292356577"/>
                  </a:ext>
                </a:extLst>
              </a:tr>
              <a:tr h="575530">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030C40"/>
                          </a:solidFill>
                          <a:effectLst/>
                          <a:uLnTx/>
                          <a:uFillTx/>
                          <a:latin typeface="+mn-lt"/>
                          <a:ea typeface="+mn-ea"/>
                          <a:cs typeface="+mn-cs"/>
                        </a:rPr>
                        <a:t>顧客セグメント</a:t>
                      </a:r>
                      <a:endParaRPr kumimoji="1" lang="ja-JP" altLang="en-US" sz="2000" b="0" i="0" u="none" strike="noStrike" kern="1200" cap="none" spc="0" normalizeH="0" baseline="0" noProof="0">
                        <a:ln>
                          <a:noFill/>
                        </a:ln>
                        <a:solidFill>
                          <a:srgbClr val="000000"/>
                        </a:solidFill>
                        <a:effectLst/>
                        <a:uLnTx/>
                        <a:uFillTx/>
                        <a:latin typeface="+mn-lt"/>
                        <a:ea typeface="+mn-ea"/>
                        <a:cs typeface="+mn-cs"/>
                      </a:endParaRPr>
                    </a:p>
                  </a:txBody>
                  <a:tcPr marL="81588" marR="81588" marT="40794" marB="40794" anchor="ctr">
                    <a:lnL w="12700"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選択された特徴量をもとに抽出可能な顧客セグメント候補リスト</a:t>
                      </a:r>
                      <a:br>
                        <a:rPr kumimoji="1" lang="en-US" altLang="ja-JP" sz="14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b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カラム</a:t>
                      </a:r>
                      <a:r>
                        <a:rPr kumimoji="1" lang="en-US" altLang="ja-JP" sz="11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 </a:t>
                      </a: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セグメント</a:t>
                      </a:r>
                      <a:r>
                        <a:rPr kumimoji="1" lang="en-US" altLang="ja-JP" sz="11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ID</a:t>
                      </a: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、セグメント条件式、対象顧客数（提供データ範囲内）</a:t>
                      </a:r>
                      <a:endParaRPr kumimoji="1" lang="ja-JP" altLang="en-US" sz="14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endParaRPr>
                    </a:p>
                  </a:txBody>
                  <a:tcPr marL="81588" marR="81588" marT="40794" marB="40794" anchor="ctr">
                    <a:lnL w="9525" cap="flat" cmpd="sng" algn="ctr">
                      <a:solidFill>
                        <a:srgbClr val="80808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688273024"/>
                  </a:ext>
                </a:extLst>
              </a:tr>
              <a:tr h="575530">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030C40"/>
                          </a:solidFill>
                          <a:effectLst/>
                          <a:uLnTx/>
                          <a:uFillTx/>
                          <a:latin typeface="+mn-lt"/>
                          <a:ea typeface="+mn-ea"/>
                          <a:cs typeface="+mn-cs"/>
                        </a:rPr>
                        <a:t>レコメンド結果</a:t>
                      </a:r>
                      <a:endParaRPr kumimoji="1" lang="ja-JP" altLang="en-US" sz="2000" b="0" i="0" u="none" strike="noStrike" kern="1200" cap="none" spc="0" normalizeH="0" baseline="0" noProof="0">
                        <a:ln>
                          <a:noFill/>
                        </a:ln>
                        <a:solidFill>
                          <a:srgbClr val="000000"/>
                        </a:solidFill>
                        <a:effectLst/>
                        <a:uLnTx/>
                        <a:uFillTx/>
                        <a:latin typeface="+mn-lt"/>
                        <a:ea typeface="+mn-ea"/>
                        <a:cs typeface="+mn-cs"/>
                      </a:endParaRPr>
                    </a:p>
                  </a:txBody>
                  <a:tcPr marL="81588" marR="81588" marT="40794" marB="40794" anchor="ctr">
                    <a:lnL w="12700" cap="flat" cmpd="sng" algn="ctr">
                      <a:solidFill>
                        <a:srgbClr val="FFFFFF"/>
                      </a:solidFill>
                      <a:prstDash val="solid"/>
                      <a:round/>
                      <a:headEnd type="none" w="med" len="med"/>
                      <a:tailEnd type="none" w="med" len="med"/>
                    </a:lnL>
                    <a:lnR w="9525" cap="flat" cmpd="sng" algn="ctr">
                      <a:solidFill>
                        <a:srgbClr val="808080"/>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各顧客セグメントに対する予測</a:t>
                      </a:r>
                      <a:r>
                        <a:rPr kumimoji="1" lang="en-US" altLang="ja-JP" sz="14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CTR</a:t>
                      </a:r>
                      <a:r>
                        <a:rPr kumimoji="1" lang="ja-JP" altLang="en-US" sz="14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と推奨配信顧客セグメント結果</a:t>
                      </a:r>
                      <a:br>
                        <a:rPr kumimoji="1" lang="en-US" altLang="ja-JP" sz="14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b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カラム</a:t>
                      </a:r>
                      <a:r>
                        <a:rPr kumimoji="1" lang="en-US" altLang="ja-JP" sz="11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 </a:t>
                      </a: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セグメント</a:t>
                      </a:r>
                      <a:r>
                        <a:rPr kumimoji="1" lang="en-US" altLang="ja-JP" sz="11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ID</a:t>
                      </a: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、広告</a:t>
                      </a:r>
                      <a:r>
                        <a:rPr kumimoji="1" lang="en-US" altLang="ja-JP" sz="11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ID</a:t>
                      </a: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、予測</a:t>
                      </a:r>
                      <a:r>
                        <a:rPr kumimoji="1" lang="en-US" altLang="ja-JP" sz="1100" b="0" i="0" u="none" strike="noStrike" kern="1200" cap="none" spc="0" normalizeH="0" baseline="0" noProof="0" dirty="0">
                          <a:ln>
                            <a:noFill/>
                          </a:ln>
                          <a:solidFill>
                            <a:srgbClr val="000000"/>
                          </a:solidFill>
                          <a:effectLst/>
                          <a:uLnTx/>
                          <a:uFillTx/>
                          <a:latin typeface="游ゴシック" panose="020B0400000000000000" pitchFamily="34" charset="-128"/>
                          <a:ea typeface="+mn-ea"/>
                          <a:cs typeface="+mn-cs"/>
                        </a:rPr>
                        <a:t>CTR</a:t>
                      </a:r>
                      <a:r>
                        <a:rPr kumimoji="1" lang="ja-JP" altLang="en-US" sz="11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rPr>
                        <a:t>（提供データ範囲内）</a:t>
                      </a:r>
                      <a:endParaRPr kumimoji="1" lang="ja-JP" altLang="en-US" sz="1400" b="0" i="0" u="none" strike="noStrike" kern="1200" cap="none" spc="0" normalizeH="0" baseline="0" noProof="0">
                        <a:ln>
                          <a:noFill/>
                        </a:ln>
                        <a:solidFill>
                          <a:srgbClr val="000000"/>
                        </a:solidFill>
                        <a:effectLst/>
                        <a:uLnTx/>
                        <a:uFillTx/>
                        <a:latin typeface="游ゴシック" panose="020B0400000000000000" pitchFamily="34" charset="-128"/>
                        <a:ea typeface="+mn-ea"/>
                        <a:cs typeface="+mn-cs"/>
                      </a:endParaRPr>
                    </a:p>
                  </a:txBody>
                  <a:tcPr marL="81588" marR="81588" marT="40794" marB="40794" anchor="ctr">
                    <a:lnL w="9525" cap="flat" cmpd="sng" algn="ctr">
                      <a:solidFill>
                        <a:srgbClr val="808080"/>
                      </a:solidFill>
                      <a:prstDash val="solid"/>
                      <a:round/>
                      <a:headEnd type="none" w="med" len="med"/>
                      <a:tailEnd type="none" w="med" len="med"/>
                    </a:lnL>
                    <a:lnR w="12700" cap="flat" cmpd="sng" algn="ctr">
                      <a:solidFill>
                        <a:srgbClr val="FFFFFF"/>
                      </a:solidFill>
                      <a:prstDash val="solid"/>
                      <a:round/>
                      <a:headEnd type="none" w="med" len="med"/>
                      <a:tailEnd type="none" w="med" len="med"/>
                    </a:lnR>
                    <a:lnT w="9525" cap="flat" cmpd="sng" algn="ctr">
                      <a:solidFill>
                        <a:srgbClr val="808080"/>
                      </a:solidFill>
                      <a:prstDash val="solid"/>
                      <a:round/>
                      <a:headEnd type="none" w="med" len="med"/>
                      <a:tailEnd type="none" w="med" len="med"/>
                    </a:lnT>
                    <a:lnB w="9525" cap="flat" cmpd="sng" algn="ctr">
                      <a:solidFill>
                        <a:srgbClr val="808080"/>
                      </a:solidFill>
                      <a:prstDash val="solid"/>
                      <a:round/>
                      <a:headEnd type="none" w="med" len="med"/>
                      <a:tailEnd type="none" w="med" len="med"/>
                    </a:lnB>
                    <a:solidFill>
                      <a:srgbClr val="FFFFFF"/>
                    </a:solidFill>
                  </a:tcPr>
                </a:tc>
                <a:extLst>
                  <a:ext uri="{0D108BD9-81ED-4DB2-BD59-A6C34878D82A}">
                    <a16:rowId xmlns:a16="http://schemas.microsoft.com/office/drawing/2014/main" val="2326951985"/>
                  </a:ext>
                </a:extLst>
              </a:tr>
            </a:tbl>
          </a:graphicData>
        </a:graphic>
      </p:graphicFrame>
    </p:spTree>
    <p:extLst>
      <p:ext uri="{BB962C8B-B14F-4D97-AF65-F5344CB8AC3E}">
        <p14:creationId xmlns:p14="http://schemas.microsoft.com/office/powerpoint/2010/main" val="40377054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2508b5c-b11f-4034-abc7-ceeede9c7049" xsi:nil="true"/>
    <lcf76f155ced4ddcb4097134ff3c332f xmlns="500a7eea-a1f3-4214-8a48-0cc10f07c3cd">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0379F8C0B829924AB2C0F41DD4FBD667" ma:contentTypeVersion="23" ma:contentTypeDescription="新しいドキュメントを作成します。" ma:contentTypeScope="" ma:versionID="dea1669490db31fd1b59713fc3402e59">
  <xsd:schema xmlns:xsd="http://www.w3.org/2001/XMLSchema" xmlns:xs="http://www.w3.org/2001/XMLSchema" xmlns:p="http://schemas.microsoft.com/office/2006/metadata/properties" xmlns:ns2="500a7eea-a1f3-4214-8a48-0cc10f07c3cd" xmlns:ns3="b2508b5c-b11f-4034-abc7-ceeede9c7049" targetNamespace="http://schemas.microsoft.com/office/2006/metadata/properties" ma:root="true" ma:fieldsID="fa57517989a5ee11fb6280e7899ddc74" ns2:_="" ns3:_="">
    <xsd:import namespace="500a7eea-a1f3-4214-8a48-0cc10f07c3cd"/>
    <xsd:import namespace="b2508b5c-b11f-4034-abc7-ceeede9c704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3:TaxCatchAll" minOccurs="0"/>
                <xsd:element ref="ns2:MediaServiceOCR" minOccurs="0"/>
                <xsd:element ref="ns2:MediaServiceGenerationTime" minOccurs="0"/>
                <xsd:element ref="ns2:MediaServiceEventHashCode" minOccurs="0"/>
                <xsd:element ref="ns2:lcf76f155ced4ddcb4097134ff3c332f"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0a7eea-a1f3-4214-8a48-0cc10f07c3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f121294f-16a7-4952-9f3e-e60e7ef9b96e" ma:termSetId="09814cd3-568e-fe90-9814-8d621ff8fb84" ma:anchorId="fba54fb3-c3e1-fe81-a776-ca4b69148c4d" ma:open="true" ma:isKeyword="false">
      <xsd:complexType>
        <xsd:sequence>
          <xsd:element ref="pc:Terms" minOccurs="0" maxOccurs="1"/>
        </xsd:sequence>
      </xsd:complex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2508b5c-b11f-4034-abc7-ceeede9c7049"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29964216-9b08-4184-b800-bd321555049a}" ma:internalName="TaxCatchAll" ma:showField="CatchAllData" ma:web="b2508b5c-b11f-4034-abc7-ceeede9c70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0F603A-1371-459C-9E98-132392DA166C}">
  <ds:schemaRefs>
    <ds:schemaRef ds:uri="http://schemas.microsoft.com/sharepoint/v3/contenttype/forms"/>
  </ds:schemaRefs>
</ds:datastoreItem>
</file>

<file path=customXml/itemProps2.xml><?xml version="1.0" encoding="utf-8"?>
<ds:datastoreItem xmlns:ds="http://schemas.openxmlformats.org/officeDocument/2006/customXml" ds:itemID="{D2538590-57E8-40DB-8387-867E6519F7C2}">
  <ds:schemaRefs>
    <ds:schemaRef ds:uri="http://schemas.microsoft.com/office/2006/metadata/properties"/>
    <ds:schemaRef ds:uri="http://schemas.microsoft.com/office/infopath/2007/PartnerControls"/>
    <ds:schemaRef ds:uri="b2508b5c-b11f-4034-abc7-ceeede9c7049"/>
    <ds:schemaRef ds:uri="500a7eea-a1f3-4214-8a48-0cc10f07c3cd"/>
  </ds:schemaRefs>
</ds:datastoreItem>
</file>

<file path=customXml/itemProps3.xml><?xml version="1.0" encoding="utf-8"?>
<ds:datastoreItem xmlns:ds="http://schemas.openxmlformats.org/officeDocument/2006/customXml" ds:itemID="{67BA23FC-B163-4D19-9EA0-3747FB2A87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00a7eea-a1f3-4214-8a48-0cc10f07c3cd"/>
    <ds:schemaRef ds:uri="b2508b5c-b11f-4034-abc7-ceeede9c70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845</TotalTime>
  <Words>4569</Words>
  <Application>Microsoft Macintosh PowerPoint</Application>
  <PresentationFormat>Widescreen</PresentationFormat>
  <Paragraphs>581</Paragraphs>
  <Slides>23</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3" baseType="lpstr">
      <vt:lpstr>Meiryo UI</vt:lpstr>
      <vt:lpstr>ＭＳ Ｐゴシック</vt:lpstr>
      <vt:lpstr>游ゴシック</vt:lpstr>
      <vt:lpstr>游ゴシック Light</vt:lpstr>
      <vt:lpstr>Aptos</vt:lpstr>
      <vt:lpstr>Arial</vt:lpstr>
      <vt:lpstr>Cambria Math</vt:lpstr>
      <vt:lpstr>Wingdings</vt:lpstr>
      <vt:lpstr>Office テーマ</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Quanmatic</dc:creator>
  <cp:lastModifiedBy>abhijeet anand</cp:lastModifiedBy>
  <cp:revision>36</cp:revision>
  <dcterms:created xsi:type="dcterms:W3CDTF">2025-05-15T04:23:33Z</dcterms:created>
  <dcterms:modified xsi:type="dcterms:W3CDTF">2026-04-17T04:12:08Z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0x0101000379F8C0B829924AB2C0F41DD4FBD667</vt:lpwstr>
  </property>
</Properties>
</file>